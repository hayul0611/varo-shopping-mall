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오하율입니다. 오늘 제가 개인 프로젝트로 개발한 VARO 쇼핑몰에 대해 발표하겠습니다. VARO는 고성능 데이터 연동 쇼핑몰로, 엑셀 기반 정적 데이터를 동적으로 시각화하고 복잡한 비즈니스 로직을 체계적으로 구현하는 것을 목표로 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발표 순서입니다. 먼저 프로젝트 개요를 말씀드리고, 설계 과정과 세부 기능, 그리고 라이브 시연까지 진행하겠습니다. 마지막으로 프로젝트를 하면서 느낀 소감을 공유하고 질의응답 시간을 가지겠습니다.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VARO 쇼핑몰은 엑셀 기반의 정적 데이터를 동적 대시보드로 시각화하는 고성능 쇼핑몰 시스템입니다. 회원, 비회원, 관리자 세 가지 역할에 맞는 비즈니스 로직을 체계적으로 구현했고, 총 12개의 핵심 기능 요구사항을 100% 충족하도록 설계했습니다. 개발 기간 동안 기획부터 배포까지 전 과정을 혼자 담당하며 풀스택 역량을 키울 수 있었습니다.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기술 스택입니다. 백엔드는 Node.js와 Express로 RESTful API를 구축했고, ORM은 Sequelize를 사용했습니다. 데이터베이스는 MySQL로 11개 엔티티를 관리하고 있고, 프론트엔드는 프레임워크 없이 Vanilla JavaScript와 CSS3로 구현했습니다. 추가로 ExcelJS로 데이터 처리, PlantUML과 Mermaid.js로 문서화를 진행했습니다.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시스템 아키텍처는 확장성과 유지보수성을 고려한 3-Tier Layered Architecture로 설계했습니다. 프레젠테이션 레이어에서는 글래스모피즘 UI를 적용했고, 애플리케이션 레이어에서는 JWT 기반 인증과 주문 처리, 매출 집계 엔진을 구현했습니다. 데이터 레이어는 정규화된 11개 테이블로 구성했습니다.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데이터베이스는 총 11개의 핵심 테이블로 설계했습니다. users, products, orders를 중심으로 order_items, reviews, cart, categories 등이 연결되어 있고, 비회원 주문을 위한 guest_orders 테이블도 별도로 설계했습니다. 모든 테이블 간의 관계를 정규화하여 데이터 무결성을 보장했습니다.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사용자 역할은 세 가지로 구분했습니다. 비회원은 상품 검색과 랭킹 조회, 비밀번호 기반 주문이 가능합니다. 회원은 소셜 로그인, 리뷰 작성, 장바구니 동기화 등 추가 기능을 사용할 수 있고요. 관리자는 매출 통계 모니터링, 상품 배지 관리, 카테고리 정렬 등 전체 시스템을 관리합니다.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 핵심 기능은 인증 시스템입니다. OAuth 2.0 기반으로 네이버, 카카오, 구글 소셜 로그인을 구현했고, JWT 토큰으로 세션을 관리합니다. 비회원도 주문 비밀번호를 해싱 처리하여 안전하게 주문할 수 있도록 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번째는 장바구니와 주문 시스템입니다. 특히 카트 병합 기능이 핵심인데요, 비로그인 상태에서 세션에 담아둔 장바구니가 로그인 시 자동으로 DB에 동기화됩니다. 주문 프로세스는 회원과 비회원 모두 원활하게 진행될 수 있도록 설계했습니다.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번째는 어드민 대시보드입니다. 관리자는 실시간 매출 통계를 모니터링할 수 있고, 상품별로 NEW, HOT, SALE 배지를 실시간으로 관리할 수 있습니다. 또한 드래그 앤 드롭 방식으로 카테고리 순서를 직관적으로 조정할 수 있는 엔진도 구현했습니다.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실제 VARO 쇼핑몰을 라이브로 시연해 보겠습니다. 메인 페이지부터 상품 검색, 장바구니, 주문 프로세스, 그리고 어드민 대시보드까지 순서대로 보여드리겠습니다.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프로젝트를 마치며 느낀 점을 공유하겠습니다. 기획부터 배포까지 혼자 진행하면서 풀스택 개발의 전체 흐름을 경험할 수 있었습니다. 특히 복잡한 비즈니스 로직을 구조화하는 과정에서 많이 배웠고, 시간 관리와 우선순위 설정의 중요성도 깨달았습니다. 부족했던 부분은 테스트 코드 작성과 성능 최적화인데, 앞으로 보완해 나가겠습니다.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이상으로 VARO 쇼핑몰 발표를 마칩니다. 궁금하신 점이 있으시면 편하게 질문해 주세요.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2851" y="2571617"/>
            <a:ext cx="762000" cy="76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03567" y="3648075"/>
            <a:ext cx="3680717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0" b="1" spc="900" kern="0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VARO</a:t>
            </a:r>
            <a:endParaRPr lang="en-US" sz="9000" dirty="0"/>
          </a:p>
        </p:txBody>
      </p:sp>
      <p:sp>
        <p:nvSpPr>
          <p:cNvPr id="5" name="Text 2"/>
          <p:cNvSpPr/>
          <p:nvPr/>
        </p:nvSpPr>
        <p:spPr>
          <a:xfrm>
            <a:off x="7303567" y="5286375"/>
            <a:ext cx="368071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spc="450" kern="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MALL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762851" y="6276975"/>
            <a:ext cx="762000" cy="19050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7" name="Text 4"/>
          <p:cNvSpPr/>
          <p:nvPr/>
        </p:nvSpPr>
        <p:spPr>
          <a:xfrm>
            <a:off x="7303567" y="6753225"/>
            <a:ext cx="368071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발표자 : 오하율 2026. 04. 30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3805237"/>
            <a:ext cx="389572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19050" dir="5400000">
              <a:srgbClr val="3D3224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08008" y="4186238"/>
            <a:ext cx="338470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208008" y="4995863"/>
            <a:ext cx="338470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114925" y="3805237"/>
            <a:ext cx="389572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19050" dir="5400000">
              <a:srgbClr val="3D3224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70433" y="4186238"/>
            <a:ext cx="338470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5370433" y="4995863"/>
            <a:ext cx="338470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277350" y="3805237"/>
            <a:ext cx="389572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19050" dir="5400000">
              <a:srgbClr val="3D3224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532858" y="4186238"/>
            <a:ext cx="338470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9532858" y="4995863"/>
            <a:ext cx="338470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설계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3439775" y="3805237"/>
            <a:ext cx="389572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19050" dir="5400000">
              <a:srgbClr val="3D3224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695283" y="4186238"/>
            <a:ext cx="338470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13695283" y="4995863"/>
            <a:ext cx="338470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세부 기능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52500" y="6024563"/>
            <a:ext cx="389572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19050" dir="5400000">
              <a:srgbClr val="3D3224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08008" y="6405563"/>
            <a:ext cx="338470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1208008" y="7215188"/>
            <a:ext cx="338470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유스케이스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5114925" y="6024563"/>
            <a:ext cx="389572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19050" dir="5400000">
              <a:srgbClr val="3D3224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70433" y="6405563"/>
            <a:ext cx="338470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5370433" y="7215188"/>
            <a:ext cx="338470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시연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277350" y="6024563"/>
            <a:ext cx="389572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19050" dir="5400000">
              <a:srgbClr val="3D3224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532858" y="6405563"/>
            <a:ext cx="338470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900" dirty="0"/>
          </a:p>
        </p:txBody>
      </p:sp>
      <p:sp>
        <p:nvSpPr>
          <p:cNvPr id="23" name="Text 21"/>
          <p:cNvSpPr/>
          <p:nvPr/>
        </p:nvSpPr>
        <p:spPr>
          <a:xfrm>
            <a:off x="9532858" y="7215188"/>
            <a:ext cx="338470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소감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3439775" y="6024563"/>
            <a:ext cx="3895725" cy="195262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19050" dir="5400000">
              <a:srgbClr val="3D3224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3695283" y="6405563"/>
            <a:ext cx="338470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900" dirty="0"/>
          </a:p>
        </p:txBody>
      </p:sp>
      <p:sp>
        <p:nvSpPr>
          <p:cNvPr id="26" name="Text 24"/>
          <p:cNvSpPr/>
          <p:nvPr/>
        </p:nvSpPr>
        <p:spPr>
          <a:xfrm>
            <a:off x="13695283" y="7215188"/>
            <a:ext cx="338470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324100"/>
            <a:ext cx="5257800" cy="720090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3D3224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162300" y="4866411"/>
            <a:ext cx="838200" cy="838200"/>
          </a:xfrm>
          <a:prstGeom prst="roundRect">
            <a:avLst>
              <a:gd name="adj" fmla="val 22727"/>
            </a:avLst>
          </a:prstGeom>
          <a:solidFill>
            <a:srgbClr val="F3EDE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1850" y="5075961"/>
            <a:ext cx="419100" cy="419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98415" y="5896868"/>
            <a:ext cx="156597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2293144" y="6554093"/>
            <a:ext cx="2576513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VARO Shopping Mall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515100" y="2324100"/>
            <a:ext cx="5257800" cy="720090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3D3224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724900" y="4654257"/>
            <a:ext cx="838200" cy="838200"/>
          </a:xfrm>
          <a:prstGeom prst="roundRect">
            <a:avLst>
              <a:gd name="adj" fmla="val 22727"/>
            </a:avLst>
          </a:prstGeom>
          <a:solidFill>
            <a:srgbClr val="F3EDE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4450" y="4863807"/>
            <a:ext cx="419100" cy="4191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64600" y="5683597"/>
            <a:ext cx="135865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목표</a:t>
            </a:r>
            <a:endParaRPr lang="en-US" sz="2550" dirty="0"/>
          </a:p>
        </p:txBody>
      </p:sp>
      <p:sp>
        <p:nvSpPr>
          <p:cNvPr id="12" name="Text 8"/>
          <p:cNvSpPr/>
          <p:nvPr/>
        </p:nvSpPr>
        <p:spPr>
          <a:xfrm>
            <a:off x="7765745" y="6340822"/>
            <a:ext cx="2756361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 기반 정적 데이터를 동적 대시보드로 시각화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12077700" y="2324100"/>
            <a:ext cx="5257800" cy="720090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3D3224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4287500" y="4523988"/>
            <a:ext cx="838200" cy="838200"/>
          </a:xfrm>
          <a:prstGeom prst="roundRect">
            <a:avLst>
              <a:gd name="adj" fmla="val 22727"/>
            </a:avLst>
          </a:prstGeom>
          <a:solidFill>
            <a:srgbClr val="F3EDE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7050" y="4733538"/>
            <a:ext cx="419100" cy="4191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878223" y="5561707"/>
            <a:ext cx="1656606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충족률</a:t>
            </a:r>
            <a:endParaRPr lang="en-US" sz="2550" dirty="0"/>
          </a:p>
        </p:txBody>
      </p:sp>
      <p:sp>
        <p:nvSpPr>
          <p:cNvPr id="17" name="Text 12"/>
          <p:cNvSpPr/>
          <p:nvPr/>
        </p:nvSpPr>
        <p:spPr>
          <a:xfrm>
            <a:off x="14043720" y="6218932"/>
            <a:ext cx="1325761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3600" b="1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18" name="Text 13"/>
          <p:cNvSpPr/>
          <p:nvPr/>
        </p:nvSpPr>
        <p:spPr>
          <a:xfrm>
            <a:off x="13499604" y="6950422"/>
            <a:ext cx="2413843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핵심 요구사항 달성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EDE4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952500"/>
            <a:ext cx="1687449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3090863"/>
            <a:ext cx="3895725" cy="2667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19050" dir="5400000">
              <a:srgbClr val="3D3224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63000"/>
          </a:blip>
          <a:stretch>
            <a:fillRect/>
          </a:stretch>
        </p:blipFill>
        <p:spPr>
          <a:xfrm>
            <a:off x="2671763" y="3471863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8765" y="4119562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50" kern="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68765" y="4567238"/>
            <a:ext cx="346319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168765" y="5110163"/>
            <a:ext cx="34631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114925" y="3090863"/>
            <a:ext cx="3895725" cy="2667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19050" dir="5400000">
              <a:srgbClr val="3D3224">
                <a:alpha val="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6834188" y="3471863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31190" y="4119562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50" kern="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331190" y="4567238"/>
            <a:ext cx="346319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Sequelize</a:t>
            </a:r>
            <a:endParaRPr lang="en-US" sz="2550" dirty="0"/>
          </a:p>
        </p:txBody>
      </p:sp>
      <p:sp>
        <p:nvSpPr>
          <p:cNvPr id="13" name="Text 9"/>
          <p:cNvSpPr/>
          <p:nvPr/>
        </p:nvSpPr>
        <p:spPr>
          <a:xfrm>
            <a:off x="5331190" y="5110163"/>
            <a:ext cx="34631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Binding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9277350" y="3090863"/>
            <a:ext cx="3895725" cy="2667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19050" dir="5400000">
              <a:srgbClr val="3D3224">
                <a:alpha val="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>
            <a:alphaModFix amt="96000"/>
          </a:blip>
          <a:stretch>
            <a:fillRect/>
          </a:stretch>
        </p:blipFill>
        <p:spPr>
          <a:xfrm>
            <a:off x="10996613" y="3471863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493615" y="4119562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50" kern="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9493615" y="4567238"/>
            <a:ext cx="346319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2550" dirty="0"/>
          </a:p>
        </p:txBody>
      </p:sp>
      <p:sp>
        <p:nvSpPr>
          <p:cNvPr id="18" name="Text 13"/>
          <p:cNvSpPr/>
          <p:nvPr/>
        </p:nvSpPr>
        <p:spPr>
          <a:xfrm>
            <a:off x="9493615" y="5110163"/>
            <a:ext cx="34631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Entities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13439775" y="3090863"/>
            <a:ext cx="3895725" cy="2667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19050" dir="5400000">
              <a:srgbClr val="3D3224">
                <a:alpha val="6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>
            <a:alphaModFix amt="99000"/>
          </a:blip>
          <a:stretch>
            <a:fillRect/>
          </a:stretch>
        </p:blipFill>
        <p:spPr>
          <a:xfrm>
            <a:off x="15159038" y="3471863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656040" y="4119562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50" kern="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13656040" y="4567238"/>
            <a:ext cx="346319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</a:t>
            </a:r>
            <a:endParaRPr lang="en-US" sz="2550" dirty="0"/>
          </a:p>
        </p:txBody>
      </p:sp>
      <p:sp>
        <p:nvSpPr>
          <p:cNvPr id="23" name="Text 17"/>
          <p:cNvSpPr/>
          <p:nvPr/>
        </p:nvSpPr>
        <p:spPr>
          <a:xfrm>
            <a:off x="13656040" y="5110163"/>
            <a:ext cx="34631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 · SVG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952500" y="6024563"/>
            <a:ext cx="3895725" cy="2733675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19050" dir="5400000">
              <a:srgbClr val="3D3224">
                <a:alpha val="6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>
            <a:alphaModFix amt="63000"/>
          </a:blip>
          <a:stretch>
            <a:fillRect/>
          </a:stretch>
        </p:blipFill>
        <p:spPr>
          <a:xfrm>
            <a:off x="2671763" y="6405563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68765" y="7053263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50" kern="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1168765" y="7500938"/>
            <a:ext cx="346319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ExcelJS</a:t>
            </a:r>
            <a:endParaRPr lang="en-US" sz="2550" dirty="0"/>
          </a:p>
        </p:txBody>
      </p:sp>
      <p:sp>
        <p:nvSpPr>
          <p:cNvPr id="28" name="Text 21"/>
          <p:cNvSpPr/>
          <p:nvPr/>
        </p:nvSpPr>
        <p:spPr>
          <a:xfrm>
            <a:off x="1168765" y="8043863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파이프라인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5114925" y="6024563"/>
            <a:ext cx="3895725" cy="2733675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19050" dir="5400000">
              <a:srgbClr val="3D3224">
                <a:alpha val="6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>
            <a:alphaModFix amt="79000"/>
          </a:blip>
          <a:stretch>
            <a:fillRect/>
          </a:stretch>
        </p:blipFill>
        <p:spPr>
          <a:xfrm>
            <a:off x="6834188" y="6405563"/>
            <a:ext cx="457200" cy="4572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331190" y="7053263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50" kern="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800" dirty="0"/>
          </a:p>
        </p:txBody>
      </p:sp>
      <p:sp>
        <p:nvSpPr>
          <p:cNvPr id="32" name="Text 24"/>
          <p:cNvSpPr/>
          <p:nvPr/>
        </p:nvSpPr>
        <p:spPr>
          <a:xfrm>
            <a:off x="5331190" y="7500938"/>
            <a:ext cx="346319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</a:t>
            </a:r>
            <a:endParaRPr lang="en-US" sz="2550" dirty="0"/>
          </a:p>
        </p:txBody>
      </p:sp>
      <p:sp>
        <p:nvSpPr>
          <p:cNvPr id="33" name="Text 25"/>
          <p:cNvSpPr/>
          <p:nvPr/>
        </p:nvSpPr>
        <p:spPr>
          <a:xfrm>
            <a:off x="5331190" y="8043863"/>
            <a:ext cx="34631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</a:t>
            </a:r>
            <a:endParaRPr lang="en-US" sz="1800" dirty="0"/>
          </a:p>
        </p:txBody>
      </p:sp>
      <p:sp>
        <p:nvSpPr>
          <p:cNvPr id="34" name="Shape 26"/>
          <p:cNvSpPr/>
          <p:nvPr/>
        </p:nvSpPr>
        <p:spPr>
          <a:xfrm>
            <a:off x="9277350" y="6024563"/>
            <a:ext cx="3895725" cy="2733675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19050" dir="5400000">
              <a:srgbClr val="3D3224">
                <a:alpha val="6000"/>
              </a:srgbClr>
            </a:outerShdw>
          </a:effectLst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>
            <a:alphaModFix amt="96000"/>
          </a:blip>
          <a:stretch>
            <a:fillRect/>
          </a:stretch>
        </p:blipFill>
        <p:spPr>
          <a:xfrm>
            <a:off x="10996613" y="6405563"/>
            <a:ext cx="457200" cy="45720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493615" y="7053263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50" kern="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1800" dirty="0"/>
          </a:p>
        </p:txBody>
      </p:sp>
      <p:sp>
        <p:nvSpPr>
          <p:cNvPr id="37" name="Text 28"/>
          <p:cNvSpPr/>
          <p:nvPr/>
        </p:nvSpPr>
        <p:spPr>
          <a:xfrm>
            <a:off x="9493615" y="7500938"/>
            <a:ext cx="346319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PlantUML</a:t>
            </a:r>
            <a:endParaRPr lang="en-US" sz="2550" dirty="0"/>
          </a:p>
        </p:txBody>
      </p:sp>
      <p:sp>
        <p:nvSpPr>
          <p:cNvPr id="38" name="Text 29"/>
          <p:cNvSpPr/>
          <p:nvPr/>
        </p:nvSpPr>
        <p:spPr>
          <a:xfrm>
            <a:off x="9493615" y="8043863"/>
            <a:ext cx="34631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Mermaid.js</a:t>
            </a:r>
            <a:endParaRPr lang="en-US" sz="1800" dirty="0"/>
          </a:p>
        </p:txBody>
      </p:sp>
      <p:sp>
        <p:nvSpPr>
          <p:cNvPr id="39" name="Shape 30"/>
          <p:cNvSpPr/>
          <p:nvPr/>
        </p:nvSpPr>
        <p:spPr>
          <a:xfrm>
            <a:off x="13439775" y="6024563"/>
            <a:ext cx="3895725" cy="2733675"/>
          </a:xfrm>
          <a:prstGeom prst="roundRect">
            <a:avLst>
              <a:gd name="adj" fmla="val 55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19050" dir="5400000">
              <a:srgbClr val="3D3224">
                <a:alpha val="6000"/>
              </a:srgbClr>
            </a:outerShdw>
          </a:effectLst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>
            <a:alphaModFix amt="99000"/>
          </a:blip>
          <a:stretch>
            <a:fillRect/>
          </a:stretch>
        </p:blipFill>
        <p:spPr>
          <a:xfrm>
            <a:off x="15159038" y="6405563"/>
            <a:ext cx="457200" cy="45720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3656040" y="7053263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50" kern="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800" dirty="0"/>
          </a:p>
        </p:txBody>
      </p:sp>
      <p:sp>
        <p:nvSpPr>
          <p:cNvPr id="42" name="Text 32"/>
          <p:cNvSpPr/>
          <p:nvPr/>
        </p:nvSpPr>
        <p:spPr>
          <a:xfrm>
            <a:off x="13656040" y="7500938"/>
            <a:ext cx="346319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Glassmorphism</a:t>
            </a:r>
            <a:endParaRPr lang="en-US" sz="2550" dirty="0"/>
          </a:p>
        </p:txBody>
      </p:sp>
      <p:sp>
        <p:nvSpPr>
          <p:cNvPr id="43" name="Text 33"/>
          <p:cNvSpPr/>
          <p:nvPr/>
        </p:nvSpPr>
        <p:spPr>
          <a:xfrm>
            <a:off x="13656040" y="8043863"/>
            <a:ext cx="34631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Mode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아키텍처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2324100"/>
            <a:ext cx="168744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Layered Architecture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952500" y="4243388"/>
            <a:ext cx="4546550" cy="40005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3D3224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2500" y="4243388"/>
            <a:ext cx="4546550" cy="38100"/>
          </a:xfrm>
          <a:prstGeom prst="rect">
            <a:avLst/>
          </a:prstGeom>
          <a:solidFill>
            <a:srgbClr val="C8956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9001" y="4721770"/>
            <a:ext cx="533400" cy="53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20639" y="5502622"/>
            <a:ext cx="241027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spc="225" kern="0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947714" y="6112222"/>
            <a:ext cx="2556123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Browser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212628" y="6855172"/>
            <a:ext cx="2026146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0000"/>
              </a:lnSpc>
              <a:buNone/>
            </a:pPr>
            <a:r>
              <a:rPr lang="en-US" sz="19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글래스모피즘 UI Vanilla JS · CSS3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5956250" y="5981700"/>
            <a:ext cx="5334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>
            <a:off x="6870650" y="4243388"/>
            <a:ext cx="4546699" cy="40005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3D3224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70650" y="4243388"/>
            <a:ext cx="4546699" cy="38100"/>
          </a:xfrm>
          <a:prstGeom prst="rect">
            <a:avLst/>
          </a:prstGeom>
          <a:solidFill>
            <a:srgbClr val="9A7D5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300" y="4732946"/>
            <a:ext cx="533400" cy="533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84195" y="5502622"/>
            <a:ext cx="211946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spc="225" kern="0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7488438" y="6112222"/>
            <a:ext cx="331097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/ Express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8015585" y="6855172"/>
            <a:ext cx="2256681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0000"/>
              </a:lnSpc>
              <a:buNone/>
            </a:pPr>
            <a:r>
              <a:rPr lang="en-US" sz="19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인증 주문 처리 · 매출 집계</a:t>
            </a:r>
            <a:endParaRPr lang="en-US" sz="1950" dirty="0"/>
          </a:p>
        </p:txBody>
      </p:sp>
      <p:sp>
        <p:nvSpPr>
          <p:cNvPr id="17" name="Text 13"/>
          <p:cNvSpPr/>
          <p:nvPr/>
        </p:nvSpPr>
        <p:spPr>
          <a:xfrm>
            <a:off x="11874550" y="5981700"/>
            <a:ext cx="5334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8" name="Shape 14"/>
          <p:cNvSpPr/>
          <p:nvPr/>
        </p:nvSpPr>
        <p:spPr>
          <a:xfrm>
            <a:off x="12788950" y="4243388"/>
            <a:ext cx="4546550" cy="40005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3D3224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2788950" y="4243388"/>
            <a:ext cx="4546550" cy="38100"/>
          </a:xfrm>
          <a:prstGeom prst="rect">
            <a:avLst/>
          </a:prstGeom>
          <a:solidFill>
            <a:srgbClr val="5C4A33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5450" y="4759376"/>
            <a:ext cx="533400" cy="5334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40669" y="5502622"/>
            <a:ext cx="84296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spc="225" kern="0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2100" dirty="0"/>
          </a:p>
        </p:txBody>
      </p:sp>
      <p:sp>
        <p:nvSpPr>
          <p:cNvPr id="22" name="Text 17"/>
          <p:cNvSpPr/>
          <p:nvPr/>
        </p:nvSpPr>
        <p:spPr>
          <a:xfrm>
            <a:off x="14376499" y="6112222"/>
            <a:ext cx="1371302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14029283" y="6855172"/>
            <a:ext cx="2065883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0000"/>
              </a:lnSpc>
              <a:buNone/>
            </a:pPr>
            <a:r>
              <a:rPr lang="en-US" sz="19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11개 정규화 테이블 고정밀 데이터 관리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 설계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2324100"/>
            <a:ext cx="1687449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11개 핵심 테이블 구조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952500" y="4167188"/>
            <a:ext cx="3952875" cy="1238250"/>
          </a:xfrm>
          <a:prstGeom prst="roundRect">
            <a:avLst>
              <a:gd name="adj" fmla="val 9231"/>
            </a:avLst>
          </a:prstGeom>
          <a:solidFill>
            <a:srgbClr val="5C4A33"/>
          </a:solidFill>
          <a:ln/>
          <a:effectLst>
            <a:outerShdw sx="100000" sy="100000" kx="0" ky="0" algn="bl" rotWithShape="0" blurRad="114300" dist="19050" dir="5400000">
              <a:srgbClr val="3D3224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1100" y="4433888"/>
            <a:ext cx="36005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8C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81100" y="4805363"/>
            <a:ext cx="36005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4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 정보 및 권한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95875" y="4167188"/>
            <a:ext cx="3952875" cy="1238250"/>
          </a:xfrm>
          <a:prstGeom prst="roundRect">
            <a:avLst>
              <a:gd name="adj" fmla="val 9231"/>
            </a:avLst>
          </a:prstGeom>
          <a:solidFill>
            <a:srgbClr val="5C4A33"/>
          </a:solidFill>
          <a:ln/>
          <a:effectLst>
            <a:outerShdw sx="100000" sy="100000" kx="0" ky="0" algn="bl" rotWithShape="0" blurRad="114300" dist="19050" dir="5400000">
              <a:srgbClr val="3D3224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24475" y="4433888"/>
            <a:ext cx="36005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8C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324475" y="4805363"/>
            <a:ext cx="36005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4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명세 및 배지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39250" y="4167188"/>
            <a:ext cx="3952875" cy="1238250"/>
          </a:xfrm>
          <a:prstGeom prst="roundRect">
            <a:avLst>
              <a:gd name="adj" fmla="val 9231"/>
            </a:avLst>
          </a:prstGeom>
          <a:solidFill>
            <a:srgbClr val="5C4A33"/>
          </a:solidFill>
          <a:ln/>
          <a:effectLst>
            <a:outerShdw sx="100000" sy="100000" kx="0" ky="0" algn="bl" rotWithShape="0" blurRad="114300" dist="19050" dir="5400000">
              <a:srgbClr val="3D3224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467850" y="4433888"/>
            <a:ext cx="36005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8C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467850" y="4805363"/>
            <a:ext cx="36005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4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마스터 정보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382625" y="4167188"/>
            <a:ext cx="3952875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3D3224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611225" y="4433888"/>
            <a:ext cx="36005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C4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611225" y="4805363"/>
            <a:ext cx="36005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상세 내역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5595938"/>
            <a:ext cx="3952875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3D3224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81100" y="5862638"/>
            <a:ext cx="36005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C4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81100" y="6234113"/>
            <a:ext cx="36005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및 별점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95875" y="5595938"/>
            <a:ext cx="3952875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3D3224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24475" y="5862638"/>
            <a:ext cx="36005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C4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324475" y="6234113"/>
            <a:ext cx="36005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장바구니 (회원전용)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239250" y="5595938"/>
            <a:ext cx="3952875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3D3224">
                <a:alpha val="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467850" y="5862638"/>
            <a:ext cx="36005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C4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467850" y="6234113"/>
            <a:ext cx="36005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트리형 분류 구조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382625" y="5595938"/>
            <a:ext cx="3952875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3D3224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3611225" y="5862638"/>
            <a:ext cx="36005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C4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guest_orders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3611225" y="6234113"/>
            <a:ext cx="36005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비회원 주문 전용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7024688"/>
            <a:ext cx="3952875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3D3224">
                <a:alpha val="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181100" y="7291388"/>
            <a:ext cx="36005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C4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banners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181100" y="7662863"/>
            <a:ext cx="36005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 배너 관리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095875" y="7024688"/>
            <a:ext cx="3952875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3D3224">
                <a:alpha val="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324475" y="7291388"/>
            <a:ext cx="36005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C4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admin_logs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5324475" y="7662863"/>
            <a:ext cx="36005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작업 이력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239250" y="7024688"/>
            <a:ext cx="3952875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3D3224">
                <a:alpha val="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467850" y="7291388"/>
            <a:ext cx="36005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C4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addresses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9467850" y="7662863"/>
            <a:ext cx="36005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배송지 관리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3382625" y="7024688"/>
            <a:ext cx="3952875" cy="1466850"/>
          </a:xfrm>
          <a:prstGeom prst="roundRect">
            <a:avLst>
              <a:gd name="adj" fmla="val 7792"/>
            </a:avLst>
          </a:prstGeom>
          <a:solidFill>
            <a:srgbClr val="E8DFD1"/>
          </a:solidFill>
          <a:ln/>
          <a:effectLst>
            <a:outerShdw sx="100000" sy="100000" kx="0" ky="0" algn="bl" rotWithShape="0" blurRad="114300" dist="19050" dir="5400000">
              <a:srgbClr val="3D3224">
                <a:alpha val="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4719399" y="7291388"/>
            <a:ext cx="127932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14719399" y="7958138"/>
            <a:ext cx="12793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Tables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유스케이스 분석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324100"/>
            <a:ext cx="5194250" cy="7200900"/>
          </a:xfrm>
          <a:prstGeom prst="roundRect">
            <a:avLst>
              <a:gd name="adj" fmla="val 36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3D3224">
                <a:alpha val="6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2775869"/>
            <a:ext cx="495300" cy="4953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33500" y="3467100"/>
            <a:ext cx="456521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비회원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333500" y="4038600"/>
            <a:ext cx="45652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333500" y="5210175"/>
            <a:ext cx="4432250" cy="9525"/>
          </a:xfrm>
          <a:prstGeom prst="rect">
            <a:avLst/>
          </a:prstGeom>
          <a:solidFill>
            <a:srgbClr val="E8DFD1"/>
          </a:solidFill>
          <a:ln/>
        </p:spPr>
      </p:sp>
      <p:sp>
        <p:nvSpPr>
          <p:cNvPr id="8" name="Shape 5"/>
          <p:cNvSpPr/>
          <p:nvPr/>
        </p:nvSpPr>
        <p:spPr>
          <a:xfrm>
            <a:off x="1333500" y="4876800"/>
            <a:ext cx="95250" cy="95250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9" name="Text 6"/>
          <p:cNvSpPr/>
          <p:nvPr/>
        </p:nvSpPr>
        <p:spPr>
          <a:xfrm>
            <a:off x="1543050" y="4800600"/>
            <a:ext cx="20161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검색 및 조회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1333500" y="5791200"/>
            <a:ext cx="4432250" cy="9525"/>
          </a:xfrm>
          <a:prstGeom prst="rect">
            <a:avLst/>
          </a:prstGeom>
          <a:solidFill>
            <a:srgbClr val="E8DFD1"/>
          </a:solidFill>
          <a:ln/>
        </p:spPr>
      </p:sp>
      <p:sp>
        <p:nvSpPr>
          <p:cNvPr id="11" name="Shape 8"/>
          <p:cNvSpPr/>
          <p:nvPr/>
        </p:nvSpPr>
        <p:spPr>
          <a:xfrm>
            <a:off x="1333500" y="5457825"/>
            <a:ext cx="95250" cy="95250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12" name="Text 9"/>
          <p:cNvSpPr/>
          <p:nvPr/>
        </p:nvSpPr>
        <p:spPr>
          <a:xfrm>
            <a:off x="1543050" y="5381625"/>
            <a:ext cx="113183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랭킹 조회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1333500" y="6038850"/>
            <a:ext cx="95250" cy="95250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14" name="Text 11"/>
          <p:cNvSpPr/>
          <p:nvPr/>
        </p:nvSpPr>
        <p:spPr>
          <a:xfrm>
            <a:off x="1543050" y="5962650"/>
            <a:ext cx="218732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비밀번호 기반 주문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6527750" y="2324100"/>
            <a:ext cx="5232499" cy="7200900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 w="19050">
            <a:solidFill>
              <a:srgbClr val="C8956C"/>
            </a:solidFill>
            <a:prstDash val="solid"/>
          </a:ln>
          <a:effectLst>
            <a:outerShdw sx="100000" sy="100000" kx="0" ky="0" algn="bl" rotWithShape="0" blurRad="228600" dist="38100" dir="5400000">
              <a:srgbClr val="3D3224">
                <a:alpha val="6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800" y="2779970"/>
            <a:ext cx="495300" cy="495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27800" y="3486150"/>
            <a:ext cx="4565371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</a:t>
            </a:r>
            <a:endParaRPr lang="en-US" sz="2700" dirty="0"/>
          </a:p>
        </p:txBody>
      </p:sp>
      <p:sp>
        <p:nvSpPr>
          <p:cNvPr id="18" name="Text 14"/>
          <p:cNvSpPr/>
          <p:nvPr/>
        </p:nvSpPr>
        <p:spPr>
          <a:xfrm>
            <a:off x="6927800" y="4057650"/>
            <a:ext cx="456537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927800" y="5229225"/>
            <a:ext cx="4432399" cy="9525"/>
          </a:xfrm>
          <a:prstGeom prst="rect">
            <a:avLst/>
          </a:prstGeom>
          <a:solidFill>
            <a:srgbClr val="E8DFD1"/>
          </a:solidFill>
          <a:ln/>
        </p:spPr>
      </p:sp>
      <p:sp>
        <p:nvSpPr>
          <p:cNvPr id="20" name="Shape 16"/>
          <p:cNvSpPr/>
          <p:nvPr/>
        </p:nvSpPr>
        <p:spPr>
          <a:xfrm>
            <a:off x="6927800" y="4895850"/>
            <a:ext cx="95250" cy="95250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21" name="Text 17"/>
          <p:cNvSpPr/>
          <p:nvPr/>
        </p:nvSpPr>
        <p:spPr>
          <a:xfrm>
            <a:off x="7137350" y="4819650"/>
            <a:ext cx="137725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로그인</a:t>
            </a:r>
            <a:endParaRPr lang="en-US" sz="2100" dirty="0"/>
          </a:p>
        </p:txBody>
      </p:sp>
      <p:sp>
        <p:nvSpPr>
          <p:cNvPr id="22" name="Shape 18"/>
          <p:cNvSpPr/>
          <p:nvPr/>
        </p:nvSpPr>
        <p:spPr>
          <a:xfrm>
            <a:off x="6927800" y="5810250"/>
            <a:ext cx="4432399" cy="9525"/>
          </a:xfrm>
          <a:prstGeom prst="rect">
            <a:avLst/>
          </a:prstGeom>
          <a:solidFill>
            <a:srgbClr val="E8DFD1"/>
          </a:solidFill>
          <a:ln/>
        </p:spPr>
      </p:sp>
      <p:sp>
        <p:nvSpPr>
          <p:cNvPr id="23" name="Shape 19"/>
          <p:cNvSpPr/>
          <p:nvPr/>
        </p:nvSpPr>
        <p:spPr>
          <a:xfrm>
            <a:off x="6927800" y="5476875"/>
            <a:ext cx="95250" cy="95250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24" name="Text 20"/>
          <p:cNvSpPr/>
          <p:nvPr/>
        </p:nvSpPr>
        <p:spPr>
          <a:xfrm>
            <a:off x="7137350" y="5400675"/>
            <a:ext cx="185960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· 별점 등록</a:t>
            </a:r>
            <a:endParaRPr lang="en-US" sz="2100" dirty="0"/>
          </a:p>
        </p:txBody>
      </p:sp>
      <p:sp>
        <p:nvSpPr>
          <p:cNvPr id="25" name="Shape 21"/>
          <p:cNvSpPr/>
          <p:nvPr/>
        </p:nvSpPr>
        <p:spPr>
          <a:xfrm>
            <a:off x="6927800" y="6391275"/>
            <a:ext cx="4432399" cy="9525"/>
          </a:xfrm>
          <a:prstGeom prst="rect">
            <a:avLst/>
          </a:prstGeom>
          <a:solidFill>
            <a:srgbClr val="E8DFD1"/>
          </a:solidFill>
          <a:ln/>
        </p:spPr>
      </p:sp>
      <p:sp>
        <p:nvSpPr>
          <p:cNvPr id="26" name="Shape 22"/>
          <p:cNvSpPr/>
          <p:nvPr/>
        </p:nvSpPr>
        <p:spPr>
          <a:xfrm>
            <a:off x="6927800" y="6057900"/>
            <a:ext cx="95250" cy="95250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27" name="Text 23"/>
          <p:cNvSpPr/>
          <p:nvPr/>
        </p:nvSpPr>
        <p:spPr>
          <a:xfrm>
            <a:off x="7137350" y="5981700"/>
            <a:ext cx="186794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장바구니 동기화</a:t>
            </a:r>
            <a:endParaRPr lang="en-US" sz="2100" dirty="0"/>
          </a:p>
        </p:txBody>
      </p:sp>
      <p:sp>
        <p:nvSpPr>
          <p:cNvPr id="28" name="Shape 24"/>
          <p:cNvSpPr/>
          <p:nvPr/>
        </p:nvSpPr>
        <p:spPr>
          <a:xfrm>
            <a:off x="6927800" y="6638925"/>
            <a:ext cx="95250" cy="95250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29" name="Text 25"/>
          <p:cNvSpPr/>
          <p:nvPr/>
        </p:nvSpPr>
        <p:spPr>
          <a:xfrm>
            <a:off x="7137350" y="6562725"/>
            <a:ext cx="113183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 관리</a:t>
            </a:r>
            <a:endParaRPr lang="en-US" sz="2100" dirty="0"/>
          </a:p>
        </p:txBody>
      </p:sp>
      <p:sp>
        <p:nvSpPr>
          <p:cNvPr id="30" name="Shape 26"/>
          <p:cNvSpPr/>
          <p:nvPr/>
        </p:nvSpPr>
        <p:spPr>
          <a:xfrm>
            <a:off x="12141250" y="2324100"/>
            <a:ext cx="5194250" cy="7200900"/>
          </a:xfrm>
          <a:prstGeom prst="roundRect">
            <a:avLst>
              <a:gd name="adj" fmla="val 36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3D3224">
                <a:alpha val="6000"/>
              </a:srgbClr>
            </a:outerShdw>
          </a:effectLst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2250" y="2741737"/>
            <a:ext cx="495300" cy="4953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2522250" y="3467100"/>
            <a:ext cx="456521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</a:t>
            </a:r>
            <a:endParaRPr lang="en-US" sz="2700" dirty="0"/>
          </a:p>
        </p:txBody>
      </p:sp>
      <p:sp>
        <p:nvSpPr>
          <p:cNvPr id="33" name="Text 28"/>
          <p:cNvSpPr/>
          <p:nvPr/>
        </p:nvSpPr>
        <p:spPr>
          <a:xfrm>
            <a:off x="12522250" y="4038600"/>
            <a:ext cx="45652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C895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12522250" y="5210175"/>
            <a:ext cx="4432250" cy="9525"/>
          </a:xfrm>
          <a:prstGeom prst="rect">
            <a:avLst/>
          </a:prstGeom>
          <a:solidFill>
            <a:srgbClr val="E8DFD1"/>
          </a:solidFill>
          <a:ln/>
        </p:spPr>
      </p:sp>
      <p:sp>
        <p:nvSpPr>
          <p:cNvPr id="35" name="Shape 30"/>
          <p:cNvSpPr/>
          <p:nvPr/>
        </p:nvSpPr>
        <p:spPr>
          <a:xfrm>
            <a:off x="12522250" y="4876800"/>
            <a:ext cx="95250" cy="95250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36" name="Text 31"/>
          <p:cNvSpPr/>
          <p:nvPr/>
        </p:nvSpPr>
        <p:spPr>
          <a:xfrm>
            <a:off x="12731800" y="4800600"/>
            <a:ext cx="218732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매출 통계 모니터링</a:t>
            </a:r>
            <a:endParaRPr lang="en-US" sz="2100" dirty="0"/>
          </a:p>
        </p:txBody>
      </p:sp>
      <p:sp>
        <p:nvSpPr>
          <p:cNvPr id="37" name="Shape 32"/>
          <p:cNvSpPr/>
          <p:nvPr/>
        </p:nvSpPr>
        <p:spPr>
          <a:xfrm>
            <a:off x="12522250" y="5791200"/>
            <a:ext cx="4432250" cy="9525"/>
          </a:xfrm>
          <a:prstGeom prst="rect">
            <a:avLst/>
          </a:prstGeom>
          <a:solidFill>
            <a:srgbClr val="E8DFD1"/>
          </a:solidFill>
          <a:ln/>
        </p:spPr>
      </p:sp>
      <p:sp>
        <p:nvSpPr>
          <p:cNvPr id="38" name="Shape 33"/>
          <p:cNvSpPr/>
          <p:nvPr/>
        </p:nvSpPr>
        <p:spPr>
          <a:xfrm>
            <a:off x="12522250" y="5457825"/>
            <a:ext cx="95250" cy="95250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39" name="Text 34"/>
          <p:cNvSpPr/>
          <p:nvPr/>
        </p:nvSpPr>
        <p:spPr>
          <a:xfrm>
            <a:off x="12731800" y="5381625"/>
            <a:ext cx="169664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배지 관리</a:t>
            </a:r>
            <a:endParaRPr lang="en-US" sz="2100" dirty="0"/>
          </a:p>
        </p:txBody>
      </p:sp>
      <p:sp>
        <p:nvSpPr>
          <p:cNvPr id="40" name="Shape 35"/>
          <p:cNvSpPr/>
          <p:nvPr/>
        </p:nvSpPr>
        <p:spPr>
          <a:xfrm>
            <a:off x="12522250" y="6372225"/>
            <a:ext cx="4432250" cy="9525"/>
          </a:xfrm>
          <a:prstGeom prst="rect">
            <a:avLst/>
          </a:prstGeom>
          <a:solidFill>
            <a:srgbClr val="E8DFD1"/>
          </a:solidFill>
          <a:ln/>
        </p:spPr>
      </p:sp>
      <p:sp>
        <p:nvSpPr>
          <p:cNvPr id="41" name="Shape 36"/>
          <p:cNvSpPr/>
          <p:nvPr/>
        </p:nvSpPr>
        <p:spPr>
          <a:xfrm>
            <a:off x="12522250" y="6038850"/>
            <a:ext cx="95250" cy="95250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42" name="Text 37"/>
          <p:cNvSpPr/>
          <p:nvPr/>
        </p:nvSpPr>
        <p:spPr>
          <a:xfrm>
            <a:off x="12731800" y="5962650"/>
            <a:ext cx="162252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 정렬</a:t>
            </a:r>
            <a:endParaRPr lang="en-US" sz="2100" dirty="0"/>
          </a:p>
        </p:txBody>
      </p:sp>
      <p:sp>
        <p:nvSpPr>
          <p:cNvPr id="43" name="Shape 38"/>
          <p:cNvSpPr/>
          <p:nvPr/>
        </p:nvSpPr>
        <p:spPr>
          <a:xfrm>
            <a:off x="12522250" y="6619875"/>
            <a:ext cx="95250" cy="95250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44" name="Text 39"/>
          <p:cNvSpPr/>
          <p:nvPr/>
        </p:nvSpPr>
        <p:spPr>
          <a:xfrm>
            <a:off x="12731800" y="6543675"/>
            <a:ext cx="169664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이력 추적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EDE4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048000"/>
            <a:ext cx="765238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0" b="1" dirty="0">
                <a:solidFill>
                  <a:srgbClr val="E8D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52500" y="4152900"/>
            <a:ext cx="765238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&amp; 소셜 로그인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52500" y="5048250"/>
            <a:ext cx="7652385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225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기반으로 네이버, 카카오, 구글 소셜 로그인을 구현하고 JWT 토큰으로 세션을 안전하게 관리합니다.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52500" y="6858000"/>
            <a:ext cx="1384846" cy="457200"/>
          </a:xfrm>
          <a:prstGeom prst="roundRect">
            <a:avLst>
              <a:gd name="adj" fmla="val 50000"/>
            </a:avLst>
          </a:prstGeom>
          <a:solidFill>
            <a:srgbClr val="E8C9A8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6934200"/>
            <a:ext cx="108004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2494062" y="6858000"/>
            <a:ext cx="817215" cy="457200"/>
          </a:xfrm>
          <a:prstGeom prst="roundRect">
            <a:avLst>
              <a:gd name="adj" fmla="val 50000"/>
            </a:avLst>
          </a:prstGeom>
          <a:solidFill>
            <a:srgbClr val="E8C9A8"/>
          </a:solidFill>
          <a:ln/>
        </p:spPr>
      </p:sp>
      <p:sp>
        <p:nvSpPr>
          <p:cNvPr id="9" name="Text 7"/>
          <p:cNvSpPr/>
          <p:nvPr/>
        </p:nvSpPr>
        <p:spPr>
          <a:xfrm>
            <a:off x="2684562" y="6934200"/>
            <a:ext cx="5124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3467993" y="6858000"/>
            <a:ext cx="1403747" cy="457200"/>
          </a:xfrm>
          <a:prstGeom prst="roundRect">
            <a:avLst>
              <a:gd name="adj" fmla="val 50000"/>
            </a:avLst>
          </a:prstGeom>
          <a:solidFill>
            <a:srgbClr val="E8C9A8"/>
          </a:solidFill>
          <a:ln/>
        </p:spPr>
      </p:sp>
      <p:sp>
        <p:nvSpPr>
          <p:cNvPr id="11" name="Text 9"/>
          <p:cNvSpPr/>
          <p:nvPr/>
        </p:nvSpPr>
        <p:spPr>
          <a:xfrm>
            <a:off x="3658493" y="6934200"/>
            <a:ext cx="109894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로그인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991600" y="3609975"/>
            <a:ext cx="8343900" cy="325755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04800" dist="57150" dir="5400000">
              <a:srgbClr val="3D3224">
                <a:alpha val="8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2050" y="4062028"/>
            <a:ext cx="1143000" cy="11430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1410801" y="5476875"/>
            <a:ext cx="1016198" cy="933450"/>
          </a:xfrm>
          <a:prstGeom prst="roundRect">
            <a:avLst>
              <a:gd name="adj" fmla="val 12245"/>
            </a:avLst>
          </a:prstGeom>
          <a:solidFill>
            <a:srgbClr val="F3EDE4"/>
          </a:solidFill>
          <a:ln/>
        </p:spPr>
      </p:sp>
      <p:sp>
        <p:nvSpPr>
          <p:cNvPr id="15" name="Text 12"/>
          <p:cNvSpPr/>
          <p:nvPr/>
        </p:nvSpPr>
        <p:spPr>
          <a:xfrm>
            <a:off x="11601301" y="5629275"/>
            <a:ext cx="6351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Naver</a:t>
            </a:r>
            <a:endParaRPr lang="en-US" sz="16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6500" y="5915025"/>
            <a:ext cx="304800" cy="3048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2579400" y="5476875"/>
            <a:ext cx="1051471" cy="933450"/>
          </a:xfrm>
          <a:prstGeom prst="roundRect">
            <a:avLst>
              <a:gd name="adj" fmla="val 12245"/>
            </a:avLst>
          </a:prstGeom>
          <a:solidFill>
            <a:srgbClr val="F3EDE4"/>
          </a:solidFill>
          <a:ln/>
        </p:spPr>
      </p:sp>
      <p:sp>
        <p:nvSpPr>
          <p:cNvPr id="18" name="Text 14"/>
          <p:cNvSpPr/>
          <p:nvPr/>
        </p:nvSpPr>
        <p:spPr>
          <a:xfrm>
            <a:off x="12769900" y="5629275"/>
            <a:ext cx="67047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Kakao</a:t>
            </a:r>
            <a:endParaRPr lang="en-US" sz="16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2661" y="5915025"/>
            <a:ext cx="304800" cy="3048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13783270" y="5476875"/>
            <a:ext cx="1133029" cy="933450"/>
          </a:xfrm>
          <a:prstGeom prst="roundRect">
            <a:avLst>
              <a:gd name="adj" fmla="val 12245"/>
            </a:avLst>
          </a:prstGeom>
          <a:solidFill>
            <a:srgbClr val="F3EDE4"/>
          </a:solidFill>
          <a:ln/>
        </p:spPr>
      </p:sp>
      <p:sp>
        <p:nvSpPr>
          <p:cNvPr id="21" name="Text 16"/>
          <p:cNvSpPr/>
          <p:nvPr/>
        </p:nvSpPr>
        <p:spPr>
          <a:xfrm>
            <a:off x="13973770" y="5629275"/>
            <a:ext cx="75202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6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7310" y="5915025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048000"/>
            <a:ext cx="765238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0" b="1" dirty="0">
                <a:solidFill>
                  <a:srgbClr val="E8D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952500" y="4152900"/>
            <a:ext cx="765238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장바구니 &amp; 주문 시스템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52500" y="5048250"/>
            <a:ext cx="7652385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225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시 세션 기반 장바구니를 DB로 자동 동기화하는 하이브리드 카트 병합 시스템을 구현했습니다.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6858000"/>
            <a:ext cx="1210866" cy="457200"/>
          </a:xfrm>
          <a:prstGeom prst="roundRect">
            <a:avLst>
              <a:gd name="adj" fmla="val 50000"/>
            </a:avLst>
          </a:prstGeom>
          <a:solidFill>
            <a:srgbClr val="E8C9A8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6934200"/>
            <a:ext cx="90606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카트 병합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2320082" y="6858000"/>
            <a:ext cx="1403747" cy="457200"/>
          </a:xfrm>
          <a:prstGeom prst="roundRect">
            <a:avLst>
              <a:gd name="adj" fmla="val 50000"/>
            </a:avLst>
          </a:prstGeom>
          <a:solidFill>
            <a:srgbClr val="E8C9A8"/>
          </a:solidFill>
          <a:ln/>
        </p:spPr>
      </p:sp>
      <p:sp>
        <p:nvSpPr>
          <p:cNvPr id="8" name="Text 6"/>
          <p:cNvSpPr/>
          <p:nvPr/>
        </p:nvSpPr>
        <p:spPr>
          <a:xfrm>
            <a:off x="2510582" y="6934200"/>
            <a:ext cx="109894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비회원 주문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3880545" y="6858000"/>
            <a:ext cx="1210866" cy="457200"/>
          </a:xfrm>
          <a:prstGeom prst="roundRect">
            <a:avLst>
              <a:gd name="adj" fmla="val 50000"/>
            </a:avLst>
          </a:prstGeom>
          <a:solidFill>
            <a:srgbClr val="E8C9A8"/>
          </a:solidFill>
          <a:ln/>
        </p:spPr>
      </p:sp>
      <p:sp>
        <p:nvSpPr>
          <p:cNvPr id="10" name="Text 8"/>
          <p:cNvSpPr/>
          <p:nvPr/>
        </p:nvSpPr>
        <p:spPr>
          <a:xfrm>
            <a:off x="4071045" y="6934200"/>
            <a:ext cx="90606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해싱 보안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991600" y="3414713"/>
            <a:ext cx="8343900" cy="3648075"/>
          </a:xfrm>
          <a:prstGeom prst="roundRect">
            <a:avLst>
              <a:gd name="adj" fmla="val 62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04800" dist="57150" dir="5400000">
              <a:srgbClr val="3D3224">
                <a:alpha val="8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11050" y="3871913"/>
            <a:ext cx="1905000" cy="17145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1695509" y="5776913"/>
            <a:ext cx="1210419" cy="828675"/>
          </a:xfrm>
          <a:prstGeom prst="roundRect">
            <a:avLst>
              <a:gd name="adj" fmla="val 11494"/>
            </a:avLst>
          </a:prstGeom>
          <a:solidFill>
            <a:srgbClr val="E8DFD1"/>
          </a:solidFill>
          <a:ln/>
        </p:spPr>
      </p:sp>
      <p:sp>
        <p:nvSpPr>
          <p:cNvPr id="14" name="Text 11"/>
          <p:cNvSpPr/>
          <p:nvPr/>
        </p:nvSpPr>
        <p:spPr>
          <a:xfrm>
            <a:off x="11847909" y="5910262"/>
            <a:ext cx="905619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7A6243"/>
                </a:solidFill>
                <a:highlight>
                  <a:srgbClr val="E8DFD1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세션 카트 </a:t>
            </a:r>
            <a:pPr algn="ctr" indent="0" marL="0">
              <a:buNone/>
            </a:pPr>
            <a:r>
              <a:rPr lang="en-US" sz="13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비로그인</a:t>
            </a:r>
            <a:endParaRPr lang="en-US" sz="16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0229" y="6076950"/>
            <a:ext cx="381000" cy="2286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3515529" y="5776913"/>
            <a:ext cx="1115913" cy="828675"/>
          </a:xfrm>
          <a:prstGeom prst="roundRect">
            <a:avLst>
              <a:gd name="adj" fmla="val 11494"/>
            </a:avLst>
          </a:prstGeom>
          <a:solidFill>
            <a:srgbClr val="5C4A33"/>
          </a:solidFill>
          <a:ln/>
        </p:spPr>
      </p:sp>
      <p:sp>
        <p:nvSpPr>
          <p:cNvPr id="17" name="Text 13"/>
          <p:cNvSpPr/>
          <p:nvPr/>
        </p:nvSpPr>
        <p:spPr>
          <a:xfrm>
            <a:off x="13667929" y="5910262"/>
            <a:ext cx="811113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3EDE4"/>
                </a:solidFill>
                <a:highlight>
                  <a:srgbClr val="5C4A33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DB 카트 </a:t>
            </a:r>
            <a:pPr algn="ctr" indent="0" marL="0">
              <a:buNone/>
            </a:pPr>
            <a:r>
              <a:rPr lang="en-US" sz="1350" dirty="0">
                <a:solidFill>
                  <a:srgbClr val="D4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후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3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048000"/>
            <a:ext cx="7652385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952500" y="4152900"/>
            <a:ext cx="765238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3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어드민 대시보드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52500" y="5048250"/>
            <a:ext cx="7652385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2250" dirty="0">
                <a:solidFill>
                  <a:srgbClr val="D4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매출 통계 모니터링과 상품 배지 관리, 드래그 앤 드롭 카테고리 정렬 엔진을 제공합니다.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6858000"/>
            <a:ext cx="1210866" cy="457200"/>
          </a:xfrm>
          <a:prstGeom prst="roundRect">
            <a:avLst>
              <a:gd name="adj" fmla="val 50000"/>
            </a:avLst>
          </a:prstGeom>
          <a:solidFill>
            <a:srgbClr val="5C4A33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6934200"/>
            <a:ext cx="90606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8C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매출 통계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2320082" y="6858000"/>
            <a:ext cx="1210866" cy="457200"/>
          </a:xfrm>
          <a:prstGeom prst="roundRect">
            <a:avLst>
              <a:gd name="adj" fmla="val 50000"/>
            </a:avLst>
          </a:prstGeom>
          <a:solidFill>
            <a:srgbClr val="5C4A33"/>
          </a:solidFill>
          <a:ln/>
        </p:spPr>
      </p:sp>
      <p:sp>
        <p:nvSpPr>
          <p:cNvPr id="8" name="Text 6"/>
          <p:cNvSpPr/>
          <p:nvPr/>
        </p:nvSpPr>
        <p:spPr>
          <a:xfrm>
            <a:off x="2510582" y="6934200"/>
            <a:ext cx="90606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8C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배지 관리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3687663" y="6858000"/>
            <a:ext cx="1273076" cy="457200"/>
          </a:xfrm>
          <a:prstGeom prst="roundRect">
            <a:avLst>
              <a:gd name="adj" fmla="val 50000"/>
            </a:avLst>
          </a:prstGeom>
          <a:solidFill>
            <a:srgbClr val="5C4A33"/>
          </a:solidFill>
          <a:ln/>
        </p:spPr>
      </p:sp>
      <p:sp>
        <p:nvSpPr>
          <p:cNvPr id="10" name="Text 8"/>
          <p:cNvSpPr/>
          <p:nvPr/>
        </p:nvSpPr>
        <p:spPr>
          <a:xfrm>
            <a:off x="3878163" y="6934200"/>
            <a:ext cx="9682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8C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D&amp;D 정렬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991600" y="3705225"/>
            <a:ext cx="8343900" cy="3067050"/>
          </a:xfrm>
          <a:prstGeom prst="roundRect">
            <a:avLst>
              <a:gd name="adj" fmla="val 7453"/>
            </a:avLst>
          </a:prstGeom>
          <a:solidFill>
            <a:srgbClr val="5C4A33"/>
          </a:solidFill>
          <a:ln/>
          <a:effectLst>
            <a:outerShdw sx="100000" sy="100000" kx="0" ky="0" algn="bl" rotWithShape="0" blurRad="304800" dist="57150" dir="5400000">
              <a:srgbClr val="3D3224">
                <a:alpha val="8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0550" y="4162425"/>
            <a:ext cx="2286000" cy="1524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1477327" y="5876925"/>
            <a:ext cx="1022300" cy="438150"/>
          </a:xfrm>
          <a:prstGeom prst="roundRect">
            <a:avLst>
              <a:gd name="adj" fmla="val 17391"/>
            </a:avLst>
          </a:prstGeom>
          <a:solidFill>
            <a:srgbClr val="3D3224"/>
          </a:solidFill>
          <a:ln/>
        </p:spPr>
      </p:sp>
      <p:sp>
        <p:nvSpPr>
          <p:cNvPr id="14" name="Shape 11"/>
          <p:cNvSpPr/>
          <p:nvPr/>
        </p:nvSpPr>
        <p:spPr>
          <a:xfrm>
            <a:off x="11648777" y="603885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/>
        </p:spPr>
      </p:sp>
      <p:sp>
        <p:nvSpPr>
          <p:cNvPr id="15" name="Text 12"/>
          <p:cNvSpPr/>
          <p:nvPr/>
        </p:nvSpPr>
        <p:spPr>
          <a:xfrm>
            <a:off x="11839277" y="5972175"/>
            <a:ext cx="5651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4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2652028" y="5876925"/>
            <a:ext cx="975866" cy="438150"/>
          </a:xfrm>
          <a:prstGeom prst="roundRect">
            <a:avLst>
              <a:gd name="adj" fmla="val 17391"/>
            </a:avLst>
          </a:prstGeom>
          <a:solidFill>
            <a:srgbClr val="3D3224"/>
          </a:solidFill>
          <a:ln/>
        </p:spPr>
      </p:sp>
      <p:sp>
        <p:nvSpPr>
          <p:cNvPr id="17" name="Shape 14"/>
          <p:cNvSpPr/>
          <p:nvPr/>
        </p:nvSpPr>
        <p:spPr>
          <a:xfrm>
            <a:off x="12823478" y="603885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FF5722"/>
          </a:solidFill>
          <a:ln/>
        </p:spPr>
      </p:sp>
      <p:sp>
        <p:nvSpPr>
          <p:cNvPr id="18" name="Text 15"/>
          <p:cNvSpPr/>
          <p:nvPr/>
        </p:nvSpPr>
        <p:spPr>
          <a:xfrm>
            <a:off x="13013978" y="5972175"/>
            <a:ext cx="51866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4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3780294" y="5876925"/>
            <a:ext cx="1069330" cy="438150"/>
          </a:xfrm>
          <a:prstGeom prst="roundRect">
            <a:avLst>
              <a:gd name="adj" fmla="val 17391"/>
            </a:avLst>
          </a:prstGeom>
          <a:solidFill>
            <a:srgbClr val="3D3224"/>
          </a:solidFill>
          <a:ln/>
        </p:spPr>
      </p:sp>
      <p:sp>
        <p:nvSpPr>
          <p:cNvPr id="20" name="Shape 17"/>
          <p:cNvSpPr/>
          <p:nvPr/>
        </p:nvSpPr>
        <p:spPr>
          <a:xfrm>
            <a:off x="13951744" y="603885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/>
        </p:spPr>
      </p:sp>
      <p:sp>
        <p:nvSpPr>
          <p:cNvPr id="21" name="Text 18"/>
          <p:cNvSpPr/>
          <p:nvPr/>
        </p:nvSpPr>
        <p:spPr>
          <a:xfrm>
            <a:off x="14142244" y="5972175"/>
            <a:ext cx="6121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4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3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0" y="3295650"/>
            <a:ext cx="1524000" cy="1524000"/>
          </a:xfrm>
          <a:prstGeom prst="ellipse">
            <a:avLst/>
          </a:prstGeom>
          <a:solidFill>
            <a:srgbClr val="5C4A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0" y="371475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22473" y="5276850"/>
            <a:ext cx="3843055" cy="1057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3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6740675" y="6524625"/>
            <a:ext cx="4806501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D4C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VARO Shopping Mall 실시간 시연</a:t>
            </a:r>
            <a:endParaRPr lang="en-US" sz="2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소감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324100"/>
            <a:ext cx="5232350" cy="7200900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3D3224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780523"/>
            <a:ext cx="838200" cy="838200"/>
          </a:xfrm>
          <a:prstGeom prst="roundRect">
            <a:avLst>
              <a:gd name="adj" fmla="val 22727"/>
            </a:avLst>
          </a:prstGeom>
          <a:solidFill>
            <a:srgbClr val="F3EDE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050" y="2990073"/>
            <a:ext cx="419100" cy="419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33500" y="3810000"/>
            <a:ext cx="4604461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느낀점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333500" y="4524375"/>
            <a:ext cx="4604461" cy="2304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쇼핑몰을 이용만 해봤었지 직접 만들려고하니까 여러가지 요소가 필요하고 다양한 기술이 많아서 여러 쇼핑몰을 찾아보면서 배워나간 계기가 되었습니다.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527750" y="2324100"/>
            <a:ext cx="5232499" cy="7200900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3D3224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908750" y="2772470"/>
            <a:ext cx="838200" cy="838200"/>
          </a:xfrm>
          <a:prstGeom prst="roundRect">
            <a:avLst>
              <a:gd name="adj" fmla="val 22727"/>
            </a:avLst>
          </a:prstGeom>
          <a:solidFill>
            <a:srgbClr val="F3EDE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300" y="2982020"/>
            <a:ext cx="419100" cy="4191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08750" y="3810000"/>
            <a:ext cx="4604614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반성할 점</a:t>
            </a:r>
            <a:endParaRPr lang="en-US" sz="2850" dirty="0"/>
          </a:p>
        </p:txBody>
      </p:sp>
      <p:sp>
        <p:nvSpPr>
          <p:cNvPr id="12" name="Text 8"/>
          <p:cNvSpPr/>
          <p:nvPr/>
        </p:nvSpPr>
        <p:spPr>
          <a:xfrm>
            <a:off x="6908750" y="4524375"/>
            <a:ext cx="4604614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코드 작성과 성능 최적화에 대한 시간 투자가 부족했습니다.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12103150" y="2324100"/>
            <a:ext cx="5232350" cy="7200900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3D3224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2484150" y="2755393"/>
            <a:ext cx="838200" cy="838200"/>
          </a:xfrm>
          <a:prstGeom prst="roundRect">
            <a:avLst>
              <a:gd name="adj" fmla="val 22727"/>
            </a:avLst>
          </a:prstGeom>
          <a:solidFill>
            <a:srgbClr val="F3EDE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3700" y="2964943"/>
            <a:ext cx="419100" cy="4191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484150" y="3810000"/>
            <a:ext cx="4604461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배운점</a:t>
            </a:r>
            <a:endParaRPr lang="en-US" sz="2850" dirty="0"/>
          </a:p>
        </p:txBody>
      </p:sp>
      <p:sp>
        <p:nvSpPr>
          <p:cNvPr id="17" name="Text 12"/>
          <p:cNvSpPr/>
          <p:nvPr/>
        </p:nvSpPr>
        <p:spPr>
          <a:xfrm>
            <a:off x="12484150" y="4524375"/>
            <a:ext cx="4604461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2100" dirty="0">
                <a:solidFill>
                  <a:srgbClr val="7A62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비즈니스 로직의 구조화와 시간 관리의 중요성을 깨달았습니다.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0" y="2476358"/>
            <a:ext cx="762000" cy="76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80615" y="3557588"/>
            <a:ext cx="2726622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5C4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9000" dirty="0"/>
          </a:p>
        </p:txBody>
      </p:sp>
      <p:sp>
        <p:nvSpPr>
          <p:cNvPr id="5" name="Text 2"/>
          <p:cNvSpPr/>
          <p:nvPr/>
        </p:nvSpPr>
        <p:spPr>
          <a:xfrm>
            <a:off x="7163610" y="5386388"/>
            <a:ext cx="396063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궁금하신 점을 질문해 주세요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763000" y="6310313"/>
            <a:ext cx="762000" cy="19050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7" name="Text 4"/>
          <p:cNvSpPr/>
          <p:nvPr/>
        </p:nvSpPr>
        <p:spPr>
          <a:xfrm>
            <a:off x="7816636" y="6786563"/>
            <a:ext cx="2654728" cy="1047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200000"/>
              </a:lnSpc>
              <a:buNone/>
            </a:pPr>
            <a:r>
              <a:rPr lang="en-US" sz="1950" b="1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오하율 </a:t>
            </a:r>
            <a:pPr algn="ctr" indent="0" marL="0">
              <a:lnSpc>
                <a:spcPct val="200000"/>
              </a:lnSpc>
              <a:buNone/>
            </a:pPr>
            <a:r>
              <a:rPr lang="en-US" sz="1950" dirty="0">
                <a:solidFill>
                  <a:srgbClr val="9A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Ohayul.me@gmail.com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2026-04-28T08:27:58Z</dcterms:created>
  <dcterms:modified xsi:type="dcterms:W3CDTF">2026-04-28T08:27:58Z</dcterms:modified>
</cp:coreProperties>
</file>