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2" r:id="rId14"/>
    <p:sldId id="273" r:id="rId15"/>
    <p:sldId id="268" r:id="rId16"/>
    <p:sldId id="269" r:id="rId17"/>
    <p:sldId id="270" r:id="rId1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8197" autoAdjust="0"/>
  </p:normalViewPr>
  <p:slideViewPr>
    <p:cSldViewPr snapToGrid="0" snapToObjects="1">
      <p:cViewPr>
        <p:scale>
          <a:sx n="66" d="100"/>
          <a:sy n="66" d="100"/>
        </p:scale>
        <p:origin x="1014" y="-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3116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오하율입니다. 오늘 제가 혼자서 기획부터 개발까지 진행한 VARO 쇼핑몰 프로젝트를 소개해 드리겠습니다. </a:t>
            </a:r>
            <a:endParaRPr lang="en-US" dirty="0" smtClean="0"/>
          </a:p>
          <a:p>
            <a:r>
              <a:rPr lang="en-US" dirty="0" err="1" smtClean="0"/>
              <a:t>저는</a:t>
            </a:r>
            <a:r>
              <a:rPr lang="en-US" dirty="0" smtClean="0"/>
              <a:t> </a:t>
            </a:r>
            <a:r>
              <a:rPr lang="en-US" dirty="0"/>
              <a:t>비전공자로 개발을 시작했는데, 이 프로젝트를 통해 실제 쇼핑몰이 어떻게 만들어지는지 처음부터 끝까지 경험해 볼 수 있었습니다.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발표 순서입니다. 먼저 프로젝트가 뭔지 간단히 소개하고, 어떤 기술을 썼는지, 어떻게 설계했는지 말씀드릴게요. 그 다음에 주요 기능들을 하나씩 보여드리고, 실제 동작하는 화면도 시연해 드리겠습니다. 마지막으로 이 프로젝트를 하면서 느낀 점을 공유하겠습니다.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VARO는 남성 패션 쇼핑몰입니다. 그냥 상품을 보여주는 단순한 사이트가 아니라, 회원이 아닌 분도 주문할 수 있고, 관리자가 매출을 한눈에 볼 수 있는 관리 화면까지 갖춘 종합 쇼핑몰이에요. 총 12가지 핵심 기능을 정의하고, 그걸 모두 구현하는 걸 목표로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사용한 기술들입니다. 쉽게 말하면, 화면에 보이는 부분은 자바스크립트와 CSS로 직접 만들었고, 뒤에서 데이터를 처리하는 서버는 Node.js라는 걸 썼어요. 상품이나 회원 정보를 저장하는 데이터베이스는 MySQL을 사용했고, 엑셀 데이터를 자동으로 읽어오는 기능도 넣었습니다.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화면은 프로젝트를 시작하기 전에 어떤 기능이 필요한지 정리한 요구사항 정의서입니다. </a:t>
            </a:r>
            <a:endParaRPr lang="en-US" dirty="0" smtClean="0"/>
          </a:p>
          <a:p>
            <a:r>
              <a:rPr lang="en-US" dirty="0" err="1" smtClean="0"/>
              <a:t>회원가입</a:t>
            </a:r>
            <a:r>
              <a:rPr lang="en-US" dirty="0"/>
              <a:t>, 로그인, 상품 관리, 장바구니, 결제 같은 기능들을 하나하나 목록으로 만들고, 각각의 중요도를 매겨서 우선순위를 정했어요. </a:t>
            </a:r>
            <a:endParaRPr lang="en-US" dirty="0" smtClean="0"/>
          </a:p>
          <a:p>
            <a:r>
              <a:rPr lang="en-US" dirty="0" err="1" smtClean="0"/>
              <a:t>이렇게</a:t>
            </a:r>
            <a:r>
              <a:rPr lang="en-US" dirty="0" smtClean="0"/>
              <a:t> </a:t>
            </a:r>
            <a:r>
              <a:rPr lang="en-US" dirty="0"/>
              <a:t>미리 정리해두니까 개발할 때 빠뜨리는 기능 없이 체계적으로 진행할 수 있었습니다.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시스템 구조를 간단히 설명드리면, 3층짜리 건물이라고 생각하시면 돼요. </a:t>
            </a:r>
            <a:endParaRPr lang="en-US" dirty="0" smtClean="0"/>
          </a:p>
          <a:p>
            <a:r>
              <a:rPr lang="en-US" dirty="0" smtClean="0"/>
              <a:t>1</a:t>
            </a:r>
            <a:r>
              <a:rPr lang="en-US" dirty="0"/>
              <a:t>층은 사용자가 보는 화면, 2층은 데이터를 처리하는 서버, 3층은 정보를 저장하는 데이터베이스예요. </a:t>
            </a:r>
            <a:endParaRPr lang="en-US" dirty="0" smtClean="0"/>
          </a:p>
          <a:p>
            <a:r>
              <a:rPr lang="en-US" dirty="0" err="1" smtClean="0"/>
              <a:t>사용자가</a:t>
            </a:r>
            <a:r>
              <a:rPr lang="en-US" dirty="0" smtClean="0"/>
              <a:t> </a:t>
            </a:r>
            <a:r>
              <a:rPr lang="en-US" dirty="0"/>
              <a:t>상품을 클릭하면, 서버가 데이터베이스에서 정보를 가져와서 화면에 보여주는 방식입니다.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다이어그램은 쇼핑몰을 누가, 어떻게 사용하는지를 그림으로 정리한 거예요. </a:t>
            </a:r>
            <a:endParaRPr lang="en-US" dirty="0" smtClean="0"/>
          </a:p>
          <a:p>
            <a:r>
              <a:rPr lang="en-US" dirty="0" err="1" smtClean="0"/>
              <a:t>왼쪽에</a:t>
            </a:r>
            <a:r>
              <a:rPr lang="en-US" dirty="0" smtClean="0"/>
              <a:t> </a:t>
            </a:r>
            <a:r>
              <a:rPr lang="en-US" dirty="0"/>
              <a:t>비회원, 아래쪽에 회원, 오른쪽에 관리자가 있고, 각각 할 수 있는 기능이 다릅니다. </a:t>
            </a:r>
            <a:endParaRPr lang="en-US" dirty="0" smtClean="0"/>
          </a:p>
          <a:p>
            <a:r>
              <a:rPr lang="en-US" dirty="0" err="1" smtClean="0"/>
              <a:t>비회원은</a:t>
            </a:r>
            <a:r>
              <a:rPr lang="en-US" dirty="0" smtClean="0"/>
              <a:t> </a:t>
            </a:r>
            <a:r>
              <a:rPr lang="en-US" dirty="0"/>
              <a:t>상품 검색과 주문만 가능하고, 회원은 리뷰 작성이나 장바구니 같은 추가 기능을 쓸 수 있어요. </a:t>
            </a:r>
            <a:endParaRPr lang="en-US" dirty="0" smtClean="0"/>
          </a:p>
          <a:p>
            <a:r>
              <a:rPr lang="en-US" dirty="0" err="1" smtClean="0"/>
              <a:t>관리자는</a:t>
            </a:r>
            <a:r>
              <a:rPr lang="en-US" dirty="0" smtClean="0"/>
              <a:t> </a:t>
            </a:r>
            <a:r>
              <a:rPr lang="en-US" dirty="0"/>
              <a:t>매출 확인이나 상품 관리 같은 운영 기능을 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 다이어그램은 쉽게 말해서 데이터를 어떤 구조로 저장할지 설계한 도면이에요. 총 11개의 테이블, 그러니까 11개의 정보 저장 공간을 만들었어요. </a:t>
            </a:r>
            <a:endParaRPr lang="en-US" dirty="0" smtClean="0"/>
          </a:p>
          <a:p>
            <a:r>
              <a:rPr lang="en-US" dirty="0" err="1" smtClean="0"/>
              <a:t>예를</a:t>
            </a:r>
            <a:r>
              <a:rPr lang="en-US" dirty="0" smtClean="0"/>
              <a:t> </a:t>
            </a:r>
            <a:r>
              <a:rPr lang="en-US" dirty="0"/>
              <a:t>들어 회원 정보, 상품 정보, 주문 내역 등이 각각 따로 저장되고, 서로 연결되어 있어서 '누가 어떤 상품을 주문했는지' 같은 정보를 쉽게 찾을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 주요 기능은 로그인입니다. </a:t>
            </a:r>
            <a:endParaRPr lang="en-US" dirty="0" smtClean="0"/>
          </a:p>
          <a:p>
            <a:r>
              <a:rPr lang="en-US" dirty="0" err="1" smtClean="0"/>
              <a:t>직접</a:t>
            </a:r>
            <a:r>
              <a:rPr lang="en-US" dirty="0" smtClean="0"/>
              <a:t> </a:t>
            </a:r>
            <a:r>
              <a:rPr lang="en-US" dirty="0"/>
              <a:t>아이디와 비밀번호를 만들어서 가입할 수도 있고, 네이버, 카카오, 구글 같은 소셜 계정으로 간편하게 로그인할 수도 있어요. </a:t>
            </a:r>
            <a:endParaRPr lang="en-US" dirty="0" smtClean="0"/>
          </a:p>
          <a:p>
            <a:r>
              <a:rPr lang="en-US" dirty="0" err="1" smtClean="0"/>
              <a:t>보안을</a:t>
            </a:r>
            <a:r>
              <a:rPr lang="en-US" dirty="0" smtClean="0"/>
              <a:t> </a:t>
            </a:r>
            <a:r>
              <a:rPr lang="en-US" dirty="0"/>
              <a:t>위해서 JWT라는 방식으로 로그인 상태를 안전하게 관리하고 있습니다. </a:t>
            </a:r>
            <a:endParaRPr lang="en-US" dirty="0" smtClean="0"/>
          </a:p>
          <a:p>
            <a:r>
              <a:rPr lang="en-US" dirty="0" err="1" smtClean="0"/>
              <a:t>비밀번호는</a:t>
            </a:r>
            <a:r>
              <a:rPr lang="en-US" dirty="0" smtClean="0"/>
              <a:t> </a:t>
            </a:r>
            <a:r>
              <a:rPr lang="en-US" dirty="0"/>
              <a:t>암호화해서 저장하기 때문에 관리자도 볼 수 없어요.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번째는 쇼핑몰의 핵심인 상품 페이지예요. </a:t>
            </a:r>
            <a:endParaRPr lang="en-US" dirty="0" smtClean="0"/>
          </a:p>
          <a:p>
            <a:r>
              <a:rPr lang="en-US" dirty="0" err="1" smtClean="0"/>
              <a:t>화면에서</a:t>
            </a:r>
            <a:r>
              <a:rPr lang="en-US" dirty="0" smtClean="0"/>
              <a:t> </a:t>
            </a:r>
            <a:r>
              <a:rPr lang="en-US" dirty="0"/>
              <a:t>보시는 것처럼 주간 베스트 상품을 카테고리별로 보여주고, BEST, NEW, HOT, SALE 같은 배지를 달아서 한눈에 인기 상품을 알 수 있게 했어요. </a:t>
            </a:r>
            <a:endParaRPr lang="en-US" dirty="0" smtClean="0"/>
          </a:p>
          <a:p>
            <a:r>
              <a:rPr lang="en-US" dirty="0" err="1" smtClean="0"/>
              <a:t>상품</a:t>
            </a:r>
            <a:r>
              <a:rPr lang="en-US" dirty="0" smtClean="0"/>
              <a:t> </a:t>
            </a:r>
            <a:r>
              <a:rPr lang="en-US" dirty="0"/>
              <a:t>이미지에 마우스를 올리면 다른 각도의 사진도 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번째는 장바구니와 결제 시스템이에요. </a:t>
            </a:r>
            <a:endParaRPr lang="en-US" dirty="0" smtClean="0"/>
          </a:p>
          <a:p>
            <a:r>
              <a:rPr lang="en-US" dirty="0" err="1" smtClean="0"/>
              <a:t>재미있는</a:t>
            </a:r>
            <a:r>
              <a:rPr lang="en-US" dirty="0" smtClean="0"/>
              <a:t> </a:t>
            </a:r>
            <a:r>
              <a:rPr lang="en-US" dirty="0"/>
              <a:t>건, 로그인 안 한 상태에서 장바구니에 담아놓은 상품이 나중에 로그인하면 자동으로 합쳐진다는 거예요. </a:t>
            </a:r>
            <a:endParaRPr lang="en-US" dirty="0" smtClean="0"/>
          </a:p>
          <a:p>
            <a:r>
              <a:rPr lang="en-US" dirty="0" err="1" smtClean="0"/>
              <a:t>그래서</a:t>
            </a:r>
            <a:r>
              <a:rPr lang="en-US" dirty="0" smtClean="0"/>
              <a:t> </a:t>
            </a:r>
            <a:r>
              <a:rPr lang="en-US" dirty="0"/>
              <a:t>상품이 사라지는 일이 없어요. </a:t>
            </a:r>
            <a:endParaRPr lang="en-US" dirty="0" smtClean="0"/>
          </a:p>
          <a:p>
            <a:r>
              <a:rPr lang="en-US" dirty="0" err="1" smtClean="0"/>
              <a:t>결제는</a:t>
            </a:r>
            <a:r>
              <a:rPr lang="en-US" dirty="0" smtClean="0"/>
              <a:t> </a:t>
            </a:r>
            <a:r>
              <a:rPr lang="en-US" dirty="0"/>
              <a:t>토스페이먼츠를 연동해서 카카오페이, 신용카드 등 다양한 방법으로 결제할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번째는 관리자 화면입니다. 관리자로 로그인하면 상품을 추가하거나 수정할 수 있고, 메인 배너 이미지도 바꿀 수 있어요. </a:t>
            </a:r>
            <a:endParaRPr lang="en-US" dirty="0" smtClean="0"/>
          </a:p>
          <a:p>
            <a:r>
              <a:rPr lang="en-US" dirty="0" smtClean="0"/>
              <a:t>FAQ(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자주 하는 질문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dirty="0" smtClean="0"/>
              <a:t>나 </a:t>
            </a:r>
            <a:r>
              <a:rPr lang="en-US" dirty="0"/>
              <a:t>공지사항 같은 커뮤니티 게시판도 관리할 수 있습니다. </a:t>
            </a:r>
            <a:endParaRPr lang="en-US" dirty="0" smtClean="0"/>
          </a:p>
          <a:p>
            <a:r>
              <a:rPr lang="en-US" dirty="0" err="1" smtClean="0"/>
              <a:t>드래그해서</a:t>
            </a:r>
            <a:r>
              <a:rPr lang="en-US" dirty="0" smtClean="0"/>
              <a:t> </a:t>
            </a:r>
            <a:r>
              <a:rPr lang="en-US" dirty="0"/>
              <a:t>배너 순서를 바꾸거나, 상품에 NEW, HOT 같은 배지를 붙이는 것도 가능해요.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13628-8931-511C-6E03-347240096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CD59D9-AD5C-2DE8-9B94-C4E8D91969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C2E6E2-001D-BA70-9674-A1FACC8EF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번째는 관리자 화면입니다. 관리자로 로그인하면 상품을 추가하거나 수정할 수 있고, 메인 배너 이미지도 바꿀 수 있어요. </a:t>
            </a:r>
            <a:endParaRPr lang="en-US" dirty="0" smtClean="0"/>
          </a:p>
          <a:p>
            <a:r>
              <a:rPr lang="en-US" dirty="0" smtClean="0"/>
              <a:t>FAQ(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자주 하는 질문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dirty="0" smtClean="0"/>
              <a:t>나 </a:t>
            </a:r>
            <a:r>
              <a:rPr lang="en-US" dirty="0"/>
              <a:t>공지사항 같은 커뮤니티 게시판도 관리할 수 있습니다. </a:t>
            </a:r>
            <a:endParaRPr lang="en-US" dirty="0" smtClean="0"/>
          </a:p>
          <a:p>
            <a:r>
              <a:rPr lang="en-US" dirty="0" err="1" smtClean="0"/>
              <a:t>드래그해서</a:t>
            </a:r>
            <a:r>
              <a:rPr lang="en-US" dirty="0" smtClean="0"/>
              <a:t> </a:t>
            </a:r>
            <a:r>
              <a:rPr lang="en-US" dirty="0"/>
              <a:t>배너 순서를 바꾸거나, 상품에 NEW, HOT 같은 배지를 붙이는 것도 가능해요.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18D74-7ED1-279A-F513-20AEC7C7B8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6136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968D5-5135-6F11-38B3-824F05DE5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E188CA-3AD0-ABA1-A1D4-9042D51B1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318B1B-BB58-12C3-5AEB-02FA551FA4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번째는 관리자 화면입니다. 관리자로 로그인하면 상품을 추가하거나 수정할 수 있고, 메인 배너 이미지도 바꿀 수 있어요. </a:t>
            </a:r>
            <a:endParaRPr lang="en-US" dirty="0" smtClean="0"/>
          </a:p>
          <a:p>
            <a:r>
              <a:rPr lang="en-US" dirty="0" smtClean="0"/>
              <a:t>FAQ(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자주 하는 질문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dirty="0" smtClean="0"/>
              <a:t>나 </a:t>
            </a:r>
            <a:r>
              <a:rPr lang="en-US" dirty="0"/>
              <a:t>공지사항 같은 커뮤니티 게시판도 관리할 수 있습니다. </a:t>
            </a:r>
            <a:endParaRPr lang="en-US" dirty="0" smtClean="0"/>
          </a:p>
          <a:p>
            <a:r>
              <a:rPr lang="en-US" dirty="0" err="1" smtClean="0"/>
              <a:t>드래그해서</a:t>
            </a:r>
            <a:r>
              <a:rPr lang="en-US" dirty="0" smtClean="0"/>
              <a:t> </a:t>
            </a:r>
            <a:r>
              <a:rPr lang="en-US" dirty="0"/>
              <a:t>배너 순서를 바꾸거나, 상품에 NEW, HOT 같은 배지를 붙이는 것도 가능해요.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7891F5-BC28-7722-D9DC-0A2366AE5F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7285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이제 실제 VARO 쇼핑몰을 라이브로 보여드리겠습니다. </a:t>
            </a:r>
            <a:endParaRPr lang="en-US" dirty="0" smtClean="0"/>
          </a:p>
          <a:p>
            <a:r>
              <a:rPr lang="en-US" dirty="0" err="1" smtClean="0"/>
              <a:t>메인</a:t>
            </a:r>
            <a:r>
              <a:rPr lang="en-US" dirty="0" smtClean="0"/>
              <a:t> </a:t>
            </a:r>
            <a:r>
              <a:rPr lang="en-US" dirty="0"/>
              <a:t>페이지부터 상품 검색, 장바구니, 결제, 그리고 관리자 화면까지 순서대로 시연하겠습니다.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프로젝트를 마치며 느낀 점입니다. 쇼핑몰을 이용만 해봤지, 직접 만들어보니 정말 많은 요소가 필요하다는 걸 </a:t>
            </a:r>
            <a:r>
              <a:rPr lang="en-US" dirty="0" err="1" smtClean="0"/>
              <a:t>알게</a:t>
            </a:r>
            <a:r>
              <a:rPr lang="ko-KR" altLang="en-US" dirty="0" smtClean="0"/>
              <a:t>되었습니다</a:t>
            </a:r>
            <a:r>
              <a:rPr lang="en-US" dirty="0" smtClean="0"/>
              <a:t>. </a:t>
            </a:r>
          </a:p>
          <a:p>
            <a:r>
              <a:rPr lang="en-US" dirty="0" err="1" smtClean="0"/>
              <a:t>시간</a:t>
            </a:r>
            <a:r>
              <a:rPr lang="en-US" dirty="0" smtClean="0"/>
              <a:t> </a:t>
            </a:r>
            <a:r>
              <a:rPr lang="en-US" dirty="0"/>
              <a:t>관리를 좀 더 잘했으면 좋았을 것 같고, 테스트를 더 꼼꼼하게 했어야 했다는 반성도 있습니다. </a:t>
            </a:r>
            <a:endParaRPr lang="en-US" dirty="0" smtClean="0"/>
          </a:p>
          <a:p>
            <a:r>
              <a:rPr lang="en-US" dirty="0" err="1" smtClean="0"/>
              <a:t>하지만</a:t>
            </a:r>
            <a:r>
              <a:rPr lang="en-US" dirty="0" smtClean="0"/>
              <a:t> </a:t>
            </a:r>
            <a:r>
              <a:rPr lang="en-US" dirty="0"/>
              <a:t>처음부터 끝까지 혼자 만들어본 경험은 정말 </a:t>
            </a:r>
            <a:r>
              <a:rPr lang="en-US" dirty="0" err="1"/>
              <a:t>값지다고</a:t>
            </a:r>
            <a:r>
              <a:rPr lang="en-US" dirty="0"/>
              <a:t> </a:t>
            </a:r>
            <a:r>
              <a:rPr lang="en-US" dirty="0" err="1" smtClean="0"/>
              <a:t>생각</a:t>
            </a:r>
            <a:r>
              <a:rPr lang="ko-KR" altLang="en-US" dirty="0" smtClean="0"/>
              <a:t>합니다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이상으로 VARO 쇼핑몰 발표를 마칩니다. 궁금하신 점이 있으시면 편하게 질문해 주세요.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4478000" y="-1151230"/>
            <a:ext cx="4762500" cy="4762500"/>
          </a:xfrm>
          <a:prstGeom prst="ellipse">
            <a:avLst/>
          </a:prstGeom>
          <a:solidFill>
            <a:srgbClr val="E8C9A8">
              <a:alpha val="3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571500" y="7703291"/>
            <a:ext cx="3333750" cy="3333749"/>
          </a:xfrm>
          <a:prstGeom prst="ellipse">
            <a:avLst/>
          </a:prstGeom>
          <a:solidFill>
            <a:srgbClr val="E8C9A8">
              <a:alpha val="2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828800" y="5107747"/>
            <a:ext cx="1905000" cy="1905000"/>
          </a:xfrm>
          <a:prstGeom prst="ellipse">
            <a:avLst/>
          </a:prstGeom>
          <a:solidFill>
            <a:srgbClr val="E8C9A8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100" y="2691507"/>
            <a:ext cx="685800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0649" y="3638550"/>
            <a:ext cx="4267023" cy="169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9750" b="1" kern="0" spc="1050" dirty="0">
                <a:solidFill>
                  <a:srgbClr val="5C4A33"/>
                </a:solidFill>
                <a:latin typeface="Colonna MT" panose="04020805060202030203" pitchFamily="82" charset="0"/>
                <a:ea typeface="Arial" pitchFamily="34" charset="-122"/>
                <a:cs typeface="Arial" pitchFamily="34" charset="-120"/>
              </a:rPr>
              <a:t>VARO</a:t>
            </a:r>
            <a:endParaRPr lang="en-US" sz="9750" dirty="0">
              <a:latin typeface="Colonna MT" panose="04020805060202030203" pitchFamily="82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7130650" y="5295900"/>
            <a:ext cx="40267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kern="0" spc="60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SHOPPING MALL</a:t>
            </a:r>
            <a:endParaRPr lang="en-US" sz="2250" dirty="0"/>
          </a:p>
        </p:txBody>
      </p:sp>
      <p:sp>
        <p:nvSpPr>
          <p:cNvPr id="9" name="Shape 6"/>
          <p:cNvSpPr/>
          <p:nvPr/>
        </p:nvSpPr>
        <p:spPr>
          <a:xfrm>
            <a:off x="8763000" y="6172200"/>
            <a:ext cx="762000" cy="19050"/>
          </a:xfrm>
          <a:prstGeom prst="rect">
            <a:avLst/>
          </a:prstGeom>
          <a:solidFill>
            <a:srgbClr val="C8956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130650" y="6572250"/>
            <a:ext cx="4026700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195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발표자 : 오하율 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sz="195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2026. 04. 30</a:t>
            </a:r>
            <a:endParaRPr lang="en-US" sz="19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847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5C4A33"/>
                </a:solidFill>
                <a:latin typeface="Algerian" panose="04020705040A02060702" pitchFamily="82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4800" dirty="0">
              <a:latin typeface="Algerian" panose="04020705040A02060702" pitchFamily="8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52500" y="3805237"/>
            <a:ext cx="3895725" cy="1952625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/>
          <a:effectLst>
            <a:outerShdw blurRad="1905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208008" y="4186238"/>
            <a:ext cx="3384709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900" b="1" dirty="0">
                <a:solidFill>
                  <a:srgbClr val="C895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1208008" y="4995863"/>
            <a:ext cx="338470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114925" y="3805237"/>
            <a:ext cx="3895725" cy="1952625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/>
          <a:effectLst>
            <a:outerShdw blurRad="1905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370433" y="4186238"/>
            <a:ext cx="3384709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900" b="1" dirty="0">
                <a:solidFill>
                  <a:srgbClr val="C895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5370433" y="4995863"/>
            <a:ext cx="338470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스택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277350" y="3805237"/>
            <a:ext cx="3895725" cy="1952625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/>
          <a:effectLst>
            <a:outerShdw blurRad="1905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532858" y="4186238"/>
            <a:ext cx="3384709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900" b="1" dirty="0">
                <a:solidFill>
                  <a:srgbClr val="C895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9532858" y="4995863"/>
            <a:ext cx="338470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설계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3439775" y="3805237"/>
            <a:ext cx="3895725" cy="1952625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/>
          <a:effectLst>
            <a:outerShdw blurRad="1905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3695283" y="4186238"/>
            <a:ext cx="3384709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900" b="1" dirty="0">
                <a:solidFill>
                  <a:srgbClr val="C895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3695283" y="4995863"/>
            <a:ext cx="338470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기능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52500" y="6024563"/>
            <a:ext cx="3895725" cy="1952625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/>
          <a:effectLst>
            <a:outerShdw blurRad="1905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208008" y="6405563"/>
            <a:ext cx="3384709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900" b="1" dirty="0">
                <a:solidFill>
                  <a:srgbClr val="C895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1208008" y="7215188"/>
            <a:ext cx="338470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유스케이스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5114925" y="6024563"/>
            <a:ext cx="3895725" cy="1952625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/>
          <a:effectLst>
            <a:outerShdw blurRad="1905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370433" y="6405563"/>
            <a:ext cx="3384709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900" b="1" dirty="0">
                <a:solidFill>
                  <a:srgbClr val="C895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5370433" y="7215188"/>
            <a:ext cx="338470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시연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277350" y="6024563"/>
            <a:ext cx="3895725" cy="1952625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/>
          <a:effectLst>
            <a:outerShdw blurRad="1905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9532858" y="6405563"/>
            <a:ext cx="3384709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900" b="1" dirty="0">
                <a:solidFill>
                  <a:srgbClr val="C895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900" dirty="0"/>
          </a:p>
        </p:txBody>
      </p:sp>
      <p:sp>
        <p:nvSpPr>
          <p:cNvPr id="23" name="Text 21"/>
          <p:cNvSpPr/>
          <p:nvPr/>
        </p:nvSpPr>
        <p:spPr>
          <a:xfrm>
            <a:off x="9532858" y="7215188"/>
            <a:ext cx="338470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소감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3439775" y="6024563"/>
            <a:ext cx="3895725" cy="1952625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/>
          <a:effectLst>
            <a:outerShdw blurRad="1905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13695283" y="6405563"/>
            <a:ext cx="3384709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3900" b="1" dirty="0">
                <a:solidFill>
                  <a:srgbClr val="C895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900" dirty="0"/>
          </a:p>
        </p:txBody>
      </p:sp>
      <p:sp>
        <p:nvSpPr>
          <p:cNvPr id="26" name="Text 24"/>
          <p:cNvSpPr/>
          <p:nvPr/>
        </p:nvSpPr>
        <p:spPr>
          <a:xfrm>
            <a:off x="13695283" y="7215188"/>
            <a:ext cx="338470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</a:t>
            </a:r>
            <a:endParaRPr lang="en-US" sz="2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952500" y="2324100"/>
            <a:ext cx="5257800" cy="7200900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/>
          <a:effectLst>
            <a:outerShdw blurRad="228600" dist="3810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3162300" y="4630033"/>
            <a:ext cx="838200" cy="838200"/>
          </a:xfrm>
          <a:prstGeom prst="roundRect">
            <a:avLst>
              <a:gd name="adj" fmla="val 22727"/>
            </a:avLst>
          </a:prstGeom>
          <a:solidFill>
            <a:srgbClr val="F3EDE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1850" y="4839583"/>
            <a:ext cx="419100" cy="419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98414" y="5683597"/>
            <a:ext cx="1674973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2293144" y="6340822"/>
            <a:ext cx="2576513" cy="89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21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VARO Shopping Mall </a:t>
            </a:r>
            <a:r>
              <a:rPr lang="en-US" sz="180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남성 패션 종합 쇼핑몰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515100" y="2324100"/>
            <a:ext cx="5257800" cy="7200900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/>
          <a:effectLst>
            <a:outerShdw blurRad="228600" dist="3810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724900" y="4648897"/>
            <a:ext cx="838200" cy="838200"/>
          </a:xfrm>
          <a:prstGeom prst="roundRect">
            <a:avLst>
              <a:gd name="adj" fmla="val 22727"/>
            </a:avLst>
          </a:prstGeom>
          <a:solidFill>
            <a:srgbClr val="F3EDE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4450" y="4858447"/>
            <a:ext cx="419100" cy="4191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464600" y="5683597"/>
            <a:ext cx="1495188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목표</a:t>
            </a:r>
            <a:endParaRPr lang="en-US" sz="2550" dirty="0"/>
          </a:p>
        </p:txBody>
      </p:sp>
      <p:sp>
        <p:nvSpPr>
          <p:cNvPr id="12" name="Text 8"/>
          <p:cNvSpPr/>
          <p:nvPr/>
        </p:nvSpPr>
        <p:spPr>
          <a:xfrm>
            <a:off x="7524920" y="6340822"/>
            <a:ext cx="3238161" cy="89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21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회원 · 비회원 · </a:t>
            </a:r>
            <a:r>
              <a:rPr lang="en-US" sz="2100" dirty="0" err="1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관리자</a:t>
            </a:r>
            <a:r>
              <a:rPr lang="en-US" sz="21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br>
              <a:rPr lang="en-US" sz="21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21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3가지 역할의 통합 쇼핑 경험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12077700" y="2324100"/>
            <a:ext cx="5257800" cy="7200900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/>
          <a:effectLst>
            <a:outerShdw blurRad="228600" dist="3810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grpSp>
        <p:nvGrpSpPr>
          <p:cNvPr id="19" name="그룹 18"/>
          <p:cNvGrpSpPr/>
          <p:nvPr/>
        </p:nvGrpSpPr>
        <p:grpSpPr>
          <a:xfrm>
            <a:off x="14287500" y="4533007"/>
            <a:ext cx="838200" cy="838200"/>
            <a:chOff x="14287500" y="4533007"/>
            <a:chExt cx="838200" cy="838200"/>
          </a:xfrm>
        </p:grpSpPr>
        <p:sp>
          <p:nvSpPr>
            <p:cNvPr id="14" name="Shape 10"/>
            <p:cNvSpPr/>
            <p:nvPr/>
          </p:nvSpPr>
          <p:spPr>
            <a:xfrm>
              <a:off x="14287500" y="4533007"/>
              <a:ext cx="838200" cy="838200"/>
            </a:xfrm>
            <a:prstGeom prst="roundRect">
              <a:avLst>
                <a:gd name="adj" fmla="val 22727"/>
              </a:avLst>
            </a:prstGeom>
            <a:solidFill>
              <a:srgbClr val="F3EDE4"/>
            </a:solidFill>
            <a:ln/>
            <a:effectLst>
              <a:outerShdw blurRad="101600" dist="50800" dir="16200000" algn="bl" rotWithShape="0">
                <a:srgbClr val="C8956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497050" y="4742557"/>
              <a:ext cx="419100" cy="419100"/>
            </a:xfrm>
            <a:prstGeom prst="rect">
              <a:avLst/>
            </a:prstGeom>
          </p:spPr>
        </p:pic>
      </p:grpSp>
      <p:sp>
        <p:nvSpPr>
          <p:cNvPr id="16" name="Text 11"/>
          <p:cNvSpPr/>
          <p:nvPr/>
        </p:nvSpPr>
        <p:spPr>
          <a:xfrm>
            <a:off x="13878223" y="5561707"/>
            <a:ext cx="182493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 충족률</a:t>
            </a:r>
            <a:endParaRPr lang="en-US" sz="2550" dirty="0"/>
          </a:p>
        </p:txBody>
      </p:sp>
      <p:sp>
        <p:nvSpPr>
          <p:cNvPr id="17" name="Text 12"/>
          <p:cNvSpPr/>
          <p:nvPr/>
        </p:nvSpPr>
        <p:spPr>
          <a:xfrm>
            <a:off x="14043720" y="6218932"/>
            <a:ext cx="1325761" cy="7695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3600" b="1" dirty="0">
                <a:solidFill>
                  <a:srgbClr val="C895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600" dirty="0"/>
          </a:p>
        </p:txBody>
      </p:sp>
      <p:sp>
        <p:nvSpPr>
          <p:cNvPr id="18" name="Text 13"/>
          <p:cNvSpPr/>
          <p:nvPr/>
        </p:nvSpPr>
        <p:spPr>
          <a:xfrm>
            <a:off x="13709898" y="6950422"/>
            <a:ext cx="2139702" cy="4037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1800" dirty="0" smtClean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15개 </a:t>
            </a:r>
            <a:r>
              <a:rPr lang="en-US" sz="18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기능 완성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3ED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52500" y="952500"/>
            <a:ext cx="1687449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스택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52500" y="3190875"/>
            <a:ext cx="3895725" cy="2600325"/>
          </a:xfrm>
          <a:prstGeom prst="roundRect">
            <a:avLst>
              <a:gd name="adj" fmla="val 5861"/>
            </a:avLst>
          </a:prstGeom>
          <a:solidFill>
            <a:srgbClr val="FFFFFF"/>
          </a:solidFill>
          <a:ln/>
          <a:effectLst>
            <a:outerShdw blurRad="1524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97000"/>
          </a:blip>
          <a:stretch>
            <a:fillRect/>
          </a:stretch>
        </p:blipFill>
        <p:spPr>
          <a:xfrm>
            <a:off x="2670705" y="3532718"/>
            <a:ext cx="459315" cy="45931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68765" y="4162425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168765" y="4591050"/>
            <a:ext cx="3463195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</a:t>
            </a:r>
            <a:endParaRPr lang="en-US" sz="2550" dirty="0"/>
          </a:p>
        </p:txBody>
      </p:sp>
      <p:sp>
        <p:nvSpPr>
          <p:cNvPr id="8" name="Text 5"/>
          <p:cNvSpPr/>
          <p:nvPr/>
        </p:nvSpPr>
        <p:spPr>
          <a:xfrm>
            <a:off x="1168765" y="5114925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서버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114925" y="3190875"/>
            <a:ext cx="3895725" cy="2600325"/>
          </a:xfrm>
          <a:prstGeom prst="roundRect">
            <a:avLst>
              <a:gd name="adj" fmla="val 5861"/>
            </a:avLst>
          </a:prstGeom>
          <a:solidFill>
            <a:srgbClr val="FFFFFF"/>
          </a:solidFill>
          <a:ln/>
          <a:effectLst>
            <a:outerShdw blurRad="1524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>
            <a:alphaModFix amt="91000"/>
          </a:blip>
          <a:stretch>
            <a:fillRect/>
          </a:stretch>
        </p:blipFill>
        <p:spPr>
          <a:xfrm>
            <a:off x="6830885" y="3530472"/>
            <a:ext cx="463805" cy="46380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31190" y="4162425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ORM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5331190" y="4591050"/>
            <a:ext cx="3463195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Sequelize</a:t>
            </a:r>
            <a:endParaRPr lang="en-US" sz="2550" dirty="0"/>
          </a:p>
        </p:txBody>
      </p:sp>
      <p:sp>
        <p:nvSpPr>
          <p:cNvPr id="13" name="Text 9"/>
          <p:cNvSpPr/>
          <p:nvPr/>
        </p:nvSpPr>
        <p:spPr>
          <a:xfrm>
            <a:off x="5331190" y="5114925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연결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9277350" y="3190875"/>
            <a:ext cx="3895725" cy="2600325"/>
          </a:xfrm>
          <a:prstGeom prst="roundRect">
            <a:avLst>
              <a:gd name="adj" fmla="val 5861"/>
            </a:avLst>
          </a:prstGeom>
          <a:solidFill>
            <a:srgbClr val="FFFFFF"/>
          </a:solidFill>
          <a:ln/>
          <a:effectLst>
            <a:outerShdw blurRad="1524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>
            <a:alphaModFix amt="83000"/>
          </a:blip>
          <a:stretch>
            <a:fillRect/>
          </a:stretch>
        </p:blipFill>
        <p:spPr>
          <a:xfrm>
            <a:off x="10990259" y="3527421"/>
            <a:ext cx="469906" cy="46990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493615" y="4162425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9493615" y="4591050"/>
            <a:ext cx="3463195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  <a:endParaRPr lang="en-US" sz="2550" dirty="0"/>
          </a:p>
        </p:txBody>
      </p:sp>
      <p:sp>
        <p:nvSpPr>
          <p:cNvPr id="18" name="Text 13"/>
          <p:cNvSpPr/>
          <p:nvPr/>
        </p:nvSpPr>
        <p:spPr>
          <a:xfrm>
            <a:off x="9493615" y="5114925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11개 테이블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13439775" y="3190875"/>
            <a:ext cx="3895725" cy="2600325"/>
          </a:xfrm>
          <a:prstGeom prst="roundRect">
            <a:avLst>
              <a:gd name="adj" fmla="val 5861"/>
            </a:avLst>
          </a:prstGeom>
          <a:solidFill>
            <a:srgbClr val="FFFFFF"/>
          </a:solidFill>
          <a:ln/>
          <a:effectLst>
            <a:outerShdw blurRad="1524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>
            <a:alphaModFix amt="76000"/>
          </a:blip>
          <a:stretch>
            <a:fillRect/>
          </a:stretch>
        </p:blipFill>
        <p:spPr>
          <a:xfrm>
            <a:off x="15149859" y="3524597"/>
            <a:ext cx="475557" cy="4755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3656040" y="4162425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13656040" y="4591050"/>
            <a:ext cx="3463195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Vanilla JS</a:t>
            </a:r>
            <a:endParaRPr lang="en-US" sz="2550" dirty="0"/>
          </a:p>
        </p:txBody>
      </p:sp>
      <p:sp>
        <p:nvSpPr>
          <p:cNvPr id="23" name="Text 17"/>
          <p:cNvSpPr/>
          <p:nvPr/>
        </p:nvSpPr>
        <p:spPr>
          <a:xfrm>
            <a:off x="13656040" y="5114925"/>
            <a:ext cx="346319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CSS3 · SVG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952500" y="6057900"/>
            <a:ext cx="3895725" cy="2600325"/>
          </a:xfrm>
          <a:prstGeom prst="roundRect">
            <a:avLst>
              <a:gd name="adj" fmla="val 5861"/>
            </a:avLst>
          </a:prstGeom>
          <a:solidFill>
            <a:srgbClr val="FFFFFF"/>
          </a:solidFill>
          <a:ln/>
          <a:effectLst>
            <a:outerShdw blurRad="1524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>
            <a:alphaModFix amt="97000"/>
          </a:blip>
          <a:stretch>
            <a:fillRect/>
          </a:stretch>
        </p:blipFill>
        <p:spPr>
          <a:xfrm>
            <a:off x="2670705" y="6399743"/>
            <a:ext cx="459315" cy="459315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168765" y="7029450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800" dirty="0"/>
          </a:p>
        </p:txBody>
      </p:sp>
      <p:sp>
        <p:nvSpPr>
          <p:cNvPr id="27" name="Text 20"/>
          <p:cNvSpPr/>
          <p:nvPr/>
        </p:nvSpPr>
        <p:spPr>
          <a:xfrm>
            <a:off x="1168765" y="7458075"/>
            <a:ext cx="3463195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ExcelJS</a:t>
            </a:r>
            <a:endParaRPr lang="en-US" sz="2550" dirty="0"/>
          </a:p>
        </p:txBody>
      </p:sp>
      <p:sp>
        <p:nvSpPr>
          <p:cNvPr id="28" name="Text 21"/>
          <p:cNvSpPr/>
          <p:nvPr/>
        </p:nvSpPr>
        <p:spPr>
          <a:xfrm>
            <a:off x="1168765" y="7981950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파이프라인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5114925" y="6057900"/>
            <a:ext cx="3895725" cy="2600325"/>
          </a:xfrm>
          <a:prstGeom prst="roundRect">
            <a:avLst>
              <a:gd name="adj" fmla="val 5861"/>
            </a:avLst>
          </a:prstGeom>
          <a:solidFill>
            <a:srgbClr val="FFFFFF"/>
          </a:solidFill>
          <a:ln/>
          <a:effectLst>
            <a:outerShdw blurRad="1524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>
            <a:alphaModFix amt="91000"/>
          </a:blip>
          <a:stretch>
            <a:fillRect/>
          </a:stretch>
        </p:blipFill>
        <p:spPr>
          <a:xfrm>
            <a:off x="6830885" y="6397497"/>
            <a:ext cx="463805" cy="463805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5331190" y="7029450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1800" dirty="0"/>
          </a:p>
        </p:txBody>
      </p:sp>
      <p:sp>
        <p:nvSpPr>
          <p:cNvPr id="32" name="Text 24"/>
          <p:cNvSpPr/>
          <p:nvPr/>
        </p:nvSpPr>
        <p:spPr>
          <a:xfrm>
            <a:off x="5331190" y="7458075"/>
            <a:ext cx="3463195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</a:t>
            </a:r>
            <a:endParaRPr lang="en-US" sz="2550" dirty="0"/>
          </a:p>
        </p:txBody>
      </p:sp>
      <p:sp>
        <p:nvSpPr>
          <p:cNvPr id="33" name="Text 25"/>
          <p:cNvSpPr/>
          <p:nvPr/>
        </p:nvSpPr>
        <p:spPr>
          <a:xfrm>
            <a:off x="5331190" y="7981950"/>
            <a:ext cx="346319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</a:t>
            </a:r>
            <a:endParaRPr lang="en-US" sz="1800" dirty="0"/>
          </a:p>
        </p:txBody>
      </p:sp>
      <p:sp>
        <p:nvSpPr>
          <p:cNvPr id="34" name="Shape 26"/>
          <p:cNvSpPr/>
          <p:nvPr/>
        </p:nvSpPr>
        <p:spPr>
          <a:xfrm>
            <a:off x="9277350" y="6057900"/>
            <a:ext cx="3895725" cy="2600325"/>
          </a:xfrm>
          <a:prstGeom prst="roundRect">
            <a:avLst>
              <a:gd name="adj" fmla="val 5861"/>
            </a:avLst>
          </a:prstGeom>
          <a:solidFill>
            <a:srgbClr val="FFFFFF"/>
          </a:solidFill>
          <a:ln/>
          <a:effectLst>
            <a:outerShdw blurRad="1524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>
            <a:alphaModFix amt="83000"/>
          </a:blip>
          <a:stretch>
            <a:fillRect/>
          </a:stretch>
        </p:blipFill>
        <p:spPr>
          <a:xfrm>
            <a:off x="10990259" y="6394446"/>
            <a:ext cx="469906" cy="469907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9493615" y="7029450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</a:t>
            </a:r>
            <a:endParaRPr lang="en-US" sz="1800" dirty="0"/>
          </a:p>
        </p:txBody>
      </p:sp>
      <p:sp>
        <p:nvSpPr>
          <p:cNvPr id="37" name="Text 28"/>
          <p:cNvSpPr/>
          <p:nvPr/>
        </p:nvSpPr>
        <p:spPr>
          <a:xfrm>
            <a:off x="9493615" y="7458075"/>
            <a:ext cx="3463195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PlantUML</a:t>
            </a:r>
            <a:endParaRPr lang="en-US" sz="2550" dirty="0"/>
          </a:p>
        </p:txBody>
      </p:sp>
      <p:sp>
        <p:nvSpPr>
          <p:cNvPr id="38" name="Text 29"/>
          <p:cNvSpPr/>
          <p:nvPr/>
        </p:nvSpPr>
        <p:spPr>
          <a:xfrm>
            <a:off x="9493615" y="7981950"/>
            <a:ext cx="346319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Mermaid.js</a:t>
            </a:r>
            <a:endParaRPr lang="en-US" sz="1800" dirty="0"/>
          </a:p>
        </p:txBody>
      </p:sp>
      <p:sp>
        <p:nvSpPr>
          <p:cNvPr id="39" name="Shape 30"/>
          <p:cNvSpPr/>
          <p:nvPr/>
        </p:nvSpPr>
        <p:spPr>
          <a:xfrm>
            <a:off x="13439775" y="6057900"/>
            <a:ext cx="3895725" cy="2600325"/>
          </a:xfrm>
          <a:prstGeom prst="roundRect">
            <a:avLst>
              <a:gd name="adj" fmla="val 5861"/>
            </a:avLst>
          </a:prstGeom>
          <a:solidFill>
            <a:srgbClr val="FFFFFF"/>
          </a:solidFill>
          <a:ln/>
          <a:effectLst>
            <a:outerShdw blurRad="152400" dist="1905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10">
            <a:alphaModFix amt="76000"/>
          </a:blip>
          <a:stretch>
            <a:fillRect/>
          </a:stretch>
        </p:blipFill>
        <p:spPr>
          <a:xfrm>
            <a:off x="15149859" y="6391622"/>
            <a:ext cx="475557" cy="475556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13656040" y="7029450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800" dirty="0"/>
          </a:p>
        </p:txBody>
      </p:sp>
      <p:sp>
        <p:nvSpPr>
          <p:cNvPr id="42" name="Text 32"/>
          <p:cNvSpPr/>
          <p:nvPr/>
        </p:nvSpPr>
        <p:spPr>
          <a:xfrm>
            <a:off x="13656040" y="7458075"/>
            <a:ext cx="3463195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Glassmorphism</a:t>
            </a:r>
            <a:endParaRPr lang="en-US" sz="2550" dirty="0"/>
          </a:p>
        </p:txBody>
      </p:sp>
      <p:sp>
        <p:nvSpPr>
          <p:cNvPr id="43" name="Text 33"/>
          <p:cNvSpPr/>
          <p:nvPr/>
        </p:nvSpPr>
        <p:spPr>
          <a:xfrm>
            <a:off x="13656040" y="7981950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라이트 모드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정의서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52500" y="2324100"/>
            <a:ext cx="1687449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 err="1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</a:t>
            </a:r>
            <a:r>
              <a:rPr lang="en-US" sz="25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550" dirty="0" err="1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</a:t>
            </a:r>
            <a:r>
              <a:rPr lang="en-US" sz="25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550" dirty="0" err="1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2671763" y="4352925"/>
            <a:ext cx="12944475" cy="3876675"/>
          </a:xfrm>
          <a:prstGeom prst="roundRect">
            <a:avLst>
              <a:gd name="adj" fmla="val 3931"/>
            </a:avLst>
          </a:prstGeom>
          <a:ln/>
          <a:effectLst>
            <a:outerShdw blurRad="381000" dist="76200" dir="5400000" algn="bl" rotWithShape="0">
              <a:srgbClr val="3D32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98" y="3286125"/>
            <a:ext cx="17147092" cy="613566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아키텍처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52500" y="2324100"/>
            <a:ext cx="1687449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3층 구조로 설계된 시스템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952500" y="4473922"/>
            <a:ext cx="4673501" cy="3634680"/>
          </a:xfrm>
          <a:prstGeom prst="roundRect">
            <a:avLst>
              <a:gd name="adj" fmla="val 5241"/>
            </a:avLst>
          </a:prstGeom>
          <a:solidFill>
            <a:srgbClr val="FFFFFF"/>
          </a:solidFill>
          <a:ln/>
          <a:effectLst>
            <a:outerShdw blurRad="228600" dist="3810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52500" y="4473922"/>
            <a:ext cx="4673501" cy="38100"/>
          </a:xfrm>
          <a:prstGeom prst="rect">
            <a:avLst/>
          </a:prstGeom>
          <a:solidFill>
            <a:srgbClr val="C8956C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1600" y="4913535"/>
            <a:ext cx="495300" cy="4953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02706" y="5578822"/>
            <a:ext cx="1373088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950" b="1" kern="0" spc="225" dirty="0">
                <a:solidFill>
                  <a:srgbClr val="C895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1층 · 화면</a:t>
            </a:r>
            <a:endParaRPr lang="en-US" sz="1950" dirty="0"/>
          </a:p>
        </p:txBody>
      </p:sp>
      <p:sp>
        <p:nvSpPr>
          <p:cNvPr id="8" name="Text 5"/>
          <p:cNvSpPr/>
          <p:nvPr/>
        </p:nvSpPr>
        <p:spPr>
          <a:xfrm>
            <a:off x="2281758" y="6121747"/>
            <a:ext cx="2014984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8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브라우저</a:t>
            </a:r>
            <a:endParaRPr lang="en-US" sz="2850" dirty="0"/>
          </a:p>
        </p:txBody>
      </p:sp>
      <p:sp>
        <p:nvSpPr>
          <p:cNvPr id="9" name="Text 6"/>
          <p:cNvSpPr/>
          <p:nvPr/>
        </p:nvSpPr>
        <p:spPr>
          <a:xfrm>
            <a:off x="2103277" y="6798022"/>
            <a:ext cx="2371946" cy="92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80000"/>
              </a:lnSpc>
              <a:buNone/>
            </a:pPr>
            <a:r>
              <a:rPr lang="en-US" sz="19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사용자가 보는 </a:t>
            </a:r>
            <a:r>
              <a:rPr lang="en-US" sz="1950" dirty="0" err="1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</a:t>
            </a:r>
            <a:r>
              <a:rPr lang="en-US" sz="19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br>
              <a:rPr lang="en-US" sz="19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1950" dirty="0" err="1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글래스모피즘</a:t>
            </a:r>
            <a:r>
              <a:rPr lang="en-US" sz="19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디자인</a:t>
            </a:r>
            <a:endParaRPr lang="en-US" sz="1950" dirty="0"/>
          </a:p>
        </p:txBody>
      </p:sp>
      <p:sp>
        <p:nvSpPr>
          <p:cNvPr id="10" name="Text 7"/>
          <p:cNvSpPr/>
          <p:nvPr/>
        </p:nvSpPr>
        <p:spPr>
          <a:xfrm>
            <a:off x="6007001" y="6053138"/>
            <a:ext cx="49530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C895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11" name="Shape 8"/>
          <p:cNvSpPr/>
          <p:nvPr/>
        </p:nvSpPr>
        <p:spPr>
          <a:xfrm>
            <a:off x="6807101" y="4473922"/>
            <a:ext cx="4673650" cy="3634680"/>
          </a:xfrm>
          <a:prstGeom prst="roundRect">
            <a:avLst>
              <a:gd name="adj" fmla="val 5241"/>
            </a:avLst>
          </a:prstGeom>
          <a:solidFill>
            <a:srgbClr val="FFFFFF"/>
          </a:solidFill>
          <a:ln/>
          <a:effectLst>
            <a:outerShdw blurRad="228600" dist="3810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6807101" y="4473922"/>
            <a:ext cx="4673650" cy="38100"/>
          </a:xfrm>
          <a:prstGeom prst="rect">
            <a:avLst/>
          </a:prstGeom>
          <a:solidFill>
            <a:srgbClr val="9A7D52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4890" y="4888746"/>
            <a:ext cx="495300" cy="4953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545996" y="5578822"/>
            <a:ext cx="1373088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950" b="1" kern="0" spc="225" dirty="0">
                <a:solidFill>
                  <a:srgbClr val="C895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2층 · 서버</a:t>
            </a:r>
            <a:endParaRPr lang="en-US" sz="1950" dirty="0"/>
          </a:p>
        </p:txBody>
      </p:sp>
      <p:sp>
        <p:nvSpPr>
          <p:cNvPr id="15" name="Text 11"/>
          <p:cNvSpPr/>
          <p:nvPr/>
        </p:nvSpPr>
        <p:spPr>
          <a:xfrm>
            <a:off x="8519877" y="6121747"/>
            <a:ext cx="1425327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8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</a:t>
            </a:r>
            <a:endParaRPr lang="en-US" sz="2850" dirty="0"/>
          </a:p>
        </p:txBody>
      </p:sp>
      <p:sp>
        <p:nvSpPr>
          <p:cNvPr id="16" name="Text 12"/>
          <p:cNvSpPr/>
          <p:nvPr/>
        </p:nvSpPr>
        <p:spPr>
          <a:xfrm>
            <a:off x="7901583" y="6798022"/>
            <a:ext cx="2661914" cy="92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80000"/>
              </a:lnSpc>
              <a:buNone/>
            </a:pPr>
            <a:r>
              <a:rPr lang="en-US" sz="19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로그인 처리 · 주문 관리 매출 집계</a:t>
            </a:r>
            <a:endParaRPr lang="en-US" sz="1950" dirty="0"/>
          </a:p>
        </p:txBody>
      </p:sp>
      <p:sp>
        <p:nvSpPr>
          <p:cNvPr id="17" name="Text 13"/>
          <p:cNvSpPr/>
          <p:nvPr/>
        </p:nvSpPr>
        <p:spPr>
          <a:xfrm>
            <a:off x="11861750" y="6053138"/>
            <a:ext cx="49530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C895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18" name="Shape 14"/>
          <p:cNvSpPr/>
          <p:nvPr/>
        </p:nvSpPr>
        <p:spPr>
          <a:xfrm>
            <a:off x="12661850" y="4473922"/>
            <a:ext cx="4673650" cy="3634680"/>
          </a:xfrm>
          <a:prstGeom prst="roundRect">
            <a:avLst>
              <a:gd name="adj" fmla="val 5241"/>
            </a:avLst>
          </a:prstGeom>
          <a:solidFill>
            <a:srgbClr val="FFFFFF"/>
          </a:solidFill>
          <a:ln/>
          <a:effectLst>
            <a:outerShdw blurRad="228600" dist="3810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12661850" y="4473922"/>
            <a:ext cx="4673650" cy="38100"/>
          </a:xfrm>
          <a:prstGeom prst="rect">
            <a:avLst/>
          </a:prstGeom>
          <a:solidFill>
            <a:srgbClr val="5C4A33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74959" y="4866215"/>
            <a:ext cx="495300" cy="4953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4307850" y="5578822"/>
            <a:ext cx="162951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950" b="1" kern="0" spc="225" dirty="0">
                <a:solidFill>
                  <a:srgbClr val="C895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3층 · 저장소</a:t>
            </a:r>
            <a:endParaRPr lang="en-US" sz="1950" dirty="0"/>
          </a:p>
        </p:txBody>
      </p:sp>
      <p:sp>
        <p:nvSpPr>
          <p:cNvPr id="22" name="Text 17"/>
          <p:cNvSpPr/>
          <p:nvPr/>
        </p:nvSpPr>
        <p:spPr>
          <a:xfrm>
            <a:off x="14469328" y="6121747"/>
            <a:ext cx="1306562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8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  <a:endParaRPr lang="en-US" sz="2850" dirty="0"/>
          </a:p>
        </p:txBody>
      </p:sp>
      <p:sp>
        <p:nvSpPr>
          <p:cNvPr id="23" name="Text 18"/>
          <p:cNvSpPr/>
          <p:nvPr/>
        </p:nvSpPr>
        <p:spPr>
          <a:xfrm>
            <a:off x="13794729" y="6798022"/>
            <a:ext cx="2655761" cy="92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80000"/>
              </a:lnSpc>
              <a:buNone/>
            </a:pPr>
            <a:r>
              <a:rPr lang="en-US" sz="19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11개 테이블 상품 · 회원 · 주문 정보</a:t>
            </a:r>
            <a:endParaRPr lang="en-US" sz="19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3ED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52500" y="952500"/>
            <a:ext cx="1687449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유스케이스 다이어그램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52500" y="2324100"/>
            <a:ext cx="1687449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 err="1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</a:t>
            </a:r>
            <a:r>
              <a:rPr lang="en-US" sz="25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어떤 기능을 사용하는지 정리한 설계도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4762946" y="3057525"/>
            <a:ext cx="8761958" cy="6476851"/>
          </a:xfrm>
          <a:prstGeom prst="roundRect">
            <a:avLst>
              <a:gd name="adj" fmla="val 2353"/>
            </a:avLst>
          </a:prstGeom>
          <a:ln/>
          <a:effectLst>
            <a:outerShdw blurRad="381000" dist="76200" dir="5400000" algn="bl" rotWithShape="0">
              <a:srgbClr val="3D32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08133" y="2952207"/>
            <a:ext cx="9316771" cy="688697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 다이어그램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52500" y="2324100"/>
            <a:ext cx="1687449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 err="1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r>
              <a:rPr lang="en-US" sz="25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550" dirty="0" err="1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</a:t>
            </a:r>
            <a:r>
              <a:rPr lang="en-US" sz="25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altLang="en-US" sz="25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</a:t>
            </a:r>
            <a:r>
              <a:rPr lang="en-US" sz="25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550" dirty="0" err="1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r>
              <a:rPr lang="en-US" sz="25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도면 — </a:t>
            </a:r>
            <a:r>
              <a:rPr lang="en-US" sz="2550" dirty="0" smtClean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</a:t>
            </a:r>
            <a:r>
              <a:rPr lang="en-US" sz="25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4598640" y="3057525"/>
            <a:ext cx="9090571" cy="6476851"/>
          </a:xfrm>
          <a:prstGeom prst="roundRect">
            <a:avLst>
              <a:gd name="adj" fmla="val 2353"/>
            </a:avLst>
          </a:prstGeom>
          <a:ln/>
          <a:effectLst>
            <a:outerShdw blurRad="381000" dist="76200" dir="5400000" algn="bl" rotWithShape="0">
              <a:srgbClr val="3D32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9262" y="3057525"/>
            <a:ext cx="11678653" cy="6856496"/>
          </a:xfrm>
          <a:prstGeom prst="rect">
            <a:avLst/>
          </a:prstGeom>
          <a:gradFill>
            <a:gsLst>
              <a:gs pos="14000">
                <a:schemeClr val="accent1">
                  <a:lumMod val="5000"/>
                  <a:lumOff val="95000"/>
                </a:schemeClr>
              </a:gs>
              <a:gs pos="55000">
                <a:schemeClr val="accent1">
                  <a:lumMod val="45000"/>
                  <a:lumOff val="55000"/>
                </a:schemeClr>
              </a:gs>
              <a:gs pos="6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3EDE4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952500" y="3119438"/>
            <a:ext cx="7691628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750" b="1" dirty="0">
                <a:solidFill>
                  <a:srgbClr val="E8D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750" dirty="0"/>
          </a:p>
        </p:txBody>
      </p:sp>
      <p:sp>
        <p:nvSpPr>
          <p:cNvPr id="4" name="Text 2"/>
          <p:cNvSpPr/>
          <p:nvPr/>
        </p:nvSpPr>
        <p:spPr>
          <a:xfrm>
            <a:off x="952500" y="4090987"/>
            <a:ext cx="7691628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로그인 &amp; 소셜 로그인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952500" y="4948238"/>
            <a:ext cx="7691628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225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네이버, 카카오, 구글 계정으로 간편하게 로그인할 수 있고, 비밀번호는 암호화하여 안전하게 관리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52500" y="6757988"/>
            <a:ext cx="1012031" cy="485775"/>
          </a:xfrm>
          <a:prstGeom prst="roundRect">
            <a:avLst>
              <a:gd name="adj" fmla="val 50000"/>
            </a:avLst>
          </a:prstGeom>
          <a:solidFill>
            <a:srgbClr val="E8C9A8"/>
          </a:solidFill>
          <a:ln/>
        </p:spPr>
        <p:txBody>
          <a:bodyPr/>
          <a:lstStyle/>
          <a:p>
            <a:pPr algn="ctr"/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47750" y="6834188"/>
            <a:ext cx="82153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네이버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121247" y="6757988"/>
            <a:ext cx="1012031" cy="485775"/>
          </a:xfrm>
          <a:prstGeom prst="roundRect">
            <a:avLst>
              <a:gd name="adj" fmla="val 50000"/>
            </a:avLst>
          </a:prstGeom>
          <a:solidFill>
            <a:srgbClr val="E8C9A8"/>
          </a:solidFill>
          <a:ln/>
        </p:spPr>
        <p:txBody>
          <a:bodyPr/>
          <a:lstStyle/>
          <a:p>
            <a:pPr algn="ctr"/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2216497" y="6834188"/>
            <a:ext cx="82153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카카오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89995" y="6757988"/>
            <a:ext cx="801737" cy="485775"/>
          </a:xfrm>
          <a:prstGeom prst="roundRect">
            <a:avLst>
              <a:gd name="adj" fmla="val 50000"/>
            </a:avLst>
          </a:prstGeom>
          <a:solidFill>
            <a:srgbClr val="E8C9A8"/>
          </a:solidFill>
          <a:ln/>
        </p:spPr>
        <p:txBody>
          <a:bodyPr/>
          <a:lstStyle/>
          <a:p>
            <a:pPr algn="ctr"/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385245" y="6834188"/>
            <a:ext cx="61123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구글</a:t>
            </a:r>
            <a:endParaRPr lang="en-US" sz="180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26AA2054-4465-1B65-B620-C6AA98A582C1}"/>
              </a:ext>
            </a:extLst>
          </p:cNvPr>
          <p:cNvGrpSpPr/>
          <p:nvPr/>
        </p:nvGrpSpPr>
        <p:grpSpPr>
          <a:xfrm>
            <a:off x="8991600" y="3609975"/>
            <a:ext cx="8343900" cy="3257550"/>
            <a:chOff x="8991600" y="3609975"/>
            <a:chExt cx="8343900" cy="3257550"/>
          </a:xfrm>
        </p:grpSpPr>
        <p:sp>
          <p:nvSpPr>
            <p:cNvPr id="15" name="Shape 10">
              <a:extLst>
                <a:ext uri="{FF2B5EF4-FFF2-40B4-BE49-F238E27FC236}">
                  <a16:creationId xmlns:a16="http://schemas.microsoft.com/office/drawing/2014/main" id="{24AA3471-B0B8-76D1-5983-447D89FDF67B}"/>
                </a:ext>
              </a:extLst>
            </p:cNvPr>
            <p:cNvSpPr/>
            <p:nvPr/>
          </p:nvSpPr>
          <p:spPr>
            <a:xfrm>
              <a:off x="8991600" y="3609975"/>
              <a:ext cx="8343900" cy="3257550"/>
            </a:xfrm>
            <a:prstGeom prst="roundRect">
              <a:avLst>
                <a:gd name="adj" fmla="val 7018"/>
              </a:avLst>
            </a:prstGeom>
            <a:solidFill>
              <a:srgbClr val="FFFFFF"/>
            </a:solidFill>
            <a:ln/>
            <a:effectLst>
              <a:outerShdw blurRad="304800" dist="57150" dir="5400000" algn="bl" rotWithShape="0">
                <a:srgbClr val="3D3224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6" name="Image 0" descr="preencoded.png">
              <a:extLst>
                <a:ext uri="{FF2B5EF4-FFF2-40B4-BE49-F238E27FC236}">
                  <a16:creationId xmlns:a16="http://schemas.microsoft.com/office/drawing/2014/main" id="{C2120356-69F3-8AE9-41F7-38BD349C9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592050" y="4062028"/>
              <a:ext cx="1143000" cy="1143000"/>
            </a:xfrm>
            <a:prstGeom prst="rect">
              <a:avLst/>
            </a:prstGeom>
          </p:spPr>
        </p:pic>
        <p:sp>
          <p:nvSpPr>
            <p:cNvPr id="17" name="Shape 11">
              <a:extLst>
                <a:ext uri="{FF2B5EF4-FFF2-40B4-BE49-F238E27FC236}">
                  <a16:creationId xmlns:a16="http://schemas.microsoft.com/office/drawing/2014/main" id="{3CD6B215-450D-5A42-4AEA-1F73EABC9BEB}"/>
                </a:ext>
              </a:extLst>
            </p:cNvPr>
            <p:cNvSpPr/>
            <p:nvPr/>
          </p:nvSpPr>
          <p:spPr>
            <a:xfrm>
              <a:off x="11410801" y="5476875"/>
              <a:ext cx="1016198" cy="933450"/>
            </a:xfrm>
            <a:prstGeom prst="roundRect">
              <a:avLst>
                <a:gd name="adj" fmla="val 12245"/>
              </a:avLst>
            </a:prstGeom>
            <a:solidFill>
              <a:srgbClr val="F3EDE4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2">
              <a:extLst>
                <a:ext uri="{FF2B5EF4-FFF2-40B4-BE49-F238E27FC236}">
                  <a16:creationId xmlns:a16="http://schemas.microsoft.com/office/drawing/2014/main" id="{64582D3B-050B-A5E9-6B0B-94E6816B0350}"/>
                </a:ext>
              </a:extLst>
            </p:cNvPr>
            <p:cNvSpPr/>
            <p:nvPr/>
          </p:nvSpPr>
          <p:spPr>
            <a:xfrm>
              <a:off x="11601301" y="5629275"/>
              <a:ext cx="635198" cy="2857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1650" dirty="0">
                  <a:solidFill>
                    <a:srgbClr val="9A7D5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Naver</a:t>
              </a:r>
              <a:endParaRPr lang="en-US" sz="1650" dirty="0"/>
            </a:p>
          </p:txBody>
        </p:sp>
        <p:pic>
          <p:nvPicPr>
            <p:cNvPr id="19" name="Image 1" descr="preencoded.png">
              <a:extLst>
                <a:ext uri="{FF2B5EF4-FFF2-40B4-BE49-F238E27FC236}">
                  <a16:creationId xmlns:a16="http://schemas.microsoft.com/office/drawing/2014/main" id="{BAA3A837-CD27-B5B2-9EDD-E283D9891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766500" y="5915025"/>
              <a:ext cx="304800" cy="304800"/>
            </a:xfrm>
            <a:prstGeom prst="rect">
              <a:avLst/>
            </a:prstGeom>
          </p:spPr>
        </p:pic>
        <p:sp>
          <p:nvSpPr>
            <p:cNvPr id="20" name="Shape 13">
              <a:extLst>
                <a:ext uri="{FF2B5EF4-FFF2-40B4-BE49-F238E27FC236}">
                  <a16:creationId xmlns:a16="http://schemas.microsoft.com/office/drawing/2014/main" id="{999A869B-41A9-686D-E914-92F6FAE861A9}"/>
                </a:ext>
              </a:extLst>
            </p:cNvPr>
            <p:cNvSpPr/>
            <p:nvPr/>
          </p:nvSpPr>
          <p:spPr>
            <a:xfrm>
              <a:off x="12579400" y="5476875"/>
              <a:ext cx="1051471" cy="933450"/>
            </a:xfrm>
            <a:prstGeom prst="roundRect">
              <a:avLst>
                <a:gd name="adj" fmla="val 12245"/>
              </a:avLst>
            </a:prstGeom>
            <a:solidFill>
              <a:srgbClr val="F3EDE4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4">
              <a:extLst>
                <a:ext uri="{FF2B5EF4-FFF2-40B4-BE49-F238E27FC236}">
                  <a16:creationId xmlns:a16="http://schemas.microsoft.com/office/drawing/2014/main" id="{5070E4CC-C798-7751-639B-823C12FBA128}"/>
                </a:ext>
              </a:extLst>
            </p:cNvPr>
            <p:cNvSpPr/>
            <p:nvPr/>
          </p:nvSpPr>
          <p:spPr>
            <a:xfrm>
              <a:off x="12769900" y="5629275"/>
              <a:ext cx="670471" cy="2857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1650" dirty="0">
                  <a:solidFill>
                    <a:srgbClr val="9A7D5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Kakao</a:t>
              </a:r>
              <a:endParaRPr lang="en-US" sz="1650" dirty="0"/>
            </a:p>
          </p:txBody>
        </p:sp>
        <p:pic>
          <p:nvPicPr>
            <p:cNvPr id="22" name="Image 2" descr="preencoded.png">
              <a:extLst>
                <a:ext uri="{FF2B5EF4-FFF2-40B4-BE49-F238E27FC236}">
                  <a16:creationId xmlns:a16="http://schemas.microsoft.com/office/drawing/2014/main" id="{A6458062-BA6C-BA73-FE64-25AF5A1ED34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952661" y="5915025"/>
              <a:ext cx="304800" cy="304800"/>
            </a:xfrm>
            <a:prstGeom prst="rect">
              <a:avLst/>
            </a:prstGeom>
          </p:spPr>
        </p:pic>
        <p:sp>
          <p:nvSpPr>
            <p:cNvPr id="23" name="Shape 15">
              <a:extLst>
                <a:ext uri="{FF2B5EF4-FFF2-40B4-BE49-F238E27FC236}">
                  <a16:creationId xmlns:a16="http://schemas.microsoft.com/office/drawing/2014/main" id="{F1CDEDBF-B516-C141-0715-67D56892D909}"/>
                </a:ext>
              </a:extLst>
            </p:cNvPr>
            <p:cNvSpPr/>
            <p:nvPr/>
          </p:nvSpPr>
          <p:spPr>
            <a:xfrm>
              <a:off x="13783270" y="5476875"/>
              <a:ext cx="1133029" cy="933450"/>
            </a:xfrm>
            <a:prstGeom prst="roundRect">
              <a:avLst>
                <a:gd name="adj" fmla="val 12245"/>
              </a:avLst>
            </a:prstGeom>
            <a:solidFill>
              <a:srgbClr val="F3EDE4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16">
              <a:extLst>
                <a:ext uri="{FF2B5EF4-FFF2-40B4-BE49-F238E27FC236}">
                  <a16:creationId xmlns:a16="http://schemas.microsoft.com/office/drawing/2014/main" id="{7F266534-6931-E568-69C1-2ADBF1AE36D8}"/>
                </a:ext>
              </a:extLst>
            </p:cNvPr>
            <p:cNvSpPr/>
            <p:nvPr/>
          </p:nvSpPr>
          <p:spPr>
            <a:xfrm>
              <a:off x="13973770" y="5629275"/>
              <a:ext cx="752029" cy="2857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1650" dirty="0">
                  <a:solidFill>
                    <a:srgbClr val="9A7D5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Google</a:t>
              </a:r>
              <a:endParaRPr lang="en-US" sz="1650" dirty="0"/>
            </a:p>
          </p:txBody>
        </p:sp>
        <p:pic>
          <p:nvPicPr>
            <p:cNvPr id="25" name="Image 3" descr="preencoded.png">
              <a:extLst>
                <a:ext uri="{FF2B5EF4-FFF2-40B4-BE49-F238E27FC236}">
                  <a16:creationId xmlns:a16="http://schemas.microsoft.com/office/drawing/2014/main" id="{CBB3B888-C6DC-D687-FF71-CFC9B9BAEA1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197310" y="5915025"/>
              <a:ext cx="304800" cy="3048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119438"/>
            <a:ext cx="8162544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750" b="1" dirty="0">
                <a:solidFill>
                  <a:srgbClr val="E8D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750" dirty="0"/>
          </a:p>
        </p:txBody>
      </p:sp>
      <p:sp>
        <p:nvSpPr>
          <p:cNvPr id="3" name="Text 1"/>
          <p:cNvSpPr/>
          <p:nvPr/>
        </p:nvSpPr>
        <p:spPr>
          <a:xfrm>
            <a:off x="952500" y="4090987"/>
            <a:ext cx="8162544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상품 페이지</a:t>
            </a:r>
            <a:endParaRPr lang="en-US" sz="3450" dirty="0"/>
          </a:p>
        </p:txBody>
      </p:sp>
      <p:sp>
        <p:nvSpPr>
          <p:cNvPr id="4" name="Text 2"/>
          <p:cNvSpPr/>
          <p:nvPr/>
        </p:nvSpPr>
        <p:spPr>
          <a:xfrm>
            <a:off x="952500" y="4948238"/>
            <a:ext cx="8162544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225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주간 베스트 상품을 카테고리별로 보여주고 BEST · NEW · HOT · SALE 배지로 인기 상품을 한눈에 파악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52500" y="6757988"/>
            <a:ext cx="1496616" cy="485775"/>
          </a:xfrm>
          <a:prstGeom prst="roundRect">
            <a:avLst>
              <a:gd name="adj" fmla="val 50000"/>
            </a:avLst>
          </a:prstGeom>
          <a:solidFill>
            <a:srgbClr val="E8C9A8"/>
          </a:solidFill>
          <a:ln/>
        </p:spPr>
        <p:txBody>
          <a:bodyPr anchor="ctr"/>
          <a:lstStyle/>
          <a:p>
            <a:pPr algn="ctr"/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04900" y="6834188"/>
            <a:ext cx="119181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주간 베스트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605832" y="6757988"/>
            <a:ext cx="1706910" cy="485775"/>
          </a:xfrm>
          <a:prstGeom prst="roundRect">
            <a:avLst>
              <a:gd name="adj" fmla="val 50000"/>
            </a:avLst>
          </a:prstGeom>
          <a:solidFill>
            <a:srgbClr val="E8C9A8"/>
          </a:solidFill>
          <a:ln/>
        </p:spPr>
        <p:txBody>
          <a:bodyPr anchor="ctr"/>
          <a:lstStyle/>
          <a:p>
            <a:pPr algn="ctr"/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758232" y="6834188"/>
            <a:ext cx="140211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카테고리 필터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469457" y="6757988"/>
            <a:ext cx="1286321" cy="485775"/>
          </a:xfrm>
          <a:prstGeom prst="roundRect">
            <a:avLst>
              <a:gd name="adj" fmla="val 50000"/>
            </a:avLst>
          </a:prstGeom>
          <a:solidFill>
            <a:srgbClr val="E8C9A8"/>
          </a:solidFill>
          <a:ln/>
        </p:spPr>
        <p:txBody>
          <a:bodyPr anchor="ctr"/>
          <a:lstStyle/>
          <a:p>
            <a:pPr algn="ctr"/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621857" y="6834188"/>
            <a:ext cx="9815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상품 배지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410700" y="3351312"/>
            <a:ext cx="7924800" cy="3774877"/>
          </a:xfrm>
          <a:prstGeom prst="roundRect">
            <a:avLst>
              <a:gd name="adj" fmla="val 5047"/>
            </a:avLst>
          </a:prstGeom>
          <a:ln/>
          <a:effectLst>
            <a:outerShdw blurRad="381000" dist="76200" dir="5400000" algn="bl" rotWithShape="0">
              <a:srgbClr val="3D32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0700" y="3351312"/>
            <a:ext cx="7924800" cy="37748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32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119438"/>
            <a:ext cx="8162544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7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750" dirty="0"/>
          </a:p>
        </p:txBody>
      </p:sp>
      <p:sp>
        <p:nvSpPr>
          <p:cNvPr id="3" name="Text 1"/>
          <p:cNvSpPr/>
          <p:nvPr/>
        </p:nvSpPr>
        <p:spPr>
          <a:xfrm>
            <a:off x="952500" y="4090987"/>
            <a:ext cx="8162544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dirty="0">
                <a:solidFill>
                  <a:srgbClr val="F3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장바구니 &amp; 결제</a:t>
            </a:r>
            <a:endParaRPr lang="en-US" sz="3450" dirty="0"/>
          </a:p>
        </p:txBody>
      </p:sp>
      <p:sp>
        <p:nvSpPr>
          <p:cNvPr id="4" name="Text 2"/>
          <p:cNvSpPr/>
          <p:nvPr/>
        </p:nvSpPr>
        <p:spPr>
          <a:xfrm>
            <a:off x="952500" y="4948238"/>
            <a:ext cx="8162544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2250" dirty="0">
                <a:solidFill>
                  <a:srgbClr val="D4C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비로그인 장바구니가 로그인 시 자동으로 합쳐지는 스마트 병합 기능, 토스페이먼츠 연동 결제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52500" y="6757988"/>
            <a:ext cx="1286321" cy="485775"/>
          </a:xfrm>
          <a:prstGeom prst="roundRect">
            <a:avLst>
              <a:gd name="adj" fmla="val 50000"/>
            </a:avLst>
          </a:prstGeom>
          <a:solidFill>
            <a:srgbClr val="5C4A33"/>
          </a:solidFill>
          <a:ln/>
        </p:spPr>
        <p:txBody>
          <a:bodyPr anchor="ctr"/>
          <a:lstStyle/>
          <a:p>
            <a:pPr algn="ctr"/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04900" y="6834188"/>
            <a:ext cx="9815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C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카트 병합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395538" y="6757988"/>
            <a:ext cx="1496616" cy="485775"/>
          </a:xfrm>
          <a:prstGeom prst="roundRect">
            <a:avLst>
              <a:gd name="adj" fmla="val 50000"/>
            </a:avLst>
          </a:prstGeom>
          <a:solidFill>
            <a:srgbClr val="5C4A33"/>
          </a:solidFill>
          <a:ln/>
        </p:spPr>
        <p:txBody>
          <a:bodyPr anchor="ctr"/>
          <a:lstStyle/>
          <a:p>
            <a:pPr algn="ctr"/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547938" y="6834188"/>
            <a:ext cx="119181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C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비회원 주문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048869" y="6757988"/>
            <a:ext cx="1642914" cy="485775"/>
          </a:xfrm>
          <a:prstGeom prst="roundRect">
            <a:avLst>
              <a:gd name="adj" fmla="val 50000"/>
            </a:avLst>
          </a:prstGeom>
          <a:solidFill>
            <a:srgbClr val="5C4A33"/>
          </a:solidFill>
          <a:ln/>
        </p:spPr>
        <p:txBody>
          <a:bodyPr anchor="ctr"/>
          <a:lstStyle/>
          <a:p>
            <a:pPr algn="ctr"/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201269" y="6834188"/>
            <a:ext cx="133811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C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토스페이먼츠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410700" y="3471714"/>
            <a:ext cx="7924800" cy="3534073"/>
          </a:xfrm>
          <a:prstGeom prst="roundRect">
            <a:avLst>
              <a:gd name="adj" fmla="val 5390"/>
            </a:avLst>
          </a:prstGeom>
          <a:ln/>
          <a:effectLst>
            <a:outerShdw blurRad="381000" dist="76200" dir="5400000" algn="bl" rotWithShape="0">
              <a:srgbClr val="3D32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443" y="3471714"/>
            <a:ext cx="8458437" cy="37720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5C4A33"/>
                </a:solidFill>
                <a:latin typeface="Jokerman" panose="04090605060D06020702" pitchFamily="82" charset="0"/>
                <a:ea typeface="Arial" pitchFamily="34" charset="-122"/>
                <a:cs typeface="Arial" pitchFamily="34" charset="-120"/>
              </a:rPr>
              <a:t>Admin</a:t>
            </a:r>
            <a:r>
              <a:rPr lang="en-US" sz="4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관리 화면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52500" y="2324100"/>
            <a:ext cx="1687449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상품 · 배너 · 커뮤니티를 한 </a:t>
            </a:r>
            <a:r>
              <a:rPr lang="en-US" sz="2400" dirty="0" err="1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곳에서</a:t>
            </a:r>
            <a:r>
              <a:rPr lang="en-US" sz="240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400" dirty="0" err="1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</a:t>
            </a:r>
            <a:endParaRPr lang="en-US" sz="2400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1D3E4E6C-A0A5-85BF-8898-2813A813AD02}"/>
              </a:ext>
            </a:extLst>
          </p:cNvPr>
          <p:cNvGrpSpPr/>
          <p:nvPr/>
        </p:nvGrpSpPr>
        <p:grpSpPr>
          <a:xfrm>
            <a:off x="952500" y="3133078"/>
            <a:ext cx="10394994" cy="5854913"/>
            <a:chOff x="952500" y="2968625"/>
            <a:chExt cx="8071294" cy="4546104"/>
          </a:xfrm>
        </p:grpSpPr>
        <p:sp>
          <p:nvSpPr>
            <p:cNvPr id="4" name="Shape 2"/>
            <p:cNvSpPr/>
            <p:nvPr/>
          </p:nvSpPr>
          <p:spPr>
            <a:xfrm>
              <a:off x="952500" y="2968625"/>
              <a:ext cx="8058150" cy="4546104"/>
            </a:xfrm>
            <a:prstGeom prst="roundRect">
              <a:avLst>
                <a:gd name="adj" fmla="val 3352"/>
              </a:avLst>
            </a:prstGeom>
            <a:solidFill>
              <a:srgbClr val="FFFFFF"/>
            </a:solidFill>
            <a:ln/>
            <a:effectLst>
              <a:outerShdw blurRad="228600" dist="38100" dir="5400000" algn="bl" rotWithShape="0">
                <a:srgbClr val="3D3224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5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2500" y="2968625"/>
              <a:ext cx="8058150" cy="3619202"/>
            </a:xfrm>
            <a:prstGeom prst="rect">
              <a:avLst/>
            </a:prstGeom>
          </p:spPr>
        </p:pic>
        <p:sp>
          <p:nvSpPr>
            <p:cNvPr id="6" name="Text 3"/>
            <p:cNvSpPr/>
            <p:nvPr/>
          </p:nvSpPr>
          <p:spPr>
            <a:xfrm>
              <a:off x="1181100" y="6778327"/>
              <a:ext cx="7842694" cy="3905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10000"/>
            </a:bodyPr>
            <a:lstStyle/>
            <a:p>
              <a:pPr marL="0" indent="0" algn="l">
                <a:buNone/>
              </a:pPr>
              <a:r>
                <a:rPr lang="en-US" sz="3200" b="1" dirty="0">
                  <a:solidFill>
                    <a:srgbClr val="5C4A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상품 관리</a:t>
              </a:r>
              <a:endParaRPr lang="en-US" sz="32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FE3F78D2-FADA-EF9A-5663-4FE0BB7A4561}"/>
              </a:ext>
            </a:extLst>
          </p:cNvPr>
          <p:cNvGrpSpPr/>
          <p:nvPr/>
        </p:nvGrpSpPr>
        <p:grpSpPr>
          <a:xfrm>
            <a:off x="12972561" y="3133078"/>
            <a:ext cx="3448959" cy="2129016"/>
            <a:chOff x="9277350" y="2968625"/>
            <a:chExt cx="8071294" cy="4982347"/>
          </a:xfrm>
        </p:grpSpPr>
        <p:sp>
          <p:nvSpPr>
            <p:cNvPr id="7" name="Shape 4"/>
            <p:cNvSpPr/>
            <p:nvPr/>
          </p:nvSpPr>
          <p:spPr>
            <a:xfrm>
              <a:off x="9277350" y="2968625"/>
              <a:ext cx="8058149" cy="4982347"/>
            </a:xfrm>
            <a:prstGeom prst="roundRect">
              <a:avLst>
                <a:gd name="adj" fmla="val 3352"/>
              </a:avLst>
            </a:prstGeom>
            <a:solidFill>
              <a:srgbClr val="FFFFFF"/>
            </a:solidFill>
            <a:ln/>
            <a:effectLst>
              <a:outerShdw blurRad="228600" dist="38100" dir="5400000" algn="bl" rotWithShape="0">
                <a:srgbClr val="3D3224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8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77350" y="2968625"/>
              <a:ext cx="8058150" cy="3812679"/>
            </a:xfrm>
            <a:prstGeom prst="rect">
              <a:avLst/>
            </a:prstGeom>
          </p:spPr>
        </p:pic>
        <p:sp>
          <p:nvSpPr>
            <p:cNvPr id="9" name="Text 5"/>
            <p:cNvSpPr/>
            <p:nvPr/>
          </p:nvSpPr>
          <p:spPr>
            <a:xfrm>
              <a:off x="9505950" y="6971804"/>
              <a:ext cx="7842694" cy="3905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47500" lnSpcReduction="20000"/>
            </a:bodyPr>
            <a:lstStyle/>
            <a:p>
              <a:pPr marL="0" indent="0" algn="l">
                <a:buNone/>
              </a:pPr>
              <a:r>
                <a:rPr lang="en-US" sz="1950" b="1" dirty="0">
                  <a:solidFill>
                    <a:srgbClr val="5C4A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배너 관리</a:t>
              </a:r>
              <a:endParaRPr lang="en-US" sz="1950" dirty="0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6BF8141C-9695-EED4-D9C3-7ED966761E86}"/>
              </a:ext>
            </a:extLst>
          </p:cNvPr>
          <p:cNvGrpSpPr/>
          <p:nvPr/>
        </p:nvGrpSpPr>
        <p:grpSpPr>
          <a:xfrm>
            <a:off x="11985105" y="5746663"/>
            <a:ext cx="5350395" cy="3059524"/>
            <a:chOff x="952500" y="7705229"/>
            <a:chExt cx="16645890" cy="9518644"/>
          </a:xfrm>
        </p:grpSpPr>
        <p:sp>
          <p:nvSpPr>
            <p:cNvPr id="10" name="Shape 6"/>
            <p:cNvSpPr/>
            <p:nvPr/>
          </p:nvSpPr>
          <p:spPr>
            <a:xfrm>
              <a:off x="952500" y="7984626"/>
              <a:ext cx="16383001" cy="9239247"/>
            </a:xfrm>
            <a:prstGeom prst="roundRect">
              <a:avLst>
                <a:gd name="adj" fmla="val 1796"/>
              </a:avLst>
            </a:prstGeom>
            <a:solidFill>
              <a:srgbClr val="FFFFFF"/>
            </a:solidFill>
            <a:ln/>
            <a:effectLst>
              <a:outerShdw blurRad="228600" dist="38100" dir="5400000" algn="bl" rotWithShape="0">
                <a:srgbClr val="3D3224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1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2500" y="7705229"/>
              <a:ext cx="16383000" cy="7751713"/>
            </a:xfrm>
            <a:prstGeom prst="rect">
              <a:avLst/>
            </a:prstGeom>
          </p:spPr>
        </p:pic>
        <p:sp>
          <p:nvSpPr>
            <p:cNvPr id="12" name="Text 7"/>
            <p:cNvSpPr/>
            <p:nvPr/>
          </p:nvSpPr>
          <p:spPr>
            <a:xfrm>
              <a:off x="1181100" y="15926842"/>
              <a:ext cx="16417290" cy="3905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20000"/>
            </a:bodyPr>
            <a:lstStyle/>
            <a:p>
              <a:pPr marL="0" indent="0" algn="l">
                <a:buNone/>
              </a:pPr>
              <a:r>
                <a:rPr lang="en-US" sz="700" b="1" dirty="0">
                  <a:solidFill>
                    <a:srgbClr val="5C4A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커뮤니티 관리 (FAQ · 리뷰 · Q&amp;A)</a:t>
              </a:r>
              <a:endParaRPr lang="en-US" sz="700" dirty="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CE824-D578-A89B-4B17-7906EFC55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7800B8F-932E-0A6F-BEC1-60E67052C141}"/>
              </a:ext>
            </a:extLst>
          </p:cNvPr>
          <p:cNvSpPr/>
          <p:nvPr/>
        </p:nvSpPr>
        <p:spPr>
          <a:xfrm>
            <a:off x="952500" y="952500"/>
            <a:ext cx="1687449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5C4A33"/>
                </a:solidFill>
                <a:latin typeface="Jokerman" panose="04090605060D06020702" pitchFamily="82" charset="0"/>
                <a:ea typeface="Arial" pitchFamily="34" charset="-122"/>
                <a:cs typeface="Arial" pitchFamily="34" charset="-120"/>
              </a:rPr>
              <a:t>Admin</a:t>
            </a:r>
            <a:r>
              <a:rPr lang="en-US" sz="4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관리 화면</a:t>
            </a:r>
            <a:endParaRPr lang="en-US" sz="4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F178D7F-2C49-A8DD-6F12-904673AB2BCD}"/>
              </a:ext>
            </a:extLst>
          </p:cNvPr>
          <p:cNvSpPr/>
          <p:nvPr/>
        </p:nvSpPr>
        <p:spPr>
          <a:xfrm>
            <a:off x="952500" y="2324100"/>
            <a:ext cx="1687449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상품 · 배너 · 커뮤니티를 한 곳에서 관리</a:t>
            </a:r>
            <a:endParaRPr lang="en-US" sz="2550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AAD2D8-F5E1-261B-5083-27DA76EF26CA}"/>
              </a:ext>
            </a:extLst>
          </p:cNvPr>
          <p:cNvGrpSpPr/>
          <p:nvPr/>
        </p:nvGrpSpPr>
        <p:grpSpPr>
          <a:xfrm>
            <a:off x="14132015" y="3320664"/>
            <a:ext cx="3118986" cy="1756749"/>
            <a:chOff x="952500" y="2968625"/>
            <a:chExt cx="8071294" cy="4546104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C5C5E513-99D6-9657-6603-13F74E6E8593}"/>
                </a:ext>
              </a:extLst>
            </p:cNvPr>
            <p:cNvSpPr/>
            <p:nvPr/>
          </p:nvSpPr>
          <p:spPr>
            <a:xfrm>
              <a:off x="952500" y="2968625"/>
              <a:ext cx="8058150" cy="4546104"/>
            </a:xfrm>
            <a:prstGeom prst="roundRect">
              <a:avLst>
                <a:gd name="adj" fmla="val 3352"/>
              </a:avLst>
            </a:prstGeom>
            <a:solidFill>
              <a:srgbClr val="FFFFFF"/>
            </a:solidFill>
            <a:ln/>
            <a:effectLst>
              <a:outerShdw blurRad="228600" dist="38100" dir="5400000" algn="bl" rotWithShape="0">
                <a:srgbClr val="3D3224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5" name="Image 0" descr="preencoded.png">
              <a:extLst>
                <a:ext uri="{FF2B5EF4-FFF2-40B4-BE49-F238E27FC236}">
                  <a16:creationId xmlns:a16="http://schemas.microsoft.com/office/drawing/2014/main" id="{07035448-2F10-2EBD-4C9E-34986BD33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2500" y="2968625"/>
              <a:ext cx="8058150" cy="3619202"/>
            </a:xfrm>
            <a:prstGeom prst="rect">
              <a:avLst/>
            </a:prstGeom>
          </p:spPr>
        </p:pic>
        <p:sp>
          <p:nvSpPr>
            <p:cNvPr id="6" name="Text 3">
              <a:extLst>
                <a:ext uri="{FF2B5EF4-FFF2-40B4-BE49-F238E27FC236}">
                  <a16:creationId xmlns:a16="http://schemas.microsoft.com/office/drawing/2014/main" id="{664AAB4F-BC88-C411-C8B3-868BAEC4C908}"/>
                </a:ext>
              </a:extLst>
            </p:cNvPr>
            <p:cNvSpPr/>
            <p:nvPr/>
          </p:nvSpPr>
          <p:spPr>
            <a:xfrm>
              <a:off x="1181100" y="6778327"/>
              <a:ext cx="7842694" cy="3905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5C4A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상품 관리</a:t>
              </a:r>
              <a:endParaRPr lang="en-US" sz="9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5601740D-FBD2-382F-6E87-E7EFD69F2E09}"/>
              </a:ext>
            </a:extLst>
          </p:cNvPr>
          <p:cNvGrpSpPr/>
          <p:nvPr/>
        </p:nvGrpSpPr>
        <p:grpSpPr>
          <a:xfrm>
            <a:off x="786979" y="3137837"/>
            <a:ext cx="10328442" cy="6375668"/>
            <a:chOff x="9277350" y="2968625"/>
            <a:chExt cx="8071294" cy="4982347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98BF2D3D-59D7-B7AC-EBD7-9D5EF1849769}"/>
                </a:ext>
              </a:extLst>
            </p:cNvPr>
            <p:cNvSpPr/>
            <p:nvPr/>
          </p:nvSpPr>
          <p:spPr>
            <a:xfrm>
              <a:off x="9277350" y="2968625"/>
              <a:ext cx="8058149" cy="4982347"/>
            </a:xfrm>
            <a:prstGeom prst="roundRect">
              <a:avLst>
                <a:gd name="adj" fmla="val 3352"/>
              </a:avLst>
            </a:prstGeom>
            <a:solidFill>
              <a:srgbClr val="FFFFFF"/>
            </a:solidFill>
            <a:ln/>
            <a:effectLst>
              <a:outerShdw blurRad="228600" dist="38100" dir="5400000" algn="bl" rotWithShape="0">
                <a:srgbClr val="3D3224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8" name="Image 1" descr="preencoded.png">
              <a:extLst>
                <a:ext uri="{FF2B5EF4-FFF2-40B4-BE49-F238E27FC236}">
                  <a16:creationId xmlns:a16="http://schemas.microsoft.com/office/drawing/2014/main" id="{63722FFC-E234-B459-F993-B09484FE45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277350" y="2968625"/>
              <a:ext cx="8058150" cy="3812679"/>
            </a:xfrm>
            <a:prstGeom prst="rect">
              <a:avLst/>
            </a:prstGeom>
          </p:spPr>
        </p:pic>
        <p:sp>
          <p:nvSpPr>
            <p:cNvPr id="9" name="Text 5">
              <a:extLst>
                <a:ext uri="{FF2B5EF4-FFF2-40B4-BE49-F238E27FC236}">
                  <a16:creationId xmlns:a16="http://schemas.microsoft.com/office/drawing/2014/main" id="{917E572F-4FDB-B63A-BA7A-3AFCE2E320FB}"/>
                </a:ext>
              </a:extLst>
            </p:cNvPr>
            <p:cNvSpPr/>
            <p:nvPr/>
          </p:nvSpPr>
          <p:spPr>
            <a:xfrm>
              <a:off x="9505950" y="6971804"/>
              <a:ext cx="7842694" cy="3905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20000"/>
            </a:bodyPr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5C4A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배너 관리</a:t>
              </a:r>
              <a:endParaRPr lang="en-US" sz="3600" dirty="0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3FDD8A90-1626-3F26-DF97-B978494D8220}"/>
              </a:ext>
            </a:extLst>
          </p:cNvPr>
          <p:cNvGrpSpPr/>
          <p:nvPr/>
        </p:nvGrpSpPr>
        <p:grpSpPr>
          <a:xfrm>
            <a:off x="11985105" y="5746663"/>
            <a:ext cx="5350395" cy="3059524"/>
            <a:chOff x="952500" y="7705229"/>
            <a:chExt cx="16645890" cy="9518644"/>
          </a:xfrm>
        </p:grpSpPr>
        <p:sp>
          <p:nvSpPr>
            <p:cNvPr id="10" name="Shape 6">
              <a:extLst>
                <a:ext uri="{FF2B5EF4-FFF2-40B4-BE49-F238E27FC236}">
                  <a16:creationId xmlns:a16="http://schemas.microsoft.com/office/drawing/2014/main" id="{548C4FD3-F838-9F41-6B03-2B00499C4963}"/>
                </a:ext>
              </a:extLst>
            </p:cNvPr>
            <p:cNvSpPr/>
            <p:nvPr/>
          </p:nvSpPr>
          <p:spPr>
            <a:xfrm>
              <a:off x="952500" y="7984626"/>
              <a:ext cx="16383001" cy="9239247"/>
            </a:xfrm>
            <a:prstGeom prst="roundRect">
              <a:avLst>
                <a:gd name="adj" fmla="val 1796"/>
              </a:avLst>
            </a:prstGeom>
            <a:solidFill>
              <a:srgbClr val="FFFFFF"/>
            </a:solidFill>
            <a:ln/>
            <a:effectLst>
              <a:outerShdw blurRad="228600" dist="38100" dir="5400000" algn="bl" rotWithShape="0">
                <a:srgbClr val="3D3224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1" name="Image 2" descr="preencoded.png">
              <a:extLst>
                <a:ext uri="{FF2B5EF4-FFF2-40B4-BE49-F238E27FC236}">
                  <a16:creationId xmlns:a16="http://schemas.microsoft.com/office/drawing/2014/main" id="{49BE66EF-EA41-0D68-0871-054485DF2A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2500" y="7705229"/>
              <a:ext cx="16383000" cy="7751713"/>
            </a:xfrm>
            <a:prstGeom prst="rect">
              <a:avLst/>
            </a:prstGeom>
          </p:spPr>
        </p:pic>
        <p:sp>
          <p:nvSpPr>
            <p:cNvPr id="12" name="Text 7">
              <a:extLst>
                <a:ext uri="{FF2B5EF4-FFF2-40B4-BE49-F238E27FC236}">
                  <a16:creationId xmlns:a16="http://schemas.microsoft.com/office/drawing/2014/main" id="{A50F3601-05CA-0597-0653-F2A7728B0932}"/>
                </a:ext>
              </a:extLst>
            </p:cNvPr>
            <p:cNvSpPr/>
            <p:nvPr/>
          </p:nvSpPr>
          <p:spPr>
            <a:xfrm>
              <a:off x="1181100" y="15926842"/>
              <a:ext cx="16417290" cy="3905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32500" lnSpcReduction="20000"/>
            </a:bodyPr>
            <a:lstStyle/>
            <a:p>
              <a:pPr marL="0" indent="0" algn="l">
                <a:buNone/>
              </a:pPr>
              <a:r>
                <a:rPr lang="en-US" sz="1950" b="1" dirty="0">
                  <a:solidFill>
                    <a:srgbClr val="5C4A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커뮤니티 관리 (FAQ · 리뷰 · Q&amp;A)</a:t>
              </a:r>
              <a:endParaRPr lang="en-US" sz="1950" dirty="0"/>
            </a:p>
          </p:txBody>
        </p:sp>
      </p:grpSp>
    </p:spTree>
    <p:extLst>
      <p:ext uri="{BB962C8B-B14F-4D97-AF65-F5344CB8AC3E}">
        <p14:creationId xmlns:p14="http://schemas.microsoft.com/office/powerpoint/2010/main" val="22899423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10FF0-6798-AAA0-E4C4-EB474C230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DE4CDF4-4F86-7215-EB0B-F8D1DCB25DA0}"/>
              </a:ext>
            </a:extLst>
          </p:cNvPr>
          <p:cNvSpPr/>
          <p:nvPr/>
        </p:nvSpPr>
        <p:spPr>
          <a:xfrm>
            <a:off x="952500" y="952500"/>
            <a:ext cx="1687449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5C4A33"/>
                </a:solidFill>
                <a:latin typeface="Jokerman" panose="04090605060D06020702" pitchFamily="82" charset="0"/>
                <a:ea typeface="Arial" pitchFamily="34" charset="-122"/>
                <a:cs typeface="Arial" pitchFamily="34" charset="-120"/>
              </a:rPr>
              <a:t>Admin</a:t>
            </a:r>
            <a:r>
              <a:rPr lang="en-US" sz="4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관리 화면</a:t>
            </a:r>
            <a:endParaRPr lang="en-US" sz="4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FE0D329-A150-6205-359C-8E373AE3A9C3}"/>
              </a:ext>
            </a:extLst>
          </p:cNvPr>
          <p:cNvSpPr/>
          <p:nvPr/>
        </p:nvSpPr>
        <p:spPr>
          <a:xfrm>
            <a:off x="952500" y="2324100"/>
            <a:ext cx="1687449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상품 · 배너 · 커뮤니티를 한 곳에서 관리</a:t>
            </a:r>
            <a:endParaRPr lang="en-US" sz="255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84157829-1263-8F42-9FA0-5A754216106E}"/>
              </a:ext>
            </a:extLst>
          </p:cNvPr>
          <p:cNvGrpSpPr/>
          <p:nvPr/>
        </p:nvGrpSpPr>
        <p:grpSpPr>
          <a:xfrm>
            <a:off x="14096191" y="5653088"/>
            <a:ext cx="3149731" cy="1944305"/>
            <a:chOff x="9277350" y="2968625"/>
            <a:chExt cx="8071294" cy="4982347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29328926-AFEA-D26B-98DC-E1E4F4E095FD}"/>
                </a:ext>
              </a:extLst>
            </p:cNvPr>
            <p:cNvSpPr/>
            <p:nvPr/>
          </p:nvSpPr>
          <p:spPr>
            <a:xfrm>
              <a:off x="9277350" y="2968625"/>
              <a:ext cx="8058149" cy="4982347"/>
            </a:xfrm>
            <a:prstGeom prst="roundRect">
              <a:avLst>
                <a:gd name="adj" fmla="val 3352"/>
              </a:avLst>
            </a:prstGeom>
            <a:solidFill>
              <a:srgbClr val="FFFFFF"/>
            </a:solidFill>
            <a:ln/>
            <a:effectLst>
              <a:outerShdw blurRad="228600" dist="38100" dir="5400000" algn="bl" rotWithShape="0">
                <a:srgbClr val="3D3224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 sz="800"/>
            </a:p>
          </p:txBody>
        </p:sp>
        <p:pic>
          <p:nvPicPr>
            <p:cNvPr id="8" name="Image 1" descr="preencoded.png">
              <a:extLst>
                <a:ext uri="{FF2B5EF4-FFF2-40B4-BE49-F238E27FC236}">
                  <a16:creationId xmlns:a16="http://schemas.microsoft.com/office/drawing/2014/main" id="{BCF70DA8-1809-A3B4-D3D0-101C55851A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77350" y="2968625"/>
              <a:ext cx="8058150" cy="3812679"/>
            </a:xfrm>
            <a:prstGeom prst="rect">
              <a:avLst/>
            </a:prstGeom>
          </p:spPr>
        </p:pic>
        <p:sp>
          <p:nvSpPr>
            <p:cNvPr id="9" name="Text 5">
              <a:extLst>
                <a:ext uri="{FF2B5EF4-FFF2-40B4-BE49-F238E27FC236}">
                  <a16:creationId xmlns:a16="http://schemas.microsoft.com/office/drawing/2014/main" id="{03F211C5-5495-4BC2-32CC-0F3AE4BD3DA1}"/>
                </a:ext>
              </a:extLst>
            </p:cNvPr>
            <p:cNvSpPr/>
            <p:nvPr/>
          </p:nvSpPr>
          <p:spPr>
            <a:xfrm>
              <a:off x="9505950" y="6971804"/>
              <a:ext cx="7842694" cy="3905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5C4A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배너 관리</a:t>
              </a:r>
              <a:endParaRPr lang="en-US" sz="1200" dirty="0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A5D2E550-E523-F38E-E65F-99C2452E2DCE}"/>
              </a:ext>
            </a:extLst>
          </p:cNvPr>
          <p:cNvGrpSpPr/>
          <p:nvPr/>
        </p:nvGrpSpPr>
        <p:grpSpPr>
          <a:xfrm>
            <a:off x="461010" y="2917550"/>
            <a:ext cx="12661194" cy="6550563"/>
            <a:chOff x="952500" y="7705229"/>
            <a:chExt cx="16645890" cy="8612138"/>
          </a:xfrm>
        </p:grpSpPr>
        <p:sp>
          <p:nvSpPr>
            <p:cNvPr id="10" name="Shape 6">
              <a:extLst>
                <a:ext uri="{FF2B5EF4-FFF2-40B4-BE49-F238E27FC236}">
                  <a16:creationId xmlns:a16="http://schemas.microsoft.com/office/drawing/2014/main" id="{EA3346E9-8C42-937E-297A-46C75E2C59D0}"/>
                </a:ext>
              </a:extLst>
            </p:cNvPr>
            <p:cNvSpPr/>
            <p:nvPr/>
          </p:nvSpPr>
          <p:spPr>
            <a:xfrm>
              <a:off x="952500" y="7984626"/>
              <a:ext cx="16383000" cy="8332741"/>
            </a:xfrm>
            <a:prstGeom prst="roundRect">
              <a:avLst>
                <a:gd name="adj" fmla="val 1796"/>
              </a:avLst>
            </a:prstGeom>
            <a:solidFill>
              <a:srgbClr val="FFFFFF"/>
            </a:solidFill>
            <a:ln/>
            <a:effectLst>
              <a:outerShdw blurRad="228600" dist="38100" dir="5400000" algn="bl" rotWithShape="0">
                <a:srgbClr val="3D3224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1" name="Image 2" descr="preencoded.png">
              <a:extLst>
                <a:ext uri="{FF2B5EF4-FFF2-40B4-BE49-F238E27FC236}">
                  <a16:creationId xmlns:a16="http://schemas.microsoft.com/office/drawing/2014/main" id="{5C769A8D-D770-A5AB-A994-5E1C9CEFA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2500" y="7705229"/>
              <a:ext cx="16383000" cy="7751713"/>
            </a:xfrm>
            <a:prstGeom prst="rect">
              <a:avLst/>
            </a:prstGeom>
          </p:spPr>
        </p:pic>
        <p:sp>
          <p:nvSpPr>
            <p:cNvPr id="12" name="Text 7">
              <a:extLst>
                <a:ext uri="{FF2B5EF4-FFF2-40B4-BE49-F238E27FC236}">
                  <a16:creationId xmlns:a16="http://schemas.microsoft.com/office/drawing/2014/main" id="{9EA7B443-E8FD-968C-E0AA-520FA91EDB19}"/>
                </a:ext>
              </a:extLst>
            </p:cNvPr>
            <p:cNvSpPr/>
            <p:nvPr/>
          </p:nvSpPr>
          <p:spPr>
            <a:xfrm>
              <a:off x="1181100" y="15573458"/>
              <a:ext cx="16417290" cy="743909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lnSpcReduction="10000"/>
            </a:bodyPr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5C4A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커뮤니티 관리 (FAQ · 리뷰 · Q&amp;A)</a:t>
              </a:r>
              <a:endParaRPr lang="en-US" sz="3600" dirty="0"/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CF300957-9DA5-84DA-999B-C614CF6F550E}"/>
              </a:ext>
            </a:extLst>
          </p:cNvPr>
          <p:cNvGrpSpPr/>
          <p:nvPr/>
        </p:nvGrpSpPr>
        <p:grpSpPr>
          <a:xfrm>
            <a:off x="14132015" y="3320664"/>
            <a:ext cx="3118986" cy="1756749"/>
            <a:chOff x="952500" y="2968625"/>
            <a:chExt cx="8071294" cy="4546104"/>
          </a:xfrm>
        </p:grpSpPr>
        <p:sp>
          <p:nvSpPr>
            <p:cNvPr id="17" name="Shape 2">
              <a:extLst>
                <a:ext uri="{FF2B5EF4-FFF2-40B4-BE49-F238E27FC236}">
                  <a16:creationId xmlns:a16="http://schemas.microsoft.com/office/drawing/2014/main" id="{2389D38B-A385-C537-EEE5-0F055411A6F3}"/>
                </a:ext>
              </a:extLst>
            </p:cNvPr>
            <p:cNvSpPr/>
            <p:nvPr/>
          </p:nvSpPr>
          <p:spPr>
            <a:xfrm>
              <a:off x="952500" y="2968625"/>
              <a:ext cx="8058150" cy="4546104"/>
            </a:xfrm>
            <a:prstGeom prst="roundRect">
              <a:avLst>
                <a:gd name="adj" fmla="val 3352"/>
              </a:avLst>
            </a:prstGeom>
            <a:solidFill>
              <a:srgbClr val="FFFFFF"/>
            </a:solidFill>
            <a:ln/>
            <a:effectLst>
              <a:outerShdw blurRad="228600" dist="38100" dir="5400000" algn="bl" rotWithShape="0">
                <a:srgbClr val="3D3224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8" name="Image 0" descr="preencoded.png">
              <a:extLst>
                <a:ext uri="{FF2B5EF4-FFF2-40B4-BE49-F238E27FC236}">
                  <a16:creationId xmlns:a16="http://schemas.microsoft.com/office/drawing/2014/main" id="{54932F8F-4856-2DAD-3238-C10C742DC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2500" y="2968625"/>
              <a:ext cx="8058150" cy="3619202"/>
            </a:xfrm>
            <a:prstGeom prst="rect">
              <a:avLst/>
            </a:prstGeom>
          </p:spPr>
        </p:pic>
        <p:sp>
          <p:nvSpPr>
            <p:cNvPr id="19" name="Text 3">
              <a:extLst>
                <a:ext uri="{FF2B5EF4-FFF2-40B4-BE49-F238E27FC236}">
                  <a16:creationId xmlns:a16="http://schemas.microsoft.com/office/drawing/2014/main" id="{AE21FA5C-661A-DC05-6827-5B3C6E8F0FB5}"/>
                </a:ext>
              </a:extLst>
            </p:cNvPr>
            <p:cNvSpPr/>
            <p:nvPr/>
          </p:nvSpPr>
          <p:spPr>
            <a:xfrm>
              <a:off x="1181100" y="6778327"/>
              <a:ext cx="7842694" cy="39052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5C4A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상품 관리</a:t>
              </a:r>
              <a:endParaRPr lang="en-US" sz="9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2694420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D32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73315" y="5072815"/>
            <a:ext cx="4903869" cy="4903869"/>
          </a:xfrm>
          <a:prstGeom prst="ellipse">
            <a:avLst/>
          </a:prstGeom>
          <a:ln w="9525">
            <a:solidFill>
              <a:srgbClr val="C8956C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979287" y="4978787"/>
            <a:ext cx="7473176" cy="7473176"/>
          </a:xfrm>
          <a:prstGeom prst="ellipse">
            <a:avLst/>
          </a:prstGeom>
          <a:ln w="9525">
            <a:solidFill>
              <a:srgbClr val="C8956C">
                <a:alpha val="9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907256" y="4906756"/>
            <a:ext cx="9998487" cy="9998487"/>
          </a:xfrm>
          <a:prstGeom prst="ellipse">
            <a:avLst/>
          </a:prstGeom>
          <a:ln w="9525">
            <a:solidFill>
              <a:srgbClr val="C8956C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9" name="그룹 8"/>
          <p:cNvGrpSpPr/>
          <p:nvPr/>
        </p:nvGrpSpPr>
        <p:grpSpPr>
          <a:xfrm>
            <a:off x="8381851" y="3314700"/>
            <a:ext cx="1524000" cy="1524000"/>
            <a:chOff x="8381851" y="3314700"/>
            <a:chExt cx="1524000" cy="1524000"/>
          </a:xfrm>
        </p:grpSpPr>
        <p:sp>
          <p:nvSpPr>
            <p:cNvPr id="5" name="Shape 3"/>
            <p:cNvSpPr/>
            <p:nvPr/>
          </p:nvSpPr>
          <p:spPr>
            <a:xfrm>
              <a:off x="8381851" y="3314700"/>
              <a:ext cx="1524000" cy="1524000"/>
            </a:xfrm>
            <a:prstGeom prst="ellipse">
              <a:avLst/>
            </a:prstGeom>
            <a:solidFill>
              <a:srgbClr val="5C4A33"/>
            </a:solidFill>
            <a:ln/>
            <a:effectLst>
              <a:outerShdw blurRad="101600" dist="50800" dir="16200000" algn="bl" rotWithShape="0">
                <a:srgbClr val="C8956C">
                  <a:alpha val="8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6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00951" y="3733800"/>
              <a:ext cx="685800" cy="685800"/>
            </a:xfrm>
            <a:prstGeom prst="rect">
              <a:avLst/>
            </a:prstGeom>
          </p:spPr>
        </p:pic>
      </p:grpSp>
      <p:sp>
        <p:nvSpPr>
          <p:cNvPr id="7" name="Text 4"/>
          <p:cNvSpPr/>
          <p:nvPr/>
        </p:nvSpPr>
        <p:spPr>
          <a:xfrm>
            <a:off x="7222324" y="5295900"/>
            <a:ext cx="3843055" cy="1057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3EDE4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Live</a:t>
            </a:r>
            <a:r>
              <a:rPr lang="en-US" sz="6000" b="1" dirty="0">
                <a:solidFill>
                  <a:srgbClr val="F3ED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Demo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740675" y="6505575"/>
            <a:ext cx="4806501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sz="2550" dirty="0">
                <a:solidFill>
                  <a:srgbClr val="D4C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VARO Shopping Mall 실시간 시연</a:t>
            </a:r>
            <a:endParaRPr lang="en-US" sz="25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687449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소감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952500" y="2324100"/>
            <a:ext cx="5232350" cy="72009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/>
          <a:effectLst>
            <a:outerShdw blurRad="228600" dist="3810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333500" y="2705167"/>
            <a:ext cx="838200" cy="838200"/>
          </a:xfrm>
          <a:prstGeom prst="roundRect">
            <a:avLst>
              <a:gd name="adj" fmla="val 22727"/>
            </a:avLst>
          </a:prstGeom>
          <a:solidFill>
            <a:srgbClr val="F3EDE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3050" y="2914717"/>
            <a:ext cx="419100" cy="419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33500" y="3810000"/>
            <a:ext cx="4604461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느낀점</a:t>
            </a:r>
            <a:endParaRPr lang="en-US" sz="2850" dirty="0"/>
          </a:p>
        </p:txBody>
      </p:sp>
      <p:sp>
        <p:nvSpPr>
          <p:cNvPr id="7" name="Text 4"/>
          <p:cNvSpPr/>
          <p:nvPr/>
        </p:nvSpPr>
        <p:spPr>
          <a:xfrm>
            <a:off x="1333500" y="4524375"/>
            <a:ext cx="4604461" cy="2304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ko-KR" altLang="en-US" sz="21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쇼핑몰을 구매자 입장과 더불어 직접 운영하기 위한 사이트를 개발하면서</a:t>
            </a:r>
            <a:r>
              <a:rPr lang="en-US" altLang="ko-KR" sz="21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21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다양한 요소와 기술이 필요한 것을 알 수 있었습니다</a:t>
            </a:r>
            <a:r>
              <a:rPr lang="en-US" altLang="ko-KR" sz="21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</p:txBody>
      </p:sp>
      <p:sp>
        <p:nvSpPr>
          <p:cNvPr id="8" name="Shape 5"/>
          <p:cNvSpPr/>
          <p:nvPr/>
        </p:nvSpPr>
        <p:spPr>
          <a:xfrm>
            <a:off x="6527750" y="2324100"/>
            <a:ext cx="5232499" cy="72009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/>
          <a:effectLst>
            <a:outerShdw blurRad="228600" dist="3810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6908750" y="2710024"/>
            <a:ext cx="838200" cy="838200"/>
          </a:xfrm>
          <a:prstGeom prst="roundRect">
            <a:avLst>
              <a:gd name="adj" fmla="val 22727"/>
            </a:avLst>
          </a:prstGeom>
          <a:solidFill>
            <a:srgbClr val="F3EDE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300" y="2919574"/>
            <a:ext cx="419100" cy="4191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08750" y="3810000"/>
            <a:ext cx="4604614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반성할 점</a:t>
            </a:r>
            <a:endParaRPr lang="en-US" sz="2850" dirty="0"/>
          </a:p>
        </p:txBody>
      </p:sp>
      <p:sp>
        <p:nvSpPr>
          <p:cNvPr id="12" name="Text 8"/>
          <p:cNvSpPr/>
          <p:nvPr/>
        </p:nvSpPr>
        <p:spPr>
          <a:xfrm>
            <a:off x="6908750" y="4524374"/>
            <a:ext cx="4604614" cy="3311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70000"/>
              </a:lnSpc>
            </a:pPr>
            <a:r>
              <a:rPr lang="ko-KR" altLang="en-US" sz="21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 관리를 좀 더 체계적으로 하여</a:t>
            </a:r>
          </a:p>
          <a:p>
            <a:pPr>
              <a:lnSpc>
                <a:spcPct val="170000"/>
              </a:lnSpc>
            </a:pPr>
            <a:r>
              <a:rPr lang="ko-KR" altLang="en-US" sz="21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디버깅 작업을 늘리고</a:t>
            </a:r>
            <a:r>
              <a:rPr lang="en-US" altLang="ko-KR" sz="21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21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다양한 기존 플랫폼을 모니터링하면 더 나은 결과를 도출했을 것이라 생각합니다</a:t>
            </a:r>
            <a:r>
              <a:rPr lang="en-US" altLang="ko-KR" sz="21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12103150" y="2324100"/>
            <a:ext cx="5232350" cy="72009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/>
          <a:effectLst>
            <a:outerShdw blurRad="228600" dist="38100" dir="5400000" algn="bl" rotWithShape="0">
              <a:srgbClr val="3D3224">
                <a:alpha val="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12484150" y="2727817"/>
            <a:ext cx="838200" cy="838200"/>
          </a:xfrm>
          <a:prstGeom prst="roundRect">
            <a:avLst>
              <a:gd name="adj" fmla="val 22727"/>
            </a:avLst>
          </a:prstGeom>
          <a:solidFill>
            <a:srgbClr val="F3EDE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93700" y="2937367"/>
            <a:ext cx="419100" cy="4191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484150" y="3810000"/>
            <a:ext cx="4604461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5C4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배운점</a:t>
            </a:r>
            <a:endParaRPr lang="en-US" sz="2850" dirty="0"/>
          </a:p>
        </p:txBody>
      </p:sp>
      <p:sp>
        <p:nvSpPr>
          <p:cNvPr id="17" name="Text 12"/>
          <p:cNvSpPr/>
          <p:nvPr/>
        </p:nvSpPr>
        <p:spPr>
          <a:xfrm>
            <a:off x="12484150" y="4524375"/>
            <a:ext cx="4604461" cy="18514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2100" dirty="0">
                <a:solidFill>
                  <a:srgbClr val="7A62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기획부터 개발까지 혼자 해본 경험이 개발자로서의 자신감과 실력 향상에 큰 도움이 됐습니다.</a:t>
            </a:r>
            <a:endParaRPr lang="en-US" sz="2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4478000" y="-1207175"/>
            <a:ext cx="4762500" cy="4762500"/>
          </a:xfrm>
          <a:prstGeom prst="ellipse">
            <a:avLst/>
          </a:prstGeom>
          <a:solidFill>
            <a:srgbClr val="E8C9A8">
              <a:alpha val="3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571500" y="7650498"/>
            <a:ext cx="3333750" cy="3333751"/>
          </a:xfrm>
          <a:prstGeom prst="ellipse">
            <a:avLst/>
          </a:prstGeom>
          <a:solidFill>
            <a:srgbClr val="E8C9A8">
              <a:alpha val="2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951" y="2612664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80615" y="3609975"/>
            <a:ext cx="2726622" cy="1562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9000" b="1" dirty="0" smtClean="0">
                <a:solidFill>
                  <a:srgbClr val="5C4A33"/>
                </a:solidFill>
                <a:latin typeface="Arial Rounded MT Bold" panose="020F0704030504030204" pitchFamily="34" charset="0"/>
                <a:ea typeface="Arial" pitchFamily="34" charset="-122"/>
                <a:cs typeface="Arial" pitchFamily="34" charset="-120"/>
              </a:rPr>
              <a:t>Q&amp;A</a:t>
            </a:r>
            <a:endParaRPr lang="en-US" sz="9000" dirty="0">
              <a:latin typeface="Arial Rounded MT Bold" panose="020F070403050403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63610" y="5362575"/>
            <a:ext cx="396063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2550" dirty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궁금하신 점을 질문해 주세요</a:t>
            </a:r>
            <a:endParaRPr lang="en-US" sz="2550" dirty="0"/>
          </a:p>
        </p:txBody>
      </p:sp>
      <p:sp>
        <p:nvSpPr>
          <p:cNvPr id="8" name="Shape 5"/>
          <p:cNvSpPr/>
          <p:nvPr/>
        </p:nvSpPr>
        <p:spPr>
          <a:xfrm>
            <a:off x="8762851" y="6210300"/>
            <a:ext cx="762000" cy="19050"/>
          </a:xfrm>
          <a:prstGeom prst="rect">
            <a:avLst/>
          </a:prstGeom>
          <a:solidFill>
            <a:srgbClr val="C8956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993279" y="6534150"/>
            <a:ext cx="4301144" cy="212688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2100" b="1" dirty="0" smtClean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 하 율 </a:t>
            </a:r>
            <a:br>
              <a:rPr lang="en-US" sz="2100" b="1" dirty="0" smtClean="0">
                <a:solidFill>
                  <a:srgbClr val="9A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4000" dirty="0" smtClean="0">
                <a:solidFill>
                  <a:srgbClr val="9A7D52"/>
                </a:solidFill>
                <a:latin typeface="Brush Script MT" panose="03060802040406070304" pitchFamily="66" charset="0"/>
                <a:ea typeface="Arial" pitchFamily="34" charset="-122"/>
                <a:cs typeface="Arial" pitchFamily="34" charset="-120"/>
              </a:rPr>
              <a:t>Ohayul.me@gmail.com</a:t>
            </a:r>
            <a:endParaRPr lang="en-US" sz="4000" dirty="0">
              <a:latin typeface="Brush Script MT" panose="03060802040406070304" pitchFamily="66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1124</Words>
  <Application>Microsoft Office PowerPoint</Application>
  <PresentationFormat>사용자 지정</PresentationFormat>
  <Paragraphs>182</Paragraphs>
  <Slides>17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6" baseType="lpstr">
      <vt:lpstr>맑은 고딕</vt:lpstr>
      <vt:lpstr>Algerian</vt:lpstr>
      <vt:lpstr>Arial</vt:lpstr>
      <vt:lpstr>Arial Rounded MT Bold</vt:lpstr>
      <vt:lpstr>Brush Script MT</vt:lpstr>
      <vt:lpstr>Calibri</vt:lpstr>
      <vt:lpstr>Colonna MT</vt:lpstr>
      <vt:lpstr>Jokerman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admin</cp:lastModifiedBy>
  <cp:revision>26</cp:revision>
  <dcterms:created xsi:type="dcterms:W3CDTF">2026-04-28T08:27:12Z</dcterms:created>
  <dcterms:modified xsi:type="dcterms:W3CDTF">2026-04-29T05:47:35Z</dcterms:modified>
</cp:coreProperties>
</file>