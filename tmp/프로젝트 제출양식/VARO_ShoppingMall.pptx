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오하율입니다. 오늘 제가 혼자서 기획부터 개발까지 진행한 VARO 쇼핑몰 프로젝트를 소개해 드리겠습니다. 저는 비전공자로 개발을 시작했는데, 이 프로젝트를 통해 실제 쇼핑몰이 어떻게 만들어지는지 처음부터 끝까지 경험해 볼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 순서입니다. 먼저 프로젝트가 뭔지 간단히 소개하고, 어떤 기술을 썼는지, 어떻게 설계했는지 말씀드릴게요. 그 다음에 주요 기능들을 하나씩 보여드리고, 실제 동작하는 화면도 시연해 드리겠습니다. 마지막으로 이 프로젝트를 하면서 느낀 점을 공유하겠습니다.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VARO는 남성 패션 쇼핑몰입니다. 그냥 상품을 보여주는 단순한 사이트가 아니라, 회원이 아닌 분도 주문할 수 있고, 관리자가 매출을 한눈에 볼 수 있는 관리 화면까지 갖춘 종합 쇼핑몰이에요. 총 12가지 핵심 기능을 정의하고, 그걸 모두 구현하는 걸 목표로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기술들입니다. 쉽게 말하면, 화면에 보이는 부분은 자바스크립트와 CSS로 직접 만들었고, 뒤에서 데이터를 처리하는 서버는 Node.js라는 걸 썼어요. 상품이나 회원 정보를 저장하는 데이터베이스는 MySQL을 사용했고, 엑셀 데이터를 자동으로 읽어오는 기능도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화면은 프로젝트를 시작하기 전에 어떤 기능이 필요한지 정리한 요구사항 정의서입니다. 회원가입, 로그인, 상품 관리, 장바구니, 결제 같은 기능들을 하나하나 목록으로 만들고, 각각의 중요도를 매겨서 우선순위를 정했어요. 이렇게 미리 정리해두니까 개발할 때 빠뜨리는 기능 없이 체계적으로 진행할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구조를 간단히 설명드리면, 3층짜리 건물이라고 생각하시면 돼요. 1층은 사용자가 보는 화면, 2층은 데이터를 처리하는 서버, 3층은 정보를 저장하는 데이터베이스예요. 사용자가 상품을 클릭하면, 서버가 데이터베이스에서 정보를 가져와서 화면에 보여주는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다이어그램은 쇼핑몰을 누가, 어떻게 사용하는지를 그림으로 정리한 거예요. 왼쪽에 비회원, 아래쪽에 회원, 오른쪽에 관리자가 있고, 각각 할 수 있는 기능이 다릅니다. 비회원은 상품 검색과 주문만 가능하고, 회원은 리뷰 작성이나 장바구니 같은 추가 기능을 쓸 수 있어요. 관리자는 매출 확인이나 상품 관리 같은 운영 기능을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다이어그램은 쉽게 말해서 데이터를 어떤 구조로 저장할지 설계한 도면이에요. 총 11개의 테이블, 그러니까 11개의 정보 저장 공간을 만들었어요. 예를 들어 회원 정보, 상품 정보, 주문 내역 등이 각각 따로 저장되고, 서로 연결되어 있어서 '누가 어떤 상품을 주문했는지' 같은 정보를 쉽게 찾을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주요 기능은 로그인입니다. 직접 아이디와 비밀번호를 만들어서 가입할 수도 있고, 네이버, 카카오, 구글 같은 소셜 계정으로 간편하게 로그인할 수도 있어요. 보안을 위해서 JWT라는 방식으로 로그인 상태를 안전하게 관리하고 있습니다. 비밀번호는 암호화해서 저장하기 때문에 관리자도 볼 수 없어요.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쇼핑몰의 핵심인 상품 페이지예요. 화면에서 보시는 것처럼 주간 베스트 상품을 카테고리별로 보여주고, BEST, NEW, HOT, SALE 같은 배지를 달아서 한눈에 인기 상품을 알 수 있게 했어요. 상품 이미지에 마우스를 올리면 다른 각도의 사진도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장바구니와 결제 시스템이에요. 재미있는 건, 로그인 안 한 상태에서 장바구니에 담아놓은 상품이 나중에 로그인하면 자동으로 합쳐진다는 거예요. 그래서 상품이 사라지는 일이 없어요. 결제는 토스페이먼츠를 연동해서 카카오페이, 신용카드 등 다양한 방법으로 결제할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관리자 화면입니다. 관리자로 로그인하면 상품을 추가하거나 수정할 수 있고, 메인 배너 이미지도 바꿀 수 있어요. FAQ나 공지사항 같은 커뮤니티 게시판도 관리할 수 있습니다. 드래그해서 배너 순서를 바꾸거나, 상품에 NEW, HOT 같은 배지를 붙이는 것도 가능해요.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VARO 쇼핑몰을 라이브로 보여드리겠습니다. 메인 페이지부터 상품 검색, 장바구니, 결제, 그리고 관리자 화면까지 순서대로 시연하겠습니다.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마치며 느낀 점입니다. 쇼핑몰을 이용만 해봤지, 직접 만들어보니 정말 많은 요소가 필요하다는 걸 알게 됐어요. 시간 관리를 좀 더 잘했으면 좋았을 것 같고, 테스트를 더 꼼꼼하게 했어야 했다는 반성도 있습니다. 하지만 처음부터 끝까지 혼자 만들어본 경험은 정말 값지다고 생각해요.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VARO 쇼핑몰 발표를 마칩니다. 궁금하신 점이 있으시면 편하게 질문해 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7F2"/>
          </a:solidFill>
          <a:ln/>
        </p:spPr>
      </p:sp>
      <p:sp>
        <p:nvSpPr>
          <p:cNvPr id="3" name="Shape 1"/>
          <p:cNvSpPr/>
          <p:nvPr/>
        </p:nvSpPr>
        <p:spPr>
          <a:xfrm>
            <a:off x="14478000" y="-1151230"/>
            <a:ext cx="4762500" cy="4762500"/>
          </a:xfrm>
          <a:prstGeom prst="ellipse">
            <a:avLst/>
          </a:prstGeom>
          <a:solidFill>
            <a:srgbClr val="E8C9A8">
              <a:alpha val="35000"/>
            </a:srgbClr>
          </a:solidFill>
          <a:ln/>
        </p:spPr>
      </p:sp>
      <p:sp>
        <p:nvSpPr>
          <p:cNvPr id="4" name="Shape 2"/>
          <p:cNvSpPr/>
          <p:nvPr/>
        </p:nvSpPr>
        <p:spPr>
          <a:xfrm>
            <a:off x="-571500" y="7703291"/>
            <a:ext cx="3333750" cy="3333749"/>
          </a:xfrm>
          <a:prstGeom prst="ellipse">
            <a:avLst/>
          </a:prstGeom>
          <a:solidFill>
            <a:srgbClr val="E8C9A8">
              <a:alpha val="25000"/>
            </a:srgbClr>
          </a:solidFill>
          <a:ln/>
        </p:spPr>
      </p:sp>
      <p:sp>
        <p:nvSpPr>
          <p:cNvPr id="5" name="Shape 3"/>
          <p:cNvSpPr/>
          <p:nvPr/>
        </p:nvSpPr>
        <p:spPr>
          <a:xfrm>
            <a:off x="1828800" y="5107747"/>
            <a:ext cx="1905000" cy="1905000"/>
          </a:xfrm>
          <a:prstGeom prst="ellipse">
            <a:avLst/>
          </a:prstGeom>
          <a:solidFill>
            <a:srgbClr val="E8C9A8">
              <a:alpha val="15000"/>
            </a:srgbClr>
          </a:solidFill>
          <a:ln/>
        </p:spPr>
      </p:sp>
      <p:pic>
        <p:nvPicPr>
          <p:cNvPr id="6" name="Image 0" descr="preencoded.png">    </p:cNvPr>
          <p:cNvPicPr>
            <a:picLocks noChangeAspect="1"/>
          </p:cNvPicPr>
          <p:nvPr/>
        </p:nvPicPr>
        <p:blipFill>
          <a:blip r:embed="rId1"/>
          <a:stretch>
            <a:fillRect/>
          </a:stretch>
        </p:blipFill>
        <p:spPr>
          <a:xfrm>
            <a:off x="8801100" y="2691507"/>
            <a:ext cx="685800" cy="685800"/>
          </a:xfrm>
          <a:prstGeom prst="rect">
            <a:avLst/>
          </a:prstGeom>
        </p:spPr>
      </p:pic>
      <p:sp>
        <p:nvSpPr>
          <p:cNvPr id="7" name="Text 4"/>
          <p:cNvSpPr/>
          <p:nvPr/>
        </p:nvSpPr>
        <p:spPr>
          <a:xfrm>
            <a:off x="7130650" y="3638550"/>
            <a:ext cx="4026700" cy="1695450"/>
          </a:xfrm>
          <a:prstGeom prst="rect">
            <a:avLst/>
          </a:prstGeom>
          <a:noFill/>
          <a:ln/>
        </p:spPr>
        <p:txBody>
          <a:bodyPr wrap="square" lIns="25400" tIns="25400" rIns="25400" bIns="25400" rtlCol="0" anchor="t">
            <a:normAutofit/>
          </a:bodyPr>
          <a:lstStyle/>
          <a:p>
            <a:pPr algn="ctr" indent="0" marL="0">
              <a:buNone/>
            </a:pPr>
            <a:r>
              <a:rPr lang="en-US" sz="9750" b="1" spc="1050" kern="0" dirty="0">
                <a:solidFill>
                  <a:srgbClr val="5C4A33"/>
                </a:solidFill>
                <a:latin typeface="Arial" pitchFamily="34" charset="0"/>
                <a:ea typeface="Arial" pitchFamily="34" charset="-122"/>
                <a:cs typeface="Arial" pitchFamily="34" charset="-120"/>
              </a:rPr>
              <a:t>VARO</a:t>
            </a:r>
            <a:endParaRPr lang="en-US" sz="9750" dirty="0"/>
          </a:p>
        </p:txBody>
      </p:sp>
      <p:sp>
        <p:nvSpPr>
          <p:cNvPr id="8" name="Text 5"/>
          <p:cNvSpPr/>
          <p:nvPr/>
        </p:nvSpPr>
        <p:spPr>
          <a:xfrm>
            <a:off x="7130650" y="5295900"/>
            <a:ext cx="4026700" cy="457200"/>
          </a:xfrm>
          <a:prstGeom prst="rect">
            <a:avLst/>
          </a:prstGeom>
          <a:noFill/>
          <a:ln/>
        </p:spPr>
        <p:txBody>
          <a:bodyPr wrap="square" lIns="25400" tIns="25400" rIns="25400" bIns="25400" rtlCol="0" anchor="t">
            <a:normAutofit/>
          </a:bodyPr>
          <a:lstStyle/>
          <a:p>
            <a:pPr algn="ctr" indent="0" marL="0">
              <a:buNone/>
            </a:pPr>
            <a:r>
              <a:rPr lang="en-US" sz="2250" spc="600" kern="0" dirty="0">
                <a:solidFill>
                  <a:srgbClr val="9A7D52"/>
                </a:solidFill>
                <a:latin typeface="Arial" pitchFamily="34" charset="0"/>
                <a:ea typeface="Arial" pitchFamily="34" charset="-122"/>
                <a:cs typeface="Arial" pitchFamily="34" charset="-120"/>
              </a:rPr>
              <a:t>SHOPPING MALL</a:t>
            </a:r>
            <a:endParaRPr lang="en-US" sz="2250" dirty="0"/>
          </a:p>
        </p:txBody>
      </p:sp>
      <p:sp>
        <p:nvSpPr>
          <p:cNvPr id="9" name="Shape 6"/>
          <p:cNvSpPr/>
          <p:nvPr/>
        </p:nvSpPr>
        <p:spPr>
          <a:xfrm>
            <a:off x="8763000" y="6172200"/>
            <a:ext cx="762000" cy="19050"/>
          </a:xfrm>
          <a:prstGeom prst="rect">
            <a:avLst/>
          </a:prstGeom>
          <a:solidFill>
            <a:srgbClr val="C8956C"/>
          </a:solidFill>
          <a:ln/>
        </p:spPr>
      </p:sp>
      <p:sp>
        <p:nvSpPr>
          <p:cNvPr id="10" name="Text 7"/>
          <p:cNvSpPr/>
          <p:nvPr/>
        </p:nvSpPr>
        <p:spPr>
          <a:xfrm>
            <a:off x="7130650" y="6572250"/>
            <a:ext cx="4026700" cy="1028700"/>
          </a:xfrm>
          <a:prstGeom prst="rect">
            <a:avLst/>
          </a:prstGeom>
          <a:noFill/>
          <a:ln/>
        </p:spPr>
        <p:txBody>
          <a:bodyPr wrap="square" lIns="25400" tIns="25400" rIns="25400" bIns="25400" rtlCol="0" anchor="t">
            <a:normAutofit/>
          </a:bodyPr>
          <a:lstStyle/>
          <a:p>
            <a:pPr algn="ctr" indent="0" marL="0">
              <a:lnSpc>
                <a:spcPct val="200000"/>
              </a:lnSpc>
              <a:buNone/>
            </a:pPr>
            <a:r>
              <a:rPr lang="en-US" sz="1950" dirty="0">
                <a:solidFill>
                  <a:srgbClr val="7A6243"/>
                </a:solidFill>
                <a:latin typeface="Arial" pitchFamily="34" charset="0"/>
                <a:ea typeface="Arial" pitchFamily="34" charset="-122"/>
                <a:cs typeface="Arial" pitchFamily="34" charset="-120"/>
              </a:rPr>
              <a:t>발표자 : 오하율 2026. 04. 30</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847725"/>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Contents</a:t>
            </a:r>
            <a:endParaRPr lang="en-US" sz="4800" dirty="0"/>
          </a:p>
        </p:txBody>
      </p:sp>
      <p:sp>
        <p:nvSpPr>
          <p:cNvPr id="3" name="Shape 1"/>
          <p:cNvSpPr/>
          <p:nvPr/>
        </p:nvSpPr>
        <p:spPr>
          <a:xfrm>
            <a:off x="952500" y="3805237"/>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4" name="Text 2"/>
          <p:cNvSpPr/>
          <p:nvPr/>
        </p:nvSpPr>
        <p:spPr>
          <a:xfrm>
            <a:off x="1208008" y="4186238"/>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01</a:t>
            </a:r>
            <a:endParaRPr lang="en-US" sz="3900" dirty="0"/>
          </a:p>
        </p:txBody>
      </p:sp>
      <p:sp>
        <p:nvSpPr>
          <p:cNvPr id="5" name="Text 3"/>
          <p:cNvSpPr/>
          <p:nvPr/>
        </p:nvSpPr>
        <p:spPr>
          <a:xfrm>
            <a:off x="1208008" y="4995863"/>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프로젝트 개요</a:t>
            </a:r>
            <a:endParaRPr lang="en-US" sz="2100" dirty="0"/>
          </a:p>
        </p:txBody>
      </p:sp>
      <p:sp>
        <p:nvSpPr>
          <p:cNvPr id="6" name="Shape 4"/>
          <p:cNvSpPr/>
          <p:nvPr/>
        </p:nvSpPr>
        <p:spPr>
          <a:xfrm>
            <a:off x="5114925" y="3805237"/>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7" name="Text 5"/>
          <p:cNvSpPr/>
          <p:nvPr/>
        </p:nvSpPr>
        <p:spPr>
          <a:xfrm>
            <a:off x="5370433" y="4186238"/>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02</a:t>
            </a:r>
            <a:endParaRPr lang="en-US" sz="3900" dirty="0"/>
          </a:p>
        </p:txBody>
      </p:sp>
      <p:sp>
        <p:nvSpPr>
          <p:cNvPr id="8" name="Text 6"/>
          <p:cNvSpPr/>
          <p:nvPr/>
        </p:nvSpPr>
        <p:spPr>
          <a:xfrm>
            <a:off x="5370433" y="4995863"/>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기술 스택</a:t>
            </a:r>
            <a:endParaRPr lang="en-US" sz="2100" dirty="0"/>
          </a:p>
        </p:txBody>
      </p:sp>
      <p:sp>
        <p:nvSpPr>
          <p:cNvPr id="9" name="Shape 7"/>
          <p:cNvSpPr/>
          <p:nvPr/>
        </p:nvSpPr>
        <p:spPr>
          <a:xfrm>
            <a:off x="9277350" y="3805237"/>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10" name="Text 8"/>
          <p:cNvSpPr/>
          <p:nvPr/>
        </p:nvSpPr>
        <p:spPr>
          <a:xfrm>
            <a:off x="9532858" y="4186238"/>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03</a:t>
            </a:r>
            <a:endParaRPr lang="en-US" sz="3900" dirty="0"/>
          </a:p>
        </p:txBody>
      </p:sp>
      <p:sp>
        <p:nvSpPr>
          <p:cNvPr id="11" name="Text 9"/>
          <p:cNvSpPr/>
          <p:nvPr/>
        </p:nvSpPr>
        <p:spPr>
          <a:xfrm>
            <a:off x="9532858" y="4995863"/>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프로젝트 설계</a:t>
            </a:r>
            <a:endParaRPr lang="en-US" sz="2100" dirty="0"/>
          </a:p>
        </p:txBody>
      </p:sp>
      <p:sp>
        <p:nvSpPr>
          <p:cNvPr id="12" name="Shape 10"/>
          <p:cNvSpPr/>
          <p:nvPr/>
        </p:nvSpPr>
        <p:spPr>
          <a:xfrm>
            <a:off x="13439775" y="3805237"/>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13" name="Text 11"/>
          <p:cNvSpPr/>
          <p:nvPr/>
        </p:nvSpPr>
        <p:spPr>
          <a:xfrm>
            <a:off x="13695283" y="4186238"/>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04</a:t>
            </a:r>
            <a:endParaRPr lang="en-US" sz="3900" dirty="0"/>
          </a:p>
        </p:txBody>
      </p:sp>
      <p:sp>
        <p:nvSpPr>
          <p:cNvPr id="14" name="Text 12"/>
          <p:cNvSpPr/>
          <p:nvPr/>
        </p:nvSpPr>
        <p:spPr>
          <a:xfrm>
            <a:off x="13695283" y="4995863"/>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세부 기능</a:t>
            </a:r>
            <a:endParaRPr lang="en-US" sz="2100" dirty="0"/>
          </a:p>
        </p:txBody>
      </p:sp>
      <p:sp>
        <p:nvSpPr>
          <p:cNvPr id="15" name="Shape 13"/>
          <p:cNvSpPr/>
          <p:nvPr/>
        </p:nvSpPr>
        <p:spPr>
          <a:xfrm>
            <a:off x="952500" y="6024563"/>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16" name="Text 14"/>
          <p:cNvSpPr/>
          <p:nvPr/>
        </p:nvSpPr>
        <p:spPr>
          <a:xfrm>
            <a:off x="1208008" y="6405563"/>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05</a:t>
            </a:r>
            <a:endParaRPr lang="en-US" sz="3900" dirty="0"/>
          </a:p>
        </p:txBody>
      </p:sp>
      <p:sp>
        <p:nvSpPr>
          <p:cNvPr id="17" name="Text 15"/>
          <p:cNvSpPr/>
          <p:nvPr/>
        </p:nvSpPr>
        <p:spPr>
          <a:xfrm>
            <a:off x="1208008" y="7215188"/>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유스케이스</a:t>
            </a:r>
            <a:endParaRPr lang="en-US" sz="2100" dirty="0"/>
          </a:p>
        </p:txBody>
      </p:sp>
      <p:sp>
        <p:nvSpPr>
          <p:cNvPr id="18" name="Shape 16"/>
          <p:cNvSpPr/>
          <p:nvPr/>
        </p:nvSpPr>
        <p:spPr>
          <a:xfrm>
            <a:off x="5114925" y="6024563"/>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19" name="Text 17"/>
          <p:cNvSpPr/>
          <p:nvPr/>
        </p:nvSpPr>
        <p:spPr>
          <a:xfrm>
            <a:off x="5370433" y="6405563"/>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06</a:t>
            </a:r>
            <a:endParaRPr lang="en-US" sz="3900" dirty="0"/>
          </a:p>
        </p:txBody>
      </p:sp>
      <p:sp>
        <p:nvSpPr>
          <p:cNvPr id="20" name="Text 18"/>
          <p:cNvSpPr/>
          <p:nvPr/>
        </p:nvSpPr>
        <p:spPr>
          <a:xfrm>
            <a:off x="5370433" y="7215188"/>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시연</a:t>
            </a:r>
            <a:endParaRPr lang="en-US" sz="2100" dirty="0"/>
          </a:p>
        </p:txBody>
      </p:sp>
      <p:sp>
        <p:nvSpPr>
          <p:cNvPr id="21" name="Shape 19"/>
          <p:cNvSpPr/>
          <p:nvPr/>
        </p:nvSpPr>
        <p:spPr>
          <a:xfrm>
            <a:off x="9277350" y="6024563"/>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22" name="Text 20"/>
          <p:cNvSpPr/>
          <p:nvPr/>
        </p:nvSpPr>
        <p:spPr>
          <a:xfrm>
            <a:off x="9532858" y="6405563"/>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07</a:t>
            </a:r>
            <a:endParaRPr lang="en-US" sz="3900" dirty="0"/>
          </a:p>
        </p:txBody>
      </p:sp>
      <p:sp>
        <p:nvSpPr>
          <p:cNvPr id="23" name="Text 21"/>
          <p:cNvSpPr/>
          <p:nvPr/>
        </p:nvSpPr>
        <p:spPr>
          <a:xfrm>
            <a:off x="9532858" y="7215188"/>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소감</a:t>
            </a:r>
            <a:endParaRPr lang="en-US" sz="2100" dirty="0"/>
          </a:p>
        </p:txBody>
      </p:sp>
      <p:sp>
        <p:nvSpPr>
          <p:cNvPr id="24" name="Shape 22"/>
          <p:cNvSpPr/>
          <p:nvPr/>
        </p:nvSpPr>
        <p:spPr>
          <a:xfrm>
            <a:off x="13439775" y="6024563"/>
            <a:ext cx="3895725" cy="1952625"/>
          </a:xfrm>
          <a:prstGeom prst="roundRect">
            <a:avLst>
              <a:gd name="adj" fmla="val 7805"/>
            </a:avLst>
          </a:prstGeom>
          <a:solidFill>
            <a:srgbClr val="FFFFFF"/>
          </a:solidFill>
          <a:ln/>
          <a:effectLst>
            <a:outerShdw sx="100000" sy="100000" kx="0" ky="0" algn="bl" rotWithShape="0" blurRad="190500" dist="19050" dir="5400000">
              <a:srgbClr val="3D3224">
                <a:alpha val="6000"/>
              </a:srgbClr>
            </a:outerShdw>
          </a:effectLst>
        </p:spPr>
      </p:sp>
      <p:sp>
        <p:nvSpPr>
          <p:cNvPr id="25" name="Text 23"/>
          <p:cNvSpPr/>
          <p:nvPr/>
        </p:nvSpPr>
        <p:spPr>
          <a:xfrm>
            <a:off x="13695283" y="6405563"/>
            <a:ext cx="3384709" cy="695325"/>
          </a:xfrm>
          <a:prstGeom prst="rect">
            <a:avLst/>
          </a:prstGeom>
          <a:noFill/>
          <a:ln/>
        </p:spPr>
        <p:txBody>
          <a:bodyPr wrap="square" lIns="25400" tIns="25400" rIns="25400" bIns="25400" rtlCol="0" anchor="t">
            <a:normAutofit/>
          </a:bodyPr>
          <a:lstStyle/>
          <a:p>
            <a:pPr algn="ctr" indent="0" marL="0">
              <a:buNone/>
            </a:pPr>
            <a:r>
              <a:rPr lang="en-US" sz="3900" b="1" dirty="0">
                <a:solidFill>
                  <a:srgbClr val="C8956C"/>
                </a:solidFill>
                <a:latin typeface="Arial" pitchFamily="34" charset="0"/>
                <a:ea typeface="Arial" pitchFamily="34" charset="-122"/>
                <a:cs typeface="Arial" pitchFamily="34" charset="-120"/>
              </a:rPr>
              <a:t>08</a:t>
            </a:r>
            <a:endParaRPr lang="en-US" sz="3900" dirty="0"/>
          </a:p>
        </p:txBody>
      </p:sp>
      <p:sp>
        <p:nvSpPr>
          <p:cNvPr id="26" name="Text 24"/>
          <p:cNvSpPr/>
          <p:nvPr/>
        </p:nvSpPr>
        <p:spPr>
          <a:xfrm>
            <a:off x="13695283" y="7215188"/>
            <a:ext cx="3384709" cy="419100"/>
          </a:xfrm>
          <a:prstGeom prst="rect">
            <a:avLst/>
          </a:prstGeom>
          <a:noFill/>
          <a:ln/>
        </p:spPr>
        <p:txBody>
          <a:bodyPr wrap="square" lIns="25400" tIns="25400" rIns="25400" bIns="25400" rtlCol="0" anchor="t">
            <a:normAutofit/>
          </a:bodyPr>
          <a:lstStyle/>
          <a:p>
            <a:pPr algn="ctr" indent="0" marL="0">
              <a:buNone/>
            </a:pPr>
            <a:r>
              <a:rPr lang="en-US" sz="2100" dirty="0">
                <a:solidFill>
                  <a:srgbClr val="5C4A33"/>
                </a:solidFill>
                <a:latin typeface="Arial" pitchFamily="34" charset="0"/>
                <a:ea typeface="Arial" pitchFamily="34" charset="-122"/>
                <a:cs typeface="Arial" pitchFamily="34" charset="-120"/>
              </a:rPr>
              <a:t>Q&amp;A</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프로젝트 개요</a:t>
            </a:r>
            <a:endParaRPr lang="en-US" sz="4800" dirty="0"/>
          </a:p>
        </p:txBody>
      </p:sp>
      <p:sp>
        <p:nvSpPr>
          <p:cNvPr id="3" name="Shape 1"/>
          <p:cNvSpPr/>
          <p:nvPr/>
        </p:nvSpPr>
        <p:spPr>
          <a:xfrm>
            <a:off x="952500" y="2324100"/>
            <a:ext cx="5257800" cy="7200900"/>
          </a:xfrm>
          <a:prstGeom prst="roundRect">
            <a:avLst>
              <a:gd name="adj" fmla="val 3623"/>
            </a:avLst>
          </a:prstGeom>
          <a:solidFill>
            <a:srgbClr val="FFFFFF"/>
          </a:solidFill>
          <a:ln/>
          <a:effectLst>
            <a:outerShdw sx="100000" sy="100000" kx="0" ky="0" algn="bl" rotWithShape="0" blurRad="228600" dist="38100" dir="5400000">
              <a:srgbClr val="3D3224">
                <a:alpha val="6000"/>
              </a:srgbClr>
            </a:outerShdw>
          </a:effectLst>
        </p:spPr>
      </p:sp>
      <p:sp>
        <p:nvSpPr>
          <p:cNvPr id="4" name="Shape 2"/>
          <p:cNvSpPr/>
          <p:nvPr/>
        </p:nvSpPr>
        <p:spPr>
          <a:xfrm>
            <a:off x="3162300" y="4630033"/>
            <a:ext cx="838200" cy="838200"/>
          </a:xfrm>
          <a:prstGeom prst="roundRect">
            <a:avLst>
              <a:gd name="adj" fmla="val 22727"/>
            </a:avLst>
          </a:prstGeom>
          <a:solidFill>
            <a:srgbClr val="F3EDE4"/>
          </a:solidFill>
          <a:ln/>
        </p:spPr>
      </p:sp>
      <p:pic>
        <p:nvPicPr>
          <p:cNvPr id="5" name="Image 0" descr="preencoded.png">    </p:cNvPr>
          <p:cNvPicPr>
            <a:picLocks noChangeAspect="1"/>
          </p:cNvPicPr>
          <p:nvPr/>
        </p:nvPicPr>
        <p:blipFill>
          <a:blip r:embed="rId1"/>
          <a:stretch>
            <a:fillRect/>
          </a:stretch>
        </p:blipFill>
        <p:spPr>
          <a:xfrm>
            <a:off x="3371850" y="4839583"/>
            <a:ext cx="419100" cy="419100"/>
          </a:xfrm>
          <a:prstGeom prst="rect">
            <a:avLst/>
          </a:prstGeom>
        </p:spPr>
      </p:pic>
      <p:sp>
        <p:nvSpPr>
          <p:cNvPr id="6" name="Text 3"/>
          <p:cNvSpPr/>
          <p:nvPr/>
        </p:nvSpPr>
        <p:spPr>
          <a:xfrm>
            <a:off x="2798415" y="5683597"/>
            <a:ext cx="1565970"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프로젝트명</a:t>
            </a:r>
            <a:endParaRPr lang="en-US" sz="2550" dirty="0"/>
          </a:p>
        </p:txBody>
      </p:sp>
      <p:sp>
        <p:nvSpPr>
          <p:cNvPr id="7" name="Text 4"/>
          <p:cNvSpPr/>
          <p:nvPr/>
        </p:nvSpPr>
        <p:spPr>
          <a:xfrm>
            <a:off x="2293144" y="6340822"/>
            <a:ext cx="2576513" cy="891480"/>
          </a:xfrm>
          <a:prstGeom prst="rect">
            <a:avLst/>
          </a:prstGeom>
          <a:noFill/>
          <a:ln/>
        </p:spPr>
        <p:txBody>
          <a:bodyPr wrap="square" lIns="25400" tIns="25400" rIns="25400" bIns="25400" rtlCol="0" anchor="t">
            <a:normAutofit/>
          </a:bodyPr>
          <a:lstStyle/>
          <a:p>
            <a:pPr algn="ctr" indent="0" marL="0">
              <a:lnSpc>
                <a:spcPct val="160000"/>
              </a:lnSpc>
              <a:buNone/>
            </a:pPr>
            <a:r>
              <a:rPr lang="en-US" sz="2100" dirty="0">
                <a:solidFill>
                  <a:srgbClr val="7A6243"/>
                </a:solidFill>
                <a:latin typeface="Arial" pitchFamily="34" charset="0"/>
                <a:ea typeface="Arial" pitchFamily="34" charset="-122"/>
                <a:cs typeface="Arial" pitchFamily="34" charset="-120"/>
              </a:rPr>
              <a:t>VARO Shopping Mall </a:t>
            </a:r>
            <a:pPr algn="ctr" indent="0" marL="0">
              <a:lnSpc>
                <a:spcPct val="160000"/>
              </a:lnSpc>
              <a:buNone/>
            </a:pPr>
            <a:r>
              <a:rPr lang="en-US" sz="1800" dirty="0">
                <a:solidFill>
                  <a:srgbClr val="9A7D52"/>
                </a:solidFill>
                <a:latin typeface="Arial" pitchFamily="34" charset="0"/>
                <a:ea typeface="Arial" pitchFamily="34" charset="-122"/>
                <a:cs typeface="Arial" pitchFamily="34" charset="-120"/>
              </a:rPr>
              <a:t>남성 패션 종합 쇼핑몰</a:t>
            </a:r>
            <a:endParaRPr lang="en-US" sz="2100" dirty="0"/>
          </a:p>
        </p:txBody>
      </p:sp>
      <p:sp>
        <p:nvSpPr>
          <p:cNvPr id="8" name="Shape 5"/>
          <p:cNvSpPr/>
          <p:nvPr/>
        </p:nvSpPr>
        <p:spPr>
          <a:xfrm>
            <a:off x="6515100" y="2324100"/>
            <a:ext cx="5257800" cy="7200900"/>
          </a:xfrm>
          <a:prstGeom prst="roundRect">
            <a:avLst>
              <a:gd name="adj" fmla="val 3623"/>
            </a:avLst>
          </a:prstGeom>
          <a:solidFill>
            <a:srgbClr val="FFFFFF"/>
          </a:solidFill>
          <a:ln/>
          <a:effectLst>
            <a:outerShdw sx="100000" sy="100000" kx="0" ky="0" algn="bl" rotWithShape="0" blurRad="228600" dist="38100" dir="5400000">
              <a:srgbClr val="3D3224">
                <a:alpha val="6000"/>
              </a:srgbClr>
            </a:outerShdw>
          </a:effectLst>
        </p:spPr>
      </p:sp>
      <p:sp>
        <p:nvSpPr>
          <p:cNvPr id="9" name="Shape 6"/>
          <p:cNvSpPr/>
          <p:nvPr/>
        </p:nvSpPr>
        <p:spPr>
          <a:xfrm>
            <a:off x="8724900" y="4648897"/>
            <a:ext cx="838200" cy="838200"/>
          </a:xfrm>
          <a:prstGeom prst="roundRect">
            <a:avLst>
              <a:gd name="adj" fmla="val 22727"/>
            </a:avLst>
          </a:prstGeom>
          <a:solidFill>
            <a:srgbClr val="F3EDE4"/>
          </a:solidFill>
          <a:ln/>
        </p:spPr>
      </p:sp>
      <p:pic>
        <p:nvPicPr>
          <p:cNvPr id="10" name="Image 1" descr="preencoded.png">    </p:cNvPr>
          <p:cNvPicPr>
            <a:picLocks noChangeAspect="1"/>
          </p:cNvPicPr>
          <p:nvPr/>
        </p:nvPicPr>
        <p:blipFill>
          <a:blip r:embed="rId2"/>
          <a:stretch>
            <a:fillRect/>
          </a:stretch>
        </p:blipFill>
        <p:spPr>
          <a:xfrm>
            <a:off x="8934450" y="4858447"/>
            <a:ext cx="419100" cy="419100"/>
          </a:xfrm>
          <a:prstGeom prst="rect">
            <a:avLst/>
          </a:prstGeom>
        </p:spPr>
      </p:pic>
      <p:sp>
        <p:nvSpPr>
          <p:cNvPr id="11" name="Text 7"/>
          <p:cNvSpPr/>
          <p:nvPr/>
        </p:nvSpPr>
        <p:spPr>
          <a:xfrm>
            <a:off x="8464600" y="5683597"/>
            <a:ext cx="1358652"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주요 목표</a:t>
            </a:r>
            <a:endParaRPr lang="en-US" sz="2550" dirty="0"/>
          </a:p>
        </p:txBody>
      </p:sp>
      <p:sp>
        <p:nvSpPr>
          <p:cNvPr id="12" name="Text 8"/>
          <p:cNvSpPr/>
          <p:nvPr/>
        </p:nvSpPr>
        <p:spPr>
          <a:xfrm>
            <a:off x="7524920" y="6340822"/>
            <a:ext cx="3238161" cy="891480"/>
          </a:xfrm>
          <a:prstGeom prst="rect">
            <a:avLst/>
          </a:prstGeom>
          <a:noFill/>
          <a:ln/>
        </p:spPr>
        <p:txBody>
          <a:bodyPr wrap="square" lIns="25400" tIns="25400" rIns="25400" bIns="25400" rtlCol="0" anchor="t">
            <a:normAutofit/>
          </a:bodyPr>
          <a:lstStyle/>
          <a:p>
            <a:pPr algn="ctr" indent="0" marL="0">
              <a:lnSpc>
                <a:spcPct val="160000"/>
              </a:lnSpc>
              <a:buNone/>
            </a:pPr>
            <a:r>
              <a:rPr lang="en-US" sz="2100" dirty="0">
                <a:solidFill>
                  <a:srgbClr val="7A6243"/>
                </a:solidFill>
                <a:latin typeface="Arial" pitchFamily="34" charset="0"/>
                <a:ea typeface="Arial" pitchFamily="34" charset="-122"/>
                <a:cs typeface="Arial" pitchFamily="34" charset="-120"/>
              </a:rPr>
              <a:t>회원 · 비회원 · 관리자 3가지 역할의 통합 쇼핑 경험</a:t>
            </a:r>
            <a:endParaRPr lang="en-US" sz="2100" dirty="0"/>
          </a:p>
        </p:txBody>
      </p:sp>
      <p:sp>
        <p:nvSpPr>
          <p:cNvPr id="13" name="Shape 9"/>
          <p:cNvSpPr/>
          <p:nvPr/>
        </p:nvSpPr>
        <p:spPr>
          <a:xfrm>
            <a:off x="12077700" y="2324100"/>
            <a:ext cx="5257800" cy="7200900"/>
          </a:xfrm>
          <a:prstGeom prst="roundRect">
            <a:avLst>
              <a:gd name="adj" fmla="val 3623"/>
            </a:avLst>
          </a:prstGeom>
          <a:solidFill>
            <a:srgbClr val="FFFFFF"/>
          </a:solidFill>
          <a:ln/>
          <a:effectLst>
            <a:outerShdw sx="100000" sy="100000" kx="0" ky="0" algn="bl" rotWithShape="0" blurRad="228600" dist="38100" dir="5400000">
              <a:srgbClr val="3D3224">
                <a:alpha val="6000"/>
              </a:srgbClr>
            </a:outerShdw>
          </a:effectLst>
        </p:spPr>
      </p:sp>
      <p:sp>
        <p:nvSpPr>
          <p:cNvPr id="14" name="Shape 10"/>
          <p:cNvSpPr/>
          <p:nvPr/>
        </p:nvSpPr>
        <p:spPr>
          <a:xfrm>
            <a:off x="14287500" y="4533007"/>
            <a:ext cx="838200" cy="838200"/>
          </a:xfrm>
          <a:prstGeom prst="roundRect">
            <a:avLst>
              <a:gd name="adj" fmla="val 22727"/>
            </a:avLst>
          </a:prstGeom>
          <a:solidFill>
            <a:srgbClr val="F3EDE4"/>
          </a:solidFill>
          <a:ln/>
          <a:effectLst>
            <a:outerShdw sx="100000" sy="100000" kx="0" ky="0" algn="bl" rotWithShape="0" blurRad="101600" dist="50800" dir="16200000">
              <a:srgbClr val="C8956C">
                <a:alpha val="10000"/>
              </a:srgbClr>
            </a:outerShdw>
          </a:effectLst>
        </p:spPr>
      </p:sp>
      <p:pic>
        <p:nvPicPr>
          <p:cNvPr id="15" name="Image 2" descr="preencoded.png">    </p:cNvPr>
          <p:cNvPicPr>
            <a:picLocks noChangeAspect="1"/>
          </p:cNvPicPr>
          <p:nvPr/>
        </p:nvPicPr>
        <p:blipFill>
          <a:blip r:embed="rId3"/>
          <a:stretch>
            <a:fillRect/>
          </a:stretch>
        </p:blipFill>
        <p:spPr>
          <a:xfrm>
            <a:off x="14497050" y="4742557"/>
            <a:ext cx="419100" cy="419100"/>
          </a:xfrm>
          <a:prstGeom prst="rect">
            <a:avLst/>
          </a:prstGeom>
        </p:spPr>
      </p:pic>
      <p:sp>
        <p:nvSpPr>
          <p:cNvPr id="16" name="Text 11"/>
          <p:cNvSpPr/>
          <p:nvPr/>
        </p:nvSpPr>
        <p:spPr>
          <a:xfrm>
            <a:off x="13878223" y="5561707"/>
            <a:ext cx="1656606"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기능 충족률</a:t>
            </a:r>
            <a:endParaRPr lang="en-US" sz="2550" dirty="0"/>
          </a:p>
        </p:txBody>
      </p:sp>
      <p:sp>
        <p:nvSpPr>
          <p:cNvPr id="17" name="Text 12"/>
          <p:cNvSpPr/>
          <p:nvPr/>
        </p:nvSpPr>
        <p:spPr>
          <a:xfrm>
            <a:off x="14043720" y="6218932"/>
            <a:ext cx="1325761" cy="769590"/>
          </a:xfrm>
          <a:prstGeom prst="rect">
            <a:avLst/>
          </a:prstGeom>
          <a:noFill/>
          <a:ln/>
        </p:spPr>
        <p:txBody>
          <a:bodyPr wrap="square" lIns="25400" tIns="25400" rIns="25400" bIns="25400" rtlCol="0" anchor="t">
            <a:normAutofit/>
          </a:bodyPr>
          <a:lstStyle/>
          <a:p>
            <a:pPr algn="ctr" indent="0" marL="0">
              <a:lnSpc>
                <a:spcPct val="160000"/>
              </a:lnSpc>
              <a:buNone/>
            </a:pPr>
            <a:r>
              <a:rPr lang="en-US" sz="3600" b="1" dirty="0">
                <a:solidFill>
                  <a:srgbClr val="C8956C"/>
                </a:solidFill>
                <a:latin typeface="Arial" pitchFamily="34" charset="0"/>
                <a:ea typeface="Arial" pitchFamily="34" charset="-122"/>
                <a:cs typeface="Arial" pitchFamily="34" charset="-120"/>
              </a:rPr>
              <a:t>100%</a:t>
            </a:r>
            <a:endParaRPr lang="en-US" sz="3600" dirty="0"/>
          </a:p>
        </p:txBody>
      </p:sp>
      <p:sp>
        <p:nvSpPr>
          <p:cNvPr id="18" name="Text 13"/>
          <p:cNvSpPr/>
          <p:nvPr/>
        </p:nvSpPr>
        <p:spPr>
          <a:xfrm>
            <a:off x="13709898" y="6950422"/>
            <a:ext cx="1993255" cy="403771"/>
          </a:xfrm>
          <a:prstGeom prst="rect">
            <a:avLst/>
          </a:prstGeom>
          <a:noFill/>
          <a:ln/>
        </p:spPr>
        <p:txBody>
          <a:bodyPr wrap="square" lIns="25400" tIns="25400" rIns="25400" bIns="25400" rtlCol="0" anchor="t">
            <a:normAutofit/>
          </a:bodyPr>
          <a:lstStyle/>
          <a:p>
            <a:pPr algn="ctr" indent="0" marL="0">
              <a:lnSpc>
                <a:spcPct val="160000"/>
              </a:lnSpc>
              <a:buNone/>
            </a:pPr>
            <a:r>
              <a:rPr lang="en-US" sz="1800" dirty="0">
                <a:solidFill>
                  <a:srgbClr val="7A6243"/>
                </a:solidFill>
                <a:latin typeface="Arial" pitchFamily="34" charset="0"/>
                <a:ea typeface="Arial" pitchFamily="34" charset="-122"/>
                <a:cs typeface="Arial" pitchFamily="34" charset="-120"/>
              </a:rPr>
              <a:t>12개 핵심 기능 완성</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3EDE4"/>
          </a:solidFill>
          <a:ln/>
        </p:spPr>
      </p:sp>
      <p:sp>
        <p:nvSpPr>
          <p:cNvPr id="3" name="Text 1"/>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기술 스택</a:t>
            </a:r>
            <a:endParaRPr lang="en-US" sz="4800" dirty="0"/>
          </a:p>
        </p:txBody>
      </p:sp>
      <p:sp>
        <p:nvSpPr>
          <p:cNvPr id="4" name="Shape 2"/>
          <p:cNvSpPr/>
          <p:nvPr/>
        </p:nvSpPr>
        <p:spPr>
          <a:xfrm>
            <a:off x="952500" y="3190875"/>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5" name="Image 0" descr="preencoded.png">    </p:cNvPr>
          <p:cNvPicPr>
            <a:picLocks noChangeAspect="1"/>
          </p:cNvPicPr>
          <p:nvPr/>
        </p:nvPicPr>
        <p:blipFill>
          <a:blip r:embed="rId1">
            <a:alphaModFix amt="97000"/>
          </a:blip>
          <a:stretch>
            <a:fillRect/>
          </a:stretch>
        </p:blipFill>
        <p:spPr>
          <a:xfrm>
            <a:off x="2670705" y="3532718"/>
            <a:ext cx="459315" cy="459314"/>
          </a:xfrm>
          <a:prstGeom prst="rect">
            <a:avLst/>
          </a:prstGeom>
        </p:spPr>
      </p:pic>
      <p:sp>
        <p:nvSpPr>
          <p:cNvPr id="6" name="Text 3"/>
          <p:cNvSpPr/>
          <p:nvPr/>
        </p:nvSpPr>
        <p:spPr>
          <a:xfrm>
            <a:off x="1168765" y="4162425"/>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BACKEND</a:t>
            </a:r>
            <a:endParaRPr lang="en-US" sz="1800" dirty="0"/>
          </a:p>
        </p:txBody>
      </p:sp>
      <p:sp>
        <p:nvSpPr>
          <p:cNvPr id="7" name="Text 4"/>
          <p:cNvSpPr/>
          <p:nvPr/>
        </p:nvSpPr>
        <p:spPr>
          <a:xfrm>
            <a:off x="1168765" y="4591050"/>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Node.js</a:t>
            </a:r>
            <a:endParaRPr lang="en-US" sz="2550" dirty="0"/>
          </a:p>
        </p:txBody>
      </p:sp>
      <p:sp>
        <p:nvSpPr>
          <p:cNvPr id="8" name="Text 5"/>
          <p:cNvSpPr/>
          <p:nvPr/>
        </p:nvSpPr>
        <p:spPr>
          <a:xfrm>
            <a:off x="1168765" y="5114925"/>
            <a:ext cx="3463195"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Express 서버</a:t>
            </a:r>
            <a:endParaRPr lang="en-US" sz="1800" dirty="0"/>
          </a:p>
        </p:txBody>
      </p:sp>
      <p:sp>
        <p:nvSpPr>
          <p:cNvPr id="9" name="Shape 6"/>
          <p:cNvSpPr/>
          <p:nvPr/>
        </p:nvSpPr>
        <p:spPr>
          <a:xfrm>
            <a:off x="5114925" y="3190875"/>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10" name="Image 1" descr="preencoded.png">    </p:cNvPr>
          <p:cNvPicPr>
            <a:picLocks noChangeAspect="1"/>
          </p:cNvPicPr>
          <p:nvPr/>
        </p:nvPicPr>
        <p:blipFill>
          <a:blip r:embed="rId2">
            <a:alphaModFix amt="91000"/>
          </a:blip>
          <a:stretch>
            <a:fillRect/>
          </a:stretch>
        </p:blipFill>
        <p:spPr>
          <a:xfrm>
            <a:off x="6830885" y="3530472"/>
            <a:ext cx="463805" cy="463805"/>
          </a:xfrm>
          <a:prstGeom prst="rect">
            <a:avLst/>
          </a:prstGeom>
        </p:spPr>
      </p:pic>
      <p:sp>
        <p:nvSpPr>
          <p:cNvPr id="11" name="Text 7"/>
          <p:cNvSpPr/>
          <p:nvPr/>
        </p:nvSpPr>
        <p:spPr>
          <a:xfrm>
            <a:off x="5331190" y="4162425"/>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ORM</a:t>
            </a:r>
            <a:endParaRPr lang="en-US" sz="1800" dirty="0"/>
          </a:p>
        </p:txBody>
      </p:sp>
      <p:sp>
        <p:nvSpPr>
          <p:cNvPr id="12" name="Text 8"/>
          <p:cNvSpPr/>
          <p:nvPr/>
        </p:nvSpPr>
        <p:spPr>
          <a:xfrm>
            <a:off x="5331190" y="4591050"/>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Sequelize</a:t>
            </a:r>
            <a:endParaRPr lang="en-US" sz="2550" dirty="0"/>
          </a:p>
        </p:txBody>
      </p:sp>
      <p:sp>
        <p:nvSpPr>
          <p:cNvPr id="13" name="Text 9"/>
          <p:cNvSpPr/>
          <p:nvPr/>
        </p:nvSpPr>
        <p:spPr>
          <a:xfrm>
            <a:off x="5331190" y="5114925"/>
            <a:ext cx="3463195"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데이터 연결</a:t>
            </a:r>
            <a:endParaRPr lang="en-US" sz="1800" dirty="0"/>
          </a:p>
        </p:txBody>
      </p:sp>
      <p:sp>
        <p:nvSpPr>
          <p:cNvPr id="14" name="Shape 10"/>
          <p:cNvSpPr/>
          <p:nvPr/>
        </p:nvSpPr>
        <p:spPr>
          <a:xfrm>
            <a:off x="9277350" y="3190875"/>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15" name="Image 2" descr="preencoded.png">    </p:cNvPr>
          <p:cNvPicPr>
            <a:picLocks noChangeAspect="1"/>
          </p:cNvPicPr>
          <p:nvPr/>
        </p:nvPicPr>
        <p:blipFill>
          <a:blip r:embed="rId3">
            <a:alphaModFix amt="83000"/>
          </a:blip>
          <a:stretch>
            <a:fillRect/>
          </a:stretch>
        </p:blipFill>
        <p:spPr>
          <a:xfrm>
            <a:off x="10990259" y="3527421"/>
            <a:ext cx="469906" cy="469907"/>
          </a:xfrm>
          <a:prstGeom prst="rect">
            <a:avLst/>
          </a:prstGeom>
        </p:spPr>
      </p:pic>
      <p:sp>
        <p:nvSpPr>
          <p:cNvPr id="16" name="Text 11"/>
          <p:cNvSpPr/>
          <p:nvPr/>
        </p:nvSpPr>
        <p:spPr>
          <a:xfrm>
            <a:off x="9493615" y="4162425"/>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DATABASE</a:t>
            </a:r>
            <a:endParaRPr lang="en-US" sz="1800" dirty="0"/>
          </a:p>
        </p:txBody>
      </p:sp>
      <p:sp>
        <p:nvSpPr>
          <p:cNvPr id="17" name="Text 12"/>
          <p:cNvSpPr/>
          <p:nvPr/>
        </p:nvSpPr>
        <p:spPr>
          <a:xfrm>
            <a:off x="9493615" y="4591050"/>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MySQL</a:t>
            </a:r>
            <a:endParaRPr lang="en-US" sz="2550" dirty="0"/>
          </a:p>
        </p:txBody>
      </p:sp>
      <p:sp>
        <p:nvSpPr>
          <p:cNvPr id="18" name="Text 13"/>
          <p:cNvSpPr/>
          <p:nvPr/>
        </p:nvSpPr>
        <p:spPr>
          <a:xfrm>
            <a:off x="9493615" y="5114925"/>
            <a:ext cx="3463195"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11개 테이블</a:t>
            </a:r>
            <a:endParaRPr lang="en-US" sz="1800" dirty="0"/>
          </a:p>
        </p:txBody>
      </p:sp>
      <p:sp>
        <p:nvSpPr>
          <p:cNvPr id="19" name="Shape 14"/>
          <p:cNvSpPr/>
          <p:nvPr/>
        </p:nvSpPr>
        <p:spPr>
          <a:xfrm>
            <a:off x="13439775" y="3190875"/>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20" name="Image 3" descr="preencoded.png">    </p:cNvPr>
          <p:cNvPicPr>
            <a:picLocks noChangeAspect="1"/>
          </p:cNvPicPr>
          <p:nvPr/>
        </p:nvPicPr>
        <p:blipFill>
          <a:blip r:embed="rId4">
            <a:alphaModFix amt="76000"/>
          </a:blip>
          <a:stretch>
            <a:fillRect/>
          </a:stretch>
        </p:blipFill>
        <p:spPr>
          <a:xfrm>
            <a:off x="15149859" y="3524597"/>
            <a:ext cx="475557" cy="475556"/>
          </a:xfrm>
          <a:prstGeom prst="rect">
            <a:avLst/>
          </a:prstGeom>
        </p:spPr>
      </p:pic>
      <p:sp>
        <p:nvSpPr>
          <p:cNvPr id="21" name="Text 15"/>
          <p:cNvSpPr/>
          <p:nvPr/>
        </p:nvSpPr>
        <p:spPr>
          <a:xfrm>
            <a:off x="13656040" y="4162425"/>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FRONTEND</a:t>
            </a:r>
            <a:endParaRPr lang="en-US" sz="1800" dirty="0"/>
          </a:p>
        </p:txBody>
      </p:sp>
      <p:sp>
        <p:nvSpPr>
          <p:cNvPr id="22" name="Text 16"/>
          <p:cNvSpPr/>
          <p:nvPr/>
        </p:nvSpPr>
        <p:spPr>
          <a:xfrm>
            <a:off x="13656040" y="4591050"/>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Vanilla JS</a:t>
            </a:r>
            <a:endParaRPr lang="en-US" sz="2550" dirty="0"/>
          </a:p>
        </p:txBody>
      </p:sp>
      <p:sp>
        <p:nvSpPr>
          <p:cNvPr id="23" name="Text 17"/>
          <p:cNvSpPr/>
          <p:nvPr/>
        </p:nvSpPr>
        <p:spPr>
          <a:xfrm>
            <a:off x="13656040" y="5114925"/>
            <a:ext cx="346319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CSS3 · SVG</a:t>
            </a:r>
            <a:endParaRPr lang="en-US" sz="1800" dirty="0"/>
          </a:p>
        </p:txBody>
      </p:sp>
      <p:sp>
        <p:nvSpPr>
          <p:cNvPr id="24" name="Shape 18"/>
          <p:cNvSpPr/>
          <p:nvPr/>
        </p:nvSpPr>
        <p:spPr>
          <a:xfrm>
            <a:off x="952500" y="6057900"/>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25" name="Image 4" descr="preencoded.png">    </p:cNvPr>
          <p:cNvPicPr>
            <a:picLocks noChangeAspect="1"/>
          </p:cNvPicPr>
          <p:nvPr/>
        </p:nvPicPr>
        <p:blipFill>
          <a:blip r:embed="rId5">
            <a:alphaModFix amt="97000"/>
          </a:blip>
          <a:stretch>
            <a:fillRect/>
          </a:stretch>
        </p:blipFill>
        <p:spPr>
          <a:xfrm>
            <a:off x="2670705" y="6399743"/>
            <a:ext cx="459315" cy="459315"/>
          </a:xfrm>
          <a:prstGeom prst="rect">
            <a:avLst/>
          </a:prstGeom>
        </p:spPr>
      </p:pic>
      <p:sp>
        <p:nvSpPr>
          <p:cNvPr id="26" name="Text 19"/>
          <p:cNvSpPr/>
          <p:nvPr/>
        </p:nvSpPr>
        <p:spPr>
          <a:xfrm>
            <a:off x="1168765" y="7029450"/>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DATA</a:t>
            </a:r>
            <a:endParaRPr lang="en-US" sz="1800" dirty="0"/>
          </a:p>
        </p:txBody>
      </p:sp>
      <p:sp>
        <p:nvSpPr>
          <p:cNvPr id="27" name="Text 20"/>
          <p:cNvSpPr/>
          <p:nvPr/>
        </p:nvSpPr>
        <p:spPr>
          <a:xfrm>
            <a:off x="1168765" y="7458075"/>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ExcelJS</a:t>
            </a:r>
            <a:endParaRPr lang="en-US" sz="2550" dirty="0"/>
          </a:p>
        </p:txBody>
      </p:sp>
      <p:sp>
        <p:nvSpPr>
          <p:cNvPr id="28" name="Text 21"/>
          <p:cNvSpPr/>
          <p:nvPr/>
        </p:nvSpPr>
        <p:spPr>
          <a:xfrm>
            <a:off x="1168765" y="7981950"/>
            <a:ext cx="3463195"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데이터 파이프라인</a:t>
            </a:r>
            <a:endParaRPr lang="en-US" sz="1800" dirty="0"/>
          </a:p>
        </p:txBody>
      </p:sp>
      <p:sp>
        <p:nvSpPr>
          <p:cNvPr id="29" name="Shape 22"/>
          <p:cNvSpPr/>
          <p:nvPr/>
        </p:nvSpPr>
        <p:spPr>
          <a:xfrm>
            <a:off x="5114925" y="6057900"/>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30" name="Image 5" descr="preencoded.png">    </p:cNvPr>
          <p:cNvPicPr>
            <a:picLocks noChangeAspect="1"/>
          </p:cNvPicPr>
          <p:nvPr/>
        </p:nvPicPr>
        <p:blipFill>
          <a:blip r:embed="rId6">
            <a:alphaModFix amt="91000"/>
          </a:blip>
          <a:stretch>
            <a:fillRect/>
          </a:stretch>
        </p:blipFill>
        <p:spPr>
          <a:xfrm>
            <a:off x="6830885" y="6397497"/>
            <a:ext cx="463805" cy="463805"/>
          </a:xfrm>
          <a:prstGeom prst="rect">
            <a:avLst/>
          </a:prstGeom>
        </p:spPr>
      </p:pic>
      <p:sp>
        <p:nvSpPr>
          <p:cNvPr id="31" name="Text 23"/>
          <p:cNvSpPr/>
          <p:nvPr/>
        </p:nvSpPr>
        <p:spPr>
          <a:xfrm>
            <a:off x="5331190" y="7029450"/>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AUTH</a:t>
            </a:r>
            <a:endParaRPr lang="en-US" sz="1800" dirty="0"/>
          </a:p>
        </p:txBody>
      </p:sp>
      <p:sp>
        <p:nvSpPr>
          <p:cNvPr id="32" name="Text 24"/>
          <p:cNvSpPr/>
          <p:nvPr/>
        </p:nvSpPr>
        <p:spPr>
          <a:xfrm>
            <a:off x="5331190" y="7458075"/>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JWT</a:t>
            </a:r>
            <a:endParaRPr lang="en-US" sz="2550" dirty="0"/>
          </a:p>
        </p:txBody>
      </p:sp>
      <p:sp>
        <p:nvSpPr>
          <p:cNvPr id="33" name="Text 25"/>
          <p:cNvSpPr/>
          <p:nvPr/>
        </p:nvSpPr>
        <p:spPr>
          <a:xfrm>
            <a:off x="5331190" y="7981950"/>
            <a:ext cx="346319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OAuth 2.0</a:t>
            </a:r>
            <a:endParaRPr lang="en-US" sz="1800" dirty="0"/>
          </a:p>
        </p:txBody>
      </p:sp>
      <p:sp>
        <p:nvSpPr>
          <p:cNvPr id="34" name="Shape 26"/>
          <p:cNvSpPr/>
          <p:nvPr/>
        </p:nvSpPr>
        <p:spPr>
          <a:xfrm>
            <a:off x="9277350" y="6057900"/>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35" name="Image 6" descr="preencoded.png">    </p:cNvPr>
          <p:cNvPicPr>
            <a:picLocks noChangeAspect="1"/>
          </p:cNvPicPr>
          <p:nvPr/>
        </p:nvPicPr>
        <p:blipFill>
          <a:blip r:embed="rId7">
            <a:alphaModFix amt="83000"/>
          </a:blip>
          <a:stretch>
            <a:fillRect/>
          </a:stretch>
        </p:blipFill>
        <p:spPr>
          <a:xfrm>
            <a:off x="10990259" y="6394446"/>
            <a:ext cx="469906" cy="469907"/>
          </a:xfrm>
          <a:prstGeom prst="rect">
            <a:avLst/>
          </a:prstGeom>
        </p:spPr>
      </p:pic>
      <p:sp>
        <p:nvSpPr>
          <p:cNvPr id="36" name="Text 27"/>
          <p:cNvSpPr/>
          <p:nvPr/>
        </p:nvSpPr>
        <p:spPr>
          <a:xfrm>
            <a:off x="9493615" y="7029450"/>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DOCS</a:t>
            </a:r>
            <a:endParaRPr lang="en-US" sz="1800" dirty="0"/>
          </a:p>
        </p:txBody>
      </p:sp>
      <p:sp>
        <p:nvSpPr>
          <p:cNvPr id="37" name="Text 28"/>
          <p:cNvSpPr/>
          <p:nvPr/>
        </p:nvSpPr>
        <p:spPr>
          <a:xfrm>
            <a:off x="9493615" y="7458075"/>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PlantUML</a:t>
            </a:r>
            <a:endParaRPr lang="en-US" sz="2550" dirty="0"/>
          </a:p>
        </p:txBody>
      </p:sp>
      <p:sp>
        <p:nvSpPr>
          <p:cNvPr id="38" name="Text 29"/>
          <p:cNvSpPr/>
          <p:nvPr/>
        </p:nvSpPr>
        <p:spPr>
          <a:xfrm>
            <a:off x="9493615" y="7981950"/>
            <a:ext cx="346319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Mermaid.js</a:t>
            </a:r>
            <a:endParaRPr lang="en-US" sz="1800" dirty="0"/>
          </a:p>
        </p:txBody>
      </p:sp>
      <p:sp>
        <p:nvSpPr>
          <p:cNvPr id="39" name="Shape 30"/>
          <p:cNvSpPr/>
          <p:nvPr/>
        </p:nvSpPr>
        <p:spPr>
          <a:xfrm>
            <a:off x="13439775" y="6057900"/>
            <a:ext cx="3895725" cy="2600325"/>
          </a:xfrm>
          <a:prstGeom prst="roundRect">
            <a:avLst>
              <a:gd name="adj" fmla="val 5861"/>
            </a:avLst>
          </a:prstGeom>
          <a:solidFill>
            <a:srgbClr val="FFFFFF"/>
          </a:solidFill>
          <a:ln/>
          <a:effectLst>
            <a:outerShdw sx="100000" sy="100000" kx="0" ky="0" algn="bl" rotWithShape="0" blurRad="152400" dist="19050" dir="5400000">
              <a:srgbClr val="3D3224">
                <a:alpha val="6000"/>
              </a:srgbClr>
            </a:outerShdw>
          </a:effectLst>
        </p:spPr>
      </p:sp>
      <p:pic>
        <p:nvPicPr>
          <p:cNvPr id="40" name="Image 7" descr="preencoded.png">    </p:cNvPr>
          <p:cNvPicPr>
            <a:picLocks noChangeAspect="1"/>
          </p:cNvPicPr>
          <p:nvPr/>
        </p:nvPicPr>
        <p:blipFill>
          <a:blip r:embed="rId8">
            <a:alphaModFix amt="76000"/>
          </a:blip>
          <a:stretch>
            <a:fillRect/>
          </a:stretch>
        </p:blipFill>
        <p:spPr>
          <a:xfrm>
            <a:off x="15149859" y="6391622"/>
            <a:ext cx="475557" cy="475556"/>
          </a:xfrm>
          <a:prstGeom prst="rect">
            <a:avLst/>
          </a:prstGeom>
        </p:spPr>
      </p:pic>
      <p:sp>
        <p:nvSpPr>
          <p:cNvPr id="41" name="Text 31"/>
          <p:cNvSpPr/>
          <p:nvPr/>
        </p:nvSpPr>
        <p:spPr>
          <a:xfrm>
            <a:off x="13656040" y="7029450"/>
            <a:ext cx="3463195" cy="371475"/>
          </a:xfrm>
          <a:prstGeom prst="rect">
            <a:avLst/>
          </a:prstGeom>
          <a:noFill/>
          <a:ln/>
        </p:spPr>
        <p:txBody>
          <a:bodyPr wrap="square" lIns="25400" tIns="25400" rIns="25400" bIns="25400" rtlCol="0" anchor="t">
            <a:normAutofit/>
          </a:bodyPr>
          <a:lstStyle/>
          <a:p>
            <a:pPr algn="ctr" indent="0" marL="0">
              <a:buNone/>
            </a:pPr>
            <a:r>
              <a:rPr lang="en-US" sz="1800" spc="150" kern="0" dirty="0">
                <a:solidFill>
                  <a:srgbClr val="9A7D52"/>
                </a:solidFill>
                <a:latin typeface="Arial" pitchFamily="34" charset="0"/>
                <a:ea typeface="Arial" pitchFamily="34" charset="-122"/>
                <a:cs typeface="Arial" pitchFamily="34" charset="-120"/>
              </a:rPr>
              <a:t>UI</a:t>
            </a:r>
            <a:endParaRPr lang="en-US" sz="1800" dirty="0"/>
          </a:p>
        </p:txBody>
      </p:sp>
      <p:sp>
        <p:nvSpPr>
          <p:cNvPr id="42" name="Text 32"/>
          <p:cNvSpPr/>
          <p:nvPr/>
        </p:nvSpPr>
        <p:spPr>
          <a:xfrm>
            <a:off x="13656040" y="7458075"/>
            <a:ext cx="3463195" cy="504825"/>
          </a:xfrm>
          <a:prstGeom prst="rect">
            <a:avLst/>
          </a:prstGeom>
          <a:noFill/>
          <a:ln/>
        </p:spPr>
        <p:txBody>
          <a:bodyPr wrap="square" lIns="25400" tIns="25400" rIns="25400" bIns="25400" rtlCol="0" anchor="t">
            <a:normAutofit/>
          </a:bodyPr>
          <a:lstStyle/>
          <a:p>
            <a:pPr algn="ctr" indent="0" marL="0">
              <a:buNone/>
            </a:pPr>
            <a:r>
              <a:rPr lang="en-US" sz="2550" b="1" dirty="0">
                <a:solidFill>
                  <a:srgbClr val="5C4A33"/>
                </a:solidFill>
                <a:latin typeface="Arial" pitchFamily="34" charset="0"/>
                <a:ea typeface="Arial" pitchFamily="34" charset="-122"/>
                <a:cs typeface="Arial" pitchFamily="34" charset="-120"/>
              </a:rPr>
              <a:t>Glassmorphism</a:t>
            </a:r>
            <a:endParaRPr lang="en-US" sz="2550" dirty="0"/>
          </a:p>
        </p:txBody>
      </p:sp>
      <p:sp>
        <p:nvSpPr>
          <p:cNvPr id="43" name="Text 33"/>
          <p:cNvSpPr/>
          <p:nvPr/>
        </p:nvSpPr>
        <p:spPr>
          <a:xfrm>
            <a:off x="13656040" y="7981950"/>
            <a:ext cx="3463195"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9A7D52"/>
                </a:solidFill>
                <a:latin typeface="Arial" pitchFamily="34" charset="0"/>
                <a:ea typeface="Arial" pitchFamily="34" charset="-122"/>
                <a:cs typeface="Arial" pitchFamily="34" charset="-120"/>
              </a:rPr>
              <a:t>라이트 모드</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요구사항 정의서</a:t>
            </a:r>
            <a:endParaRPr lang="en-US" sz="4800" dirty="0"/>
          </a:p>
        </p:txBody>
      </p:sp>
      <p:sp>
        <p:nvSpPr>
          <p:cNvPr id="3" name="Text 1"/>
          <p:cNvSpPr/>
          <p:nvPr/>
        </p:nvSpPr>
        <p:spPr>
          <a:xfrm>
            <a:off x="952500" y="2324100"/>
            <a:ext cx="1687449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9A7D52"/>
                </a:solidFill>
                <a:latin typeface="Arial" pitchFamily="34" charset="0"/>
                <a:ea typeface="Arial" pitchFamily="34" charset="-122"/>
                <a:cs typeface="Arial" pitchFamily="34" charset="-120"/>
              </a:rPr>
              <a:t>12개 핵심 기능 요구사항 (FR-01 ~ FR-12)</a:t>
            </a:r>
            <a:endParaRPr lang="en-US" sz="2550" dirty="0"/>
          </a:p>
        </p:txBody>
      </p:sp>
      <p:sp>
        <p:nvSpPr>
          <p:cNvPr id="4" name="Shape 2"/>
          <p:cNvSpPr/>
          <p:nvPr/>
        </p:nvSpPr>
        <p:spPr>
          <a:xfrm>
            <a:off x="2671763" y="4352925"/>
            <a:ext cx="12944475" cy="3876675"/>
          </a:xfrm>
          <a:prstGeom prst="roundRect">
            <a:avLst>
              <a:gd name="adj" fmla="val 3931"/>
            </a:avLst>
          </a:prstGeom>
          <a:ln/>
          <a:effectLst>
            <a:outerShdw sx="100000" sy="100000" kx="0" ky="0" algn="bl" rotWithShape="0" blurRad="381000" dist="76200" dir="5400000">
              <a:srgbClr val="3D3224">
                <a:alpha val="12000"/>
              </a:srgbClr>
            </a:outerShdw>
          </a:effectLst>
        </p:spPr>
      </p:sp>
      <p:pic>
        <p:nvPicPr>
          <p:cNvPr id="5" name="Image 0" descr="preencoded.png">    </p:cNvPr>
          <p:cNvPicPr>
            <a:picLocks noChangeAspect="1"/>
          </p:cNvPicPr>
          <p:nvPr/>
        </p:nvPicPr>
        <p:blipFill>
          <a:blip r:embed="rId1"/>
          <a:srcRect l="0" r="0" t="0" b="0"/>
          <a:stretch/>
        </p:blipFill>
        <p:spPr>
          <a:xfrm>
            <a:off x="2671763" y="4352925"/>
            <a:ext cx="12944475" cy="3876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시스템 아키텍처</a:t>
            </a:r>
            <a:endParaRPr lang="en-US" sz="4800" dirty="0"/>
          </a:p>
        </p:txBody>
      </p:sp>
      <p:sp>
        <p:nvSpPr>
          <p:cNvPr id="3" name="Text 1"/>
          <p:cNvSpPr/>
          <p:nvPr/>
        </p:nvSpPr>
        <p:spPr>
          <a:xfrm>
            <a:off x="952500" y="2324100"/>
            <a:ext cx="1687449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9A7D52"/>
                </a:solidFill>
                <a:latin typeface="Arial" pitchFamily="34" charset="0"/>
                <a:ea typeface="Arial" pitchFamily="34" charset="-122"/>
                <a:cs typeface="Arial" pitchFamily="34" charset="-120"/>
              </a:rPr>
              <a:t>3층 구조로 설계된 시스템</a:t>
            </a:r>
            <a:endParaRPr lang="en-US" sz="2550" dirty="0"/>
          </a:p>
        </p:txBody>
      </p:sp>
      <p:sp>
        <p:nvSpPr>
          <p:cNvPr id="4" name="Shape 2"/>
          <p:cNvSpPr/>
          <p:nvPr/>
        </p:nvSpPr>
        <p:spPr>
          <a:xfrm>
            <a:off x="952500" y="4473922"/>
            <a:ext cx="4673501" cy="3634680"/>
          </a:xfrm>
          <a:prstGeom prst="roundRect">
            <a:avLst>
              <a:gd name="adj" fmla="val 5241"/>
            </a:avLst>
          </a:prstGeom>
          <a:solidFill>
            <a:srgbClr val="FFFFFF"/>
          </a:solidFill>
          <a:ln/>
          <a:effectLst>
            <a:outerShdw sx="100000" sy="100000" kx="0" ky="0" algn="bl" rotWithShape="0" blurRad="228600" dist="38100" dir="5400000">
              <a:srgbClr val="3D3224">
                <a:alpha val="6000"/>
              </a:srgbClr>
            </a:outerShdw>
          </a:effectLst>
        </p:spPr>
      </p:sp>
      <p:sp>
        <p:nvSpPr>
          <p:cNvPr id="5" name="Shape 3"/>
          <p:cNvSpPr/>
          <p:nvPr/>
        </p:nvSpPr>
        <p:spPr>
          <a:xfrm>
            <a:off x="952500" y="4473922"/>
            <a:ext cx="4673501" cy="38100"/>
          </a:xfrm>
          <a:prstGeom prst="rect">
            <a:avLst/>
          </a:prstGeom>
          <a:solidFill>
            <a:srgbClr val="C8956C"/>
          </a:solidFill>
          <a:ln/>
        </p:spPr>
      </p:sp>
      <p:pic>
        <p:nvPicPr>
          <p:cNvPr id="6" name="Image 0" descr="preencoded.png">    </p:cNvPr>
          <p:cNvPicPr>
            <a:picLocks noChangeAspect="1"/>
          </p:cNvPicPr>
          <p:nvPr/>
        </p:nvPicPr>
        <p:blipFill>
          <a:blip r:embed="rId1"/>
          <a:stretch>
            <a:fillRect/>
          </a:stretch>
        </p:blipFill>
        <p:spPr>
          <a:xfrm>
            <a:off x="3041600" y="4913535"/>
            <a:ext cx="495300" cy="495300"/>
          </a:xfrm>
          <a:prstGeom prst="rect">
            <a:avLst/>
          </a:prstGeom>
        </p:spPr>
      </p:pic>
      <p:sp>
        <p:nvSpPr>
          <p:cNvPr id="7" name="Text 4"/>
          <p:cNvSpPr/>
          <p:nvPr/>
        </p:nvSpPr>
        <p:spPr>
          <a:xfrm>
            <a:off x="2602706" y="5578822"/>
            <a:ext cx="1373088" cy="390525"/>
          </a:xfrm>
          <a:prstGeom prst="rect">
            <a:avLst/>
          </a:prstGeom>
          <a:noFill/>
          <a:ln/>
        </p:spPr>
        <p:txBody>
          <a:bodyPr wrap="square" lIns="25400" tIns="25400" rIns="25400" bIns="25400" rtlCol="0" anchor="t">
            <a:normAutofit/>
          </a:bodyPr>
          <a:lstStyle/>
          <a:p>
            <a:pPr algn="ctr" indent="0" marL="0">
              <a:buNone/>
            </a:pPr>
            <a:r>
              <a:rPr lang="en-US" sz="1950" b="1" spc="225" kern="0" dirty="0">
                <a:solidFill>
                  <a:srgbClr val="C8956C"/>
                </a:solidFill>
                <a:latin typeface="Arial" pitchFamily="34" charset="0"/>
                <a:ea typeface="Arial" pitchFamily="34" charset="-122"/>
                <a:cs typeface="Arial" pitchFamily="34" charset="-120"/>
              </a:rPr>
              <a:t>1층 · 화면</a:t>
            </a:r>
            <a:endParaRPr lang="en-US" sz="1950" dirty="0"/>
          </a:p>
        </p:txBody>
      </p:sp>
      <p:sp>
        <p:nvSpPr>
          <p:cNvPr id="8" name="Text 5"/>
          <p:cNvSpPr/>
          <p:nvPr/>
        </p:nvSpPr>
        <p:spPr>
          <a:xfrm>
            <a:off x="2367855" y="6121747"/>
            <a:ext cx="1842641" cy="561975"/>
          </a:xfrm>
          <a:prstGeom prst="rect">
            <a:avLst/>
          </a:prstGeom>
          <a:noFill/>
          <a:ln/>
        </p:spPr>
        <p:txBody>
          <a:bodyPr wrap="square" lIns="25400" tIns="25400" rIns="25400" bIns="25400" rtlCol="0" anchor="t">
            <a:normAutofit/>
          </a:bodyPr>
          <a:lstStyle/>
          <a:p>
            <a:pPr algn="ctr" indent="0" marL="0">
              <a:buNone/>
            </a:pPr>
            <a:r>
              <a:rPr lang="en-US" sz="2850" b="1" dirty="0">
                <a:solidFill>
                  <a:srgbClr val="5C4A33"/>
                </a:solidFill>
                <a:latin typeface="Arial" pitchFamily="34" charset="0"/>
                <a:ea typeface="Arial" pitchFamily="34" charset="-122"/>
                <a:cs typeface="Arial" pitchFamily="34" charset="-120"/>
              </a:rPr>
              <a:t>웹 브라우저</a:t>
            </a:r>
            <a:endParaRPr lang="en-US" sz="2850" dirty="0"/>
          </a:p>
        </p:txBody>
      </p:sp>
      <p:sp>
        <p:nvSpPr>
          <p:cNvPr id="9" name="Text 6"/>
          <p:cNvSpPr/>
          <p:nvPr/>
        </p:nvSpPr>
        <p:spPr>
          <a:xfrm>
            <a:off x="2191345" y="6798022"/>
            <a:ext cx="2195661" cy="929580"/>
          </a:xfrm>
          <a:prstGeom prst="rect">
            <a:avLst/>
          </a:prstGeom>
          <a:noFill/>
          <a:ln/>
        </p:spPr>
        <p:txBody>
          <a:bodyPr wrap="square" lIns="25400" tIns="25400" rIns="25400" bIns="25400" rtlCol="0" anchor="t">
            <a:normAutofit/>
          </a:bodyPr>
          <a:lstStyle/>
          <a:p>
            <a:pPr algn="ctr" indent="0" marL="0">
              <a:lnSpc>
                <a:spcPct val="180000"/>
              </a:lnSpc>
              <a:buNone/>
            </a:pPr>
            <a:r>
              <a:rPr lang="en-US" sz="1950" dirty="0">
                <a:solidFill>
                  <a:srgbClr val="9A7D52"/>
                </a:solidFill>
                <a:latin typeface="Arial" pitchFamily="34" charset="0"/>
                <a:ea typeface="Arial" pitchFamily="34" charset="-122"/>
                <a:cs typeface="Arial" pitchFamily="34" charset="-120"/>
              </a:rPr>
              <a:t>사용자가 보는 화면 글래스모피즘 디자인</a:t>
            </a:r>
            <a:endParaRPr lang="en-US" sz="1950" dirty="0"/>
          </a:p>
        </p:txBody>
      </p:sp>
      <p:sp>
        <p:nvSpPr>
          <p:cNvPr id="10" name="Text 7"/>
          <p:cNvSpPr/>
          <p:nvPr/>
        </p:nvSpPr>
        <p:spPr>
          <a:xfrm>
            <a:off x="6007001" y="6053138"/>
            <a:ext cx="495300" cy="514350"/>
          </a:xfrm>
          <a:prstGeom prst="rect">
            <a:avLst/>
          </a:prstGeom>
          <a:noFill/>
          <a:ln/>
        </p:spPr>
        <p:txBody>
          <a:bodyPr wrap="square" lIns="25400" tIns="25400" rIns="25400" bIns="25400" rtlCol="0" anchor="t">
            <a:normAutofit/>
          </a:bodyPr>
          <a:lstStyle/>
          <a:p>
            <a:pPr algn="l" indent="0" marL="0">
              <a:buNone/>
            </a:pPr>
            <a:r>
              <a:rPr lang="en-US" sz="3300" dirty="0">
                <a:solidFill>
                  <a:srgbClr val="C8956C"/>
                </a:solidFill>
                <a:latin typeface="Arial" pitchFamily="34" charset="0"/>
                <a:ea typeface="Arial" pitchFamily="34" charset="-122"/>
                <a:cs typeface="Arial" pitchFamily="34" charset="-120"/>
              </a:rPr>
              <a:t>→</a:t>
            </a:r>
            <a:endParaRPr lang="en-US" sz="3300" dirty="0"/>
          </a:p>
        </p:txBody>
      </p:sp>
      <p:sp>
        <p:nvSpPr>
          <p:cNvPr id="11" name="Shape 8"/>
          <p:cNvSpPr/>
          <p:nvPr/>
        </p:nvSpPr>
        <p:spPr>
          <a:xfrm>
            <a:off x="6807101" y="4473922"/>
            <a:ext cx="4673650" cy="3634680"/>
          </a:xfrm>
          <a:prstGeom prst="roundRect">
            <a:avLst>
              <a:gd name="adj" fmla="val 5241"/>
            </a:avLst>
          </a:prstGeom>
          <a:solidFill>
            <a:srgbClr val="FFFFFF"/>
          </a:solidFill>
          <a:ln/>
          <a:effectLst>
            <a:outerShdw sx="100000" sy="100000" kx="0" ky="0" algn="bl" rotWithShape="0" blurRad="228600" dist="38100" dir="5400000">
              <a:srgbClr val="3D3224">
                <a:alpha val="6000"/>
              </a:srgbClr>
            </a:outerShdw>
          </a:effectLst>
        </p:spPr>
      </p:sp>
      <p:sp>
        <p:nvSpPr>
          <p:cNvPr id="12" name="Shape 9"/>
          <p:cNvSpPr/>
          <p:nvPr/>
        </p:nvSpPr>
        <p:spPr>
          <a:xfrm>
            <a:off x="6807101" y="4473922"/>
            <a:ext cx="4673650" cy="38100"/>
          </a:xfrm>
          <a:prstGeom prst="rect">
            <a:avLst/>
          </a:prstGeom>
          <a:solidFill>
            <a:srgbClr val="9A7D52"/>
          </a:solidFill>
          <a:ln/>
        </p:spPr>
      </p:sp>
      <p:pic>
        <p:nvPicPr>
          <p:cNvPr id="13" name="Image 1" descr="preencoded.png">    </p:cNvPr>
          <p:cNvPicPr>
            <a:picLocks noChangeAspect="1"/>
          </p:cNvPicPr>
          <p:nvPr/>
        </p:nvPicPr>
        <p:blipFill>
          <a:blip r:embed="rId2"/>
          <a:stretch>
            <a:fillRect/>
          </a:stretch>
        </p:blipFill>
        <p:spPr>
          <a:xfrm>
            <a:off x="8896201" y="4888746"/>
            <a:ext cx="495300" cy="495300"/>
          </a:xfrm>
          <a:prstGeom prst="rect">
            <a:avLst/>
          </a:prstGeom>
        </p:spPr>
      </p:pic>
      <p:sp>
        <p:nvSpPr>
          <p:cNvPr id="14" name="Text 10"/>
          <p:cNvSpPr/>
          <p:nvPr/>
        </p:nvSpPr>
        <p:spPr>
          <a:xfrm>
            <a:off x="8457307" y="5578822"/>
            <a:ext cx="1373088" cy="390525"/>
          </a:xfrm>
          <a:prstGeom prst="rect">
            <a:avLst/>
          </a:prstGeom>
          <a:noFill/>
          <a:ln/>
        </p:spPr>
        <p:txBody>
          <a:bodyPr wrap="square" lIns="25400" tIns="25400" rIns="25400" bIns="25400" rtlCol="0" anchor="t">
            <a:normAutofit/>
          </a:bodyPr>
          <a:lstStyle/>
          <a:p>
            <a:pPr algn="ctr" indent="0" marL="0">
              <a:buNone/>
            </a:pPr>
            <a:r>
              <a:rPr lang="en-US" sz="1950" b="1" spc="225" kern="0" dirty="0">
                <a:solidFill>
                  <a:srgbClr val="C8956C"/>
                </a:solidFill>
                <a:latin typeface="Arial" pitchFamily="34" charset="0"/>
                <a:ea typeface="Arial" pitchFamily="34" charset="-122"/>
                <a:cs typeface="Arial" pitchFamily="34" charset="-120"/>
              </a:rPr>
              <a:t>2층 · 서버</a:t>
            </a:r>
            <a:endParaRPr lang="en-US" sz="1950" dirty="0"/>
          </a:p>
        </p:txBody>
      </p:sp>
      <p:sp>
        <p:nvSpPr>
          <p:cNvPr id="15" name="Text 11"/>
          <p:cNvSpPr/>
          <p:nvPr/>
        </p:nvSpPr>
        <p:spPr>
          <a:xfrm>
            <a:off x="8431262" y="6121747"/>
            <a:ext cx="1425327" cy="561975"/>
          </a:xfrm>
          <a:prstGeom prst="rect">
            <a:avLst/>
          </a:prstGeom>
          <a:noFill/>
          <a:ln/>
        </p:spPr>
        <p:txBody>
          <a:bodyPr wrap="square" lIns="25400" tIns="25400" rIns="25400" bIns="25400" rtlCol="0" anchor="t">
            <a:normAutofit/>
          </a:bodyPr>
          <a:lstStyle/>
          <a:p>
            <a:pPr algn="ctr" indent="0" marL="0">
              <a:buNone/>
            </a:pPr>
            <a:r>
              <a:rPr lang="en-US" sz="2850" b="1" dirty="0">
                <a:solidFill>
                  <a:srgbClr val="5C4A33"/>
                </a:solidFill>
                <a:latin typeface="Arial" pitchFamily="34" charset="0"/>
                <a:ea typeface="Arial" pitchFamily="34" charset="-122"/>
                <a:cs typeface="Arial" pitchFamily="34" charset="-120"/>
              </a:rPr>
              <a:t>Node.js</a:t>
            </a:r>
            <a:endParaRPr lang="en-US" sz="2850" dirty="0"/>
          </a:p>
        </p:txBody>
      </p:sp>
      <p:sp>
        <p:nvSpPr>
          <p:cNvPr id="16" name="Text 12"/>
          <p:cNvSpPr/>
          <p:nvPr/>
        </p:nvSpPr>
        <p:spPr>
          <a:xfrm>
            <a:off x="7901583" y="6798022"/>
            <a:ext cx="2484537" cy="929580"/>
          </a:xfrm>
          <a:prstGeom prst="rect">
            <a:avLst/>
          </a:prstGeom>
          <a:noFill/>
          <a:ln/>
        </p:spPr>
        <p:txBody>
          <a:bodyPr wrap="square" lIns="25400" tIns="25400" rIns="25400" bIns="25400" rtlCol="0" anchor="t">
            <a:normAutofit/>
          </a:bodyPr>
          <a:lstStyle/>
          <a:p>
            <a:pPr algn="ctr" indent="0" marL="0">
              <a:lnSpc>
                <a:spcPct val="180000"/>
              </a:lnSpc>
              <a:buNone/>
            </a:pPr>
            <a:r>
              <a:rPr lang="en-US" sz="1950" dirty="0">
                <a:solidFill>
                  <a:srgbClr val="9A7D52"/>
                </a:solidFill>
                <a:latin typeface="Arial" pitchFamily="34" charset="0"/>
                <a:ea typeface="Arial" pitchFamily="34" charset="-122"/>
                <a:cs typeface="Arial" pitchFamily="34" charset="-120"/>
              </a:rPr>
              <a:t>로그인 처리 · 주문 관리 매출 집계</a:t>
            </a:r>
            <a:endParaRPr lang="en-US" sz="1950" dirty="0"/>
          </a:p>
        </p:txBody>
      </p:sp>
      <p:sp>
        <p:nvSpPr>
          <p:cNvPr id="17" name="Text 13"/>
          <p:cNvSpPr/>
          <p:nvPr/>
        </p:nvSpPr>
        <p:spPr>
          <a:xfrm>
            <a:off x="11861750" y="6053138"/>
            <a:ext cx="495300" cy="514350"/>
          </a:xfrm>
          <a:prstGeom prst="rect">
            <a:avLst/>
          </a:prstGeom>
          <a:noFill/>
          <a:ln/>
        </p:spPr>
        <p:txBody>
          <a:bodyPr wrap="square" lIns="25400" tIns="25400" rIns="25400" bIns="25400" rtlCol="0" anchor="t">
            <a:normAutofit/>
          </a:bodyPr>
          <a:lstStyle/>
          <a:p>
            <a:pPr algn="l" indent="0" marL="0">
              <a:buNone/>
            </a:pPr>
            <a:r>
              <a:rPr lang="en-US" sz="3300" dirty="0">
                <a:solidFill>
                  <a:srgbClr val="C8956C"/>
                </a:solidFill>
                <a:latin typeface="Arial" pitchFamily="34" charset="0"/>
                <a:ea typeface="Arial" pitchFamily="34" charset="-122"/>
                <a:cs typeface="Arial" pitchFamily="34" charset="-120"/>
              </a:rPr>
              <a:t>→</a:t>
            </a:r>
            <a:endParaRPr lang="en-US" sz="3300" dirty="0"/>
          </a:p>
        </p:txBody>
      </p:sp>
      <p:sp>
        <p:nvSpPr>
          <p:cNvPr id="18" name="Shape 14"/>
          <p:cNvSpPr/>
          <p:nvPr/>
        </p:nvSpPr>
        <p:spPr>
          <a:xfrm>
            <a:off x="12661850" y="4473922"/>
            <a:ext cx="4673650" cy="3634680"/>
          </a:xfrm>
          <a:prstGeom prst="roundRect">
            <a:avLst>
              <a:gd name="adj" fmla="val 5241"/>
            </a:avLst>
          </a:prstGeom>
          <a:solidFill>
            <a:srgbClr val="FFFFFF"/>
          </a:solidFill>
          <a:ln/>
          <a:effectLst>
            <a:outerShdw sx="100000" sy="100000" kx="0" ky="0" algn="bl" rotWithShape="0" blurRad="228600" dist="38100" dir="5400000">
              <a:srgbClr val="3D3224">
                <a:alpha val="6000"/>
              </a:srgbClr>
            </a:outerShdw>
          </a:effectLst>
        </p:spPr>
      </p:sp>
      <p:sp>
        <p:nvSpPr>
          <p:cNvPr id="19" name="Shape 15"/>
          <p:cNvSpPr/>
          <p:nvPr/>
        </p:nvSpPr>
        <p:spPr>
          <a:xfrm>
            <a:off x="12661850" y="4473922"/>
            <a:ext cx="4673650" cy="38100"/>
          </a:xfrm>
          <a:prstGeom prst="rect">
            <a:avLst/>
          </a:prstGeom>
          <a:solidFill>
            <a:srgbClr val="5C4A33"/>
          </a:solidFill>
          <a:ln/>
        </p:spPr>
      </p:sp>
      <p:pic>
        <p:nvPicPr>
          <p:cNvPr id="20" name="Image 2" descr="preencoded.png">    </p:cNvPr>
          <p:cNvPicPr>
            <a:picLocks noChangeAspect="1"/>
          </p:cNvPicPr>
          <p:nvPr/>
        </p:nvPicPr>
        <p:blipFill>
          <a:blip r:embed="rId3"/>
          <a:stretch>
            <a:fillRect/>
          </a:stretch>
        </p:blipFill>
        <p:spPr>
          <a:xfrm>
            <a:off x="14750951" y="4866215"/>
            <a:ext cx="495300" cy="495300"/>
          </a:xfrm>
          <a:prstGeom prst="rect">
            <a:avLst/>
          </a:prstGeom>
        </p:spPr>
      </p:pic>
      <p:sp>
        <p:nvSpPr>
          <p:cNvPr id="21" name="Text 16"/>
          <p:cNvSpPr/>
          <p:nvPr/>
        </p:nvSpPr>
        <p:spPr>
          <a:xfrm>
            <a:off x="14183916" y="5578822"/>
            <a:ext cx="1629519" cy="390525"/>
          </a:xfrm>
          <a:prstGeom prst="rect">
            <a:avLst/>
          </a:prstGeom>
          <a:noFill/>
          <a:ln/>
        </p:spPr>
        <p:txBody>
          <a:bodyPr wrap="square" lIns="25400" tIns="25400" rIns="25400" bIns="25400" rtlCol="0" anchor="t">
            <a:normAutofit/>
          </a:bodyPr>
          <a:lstStyle/>
          <a:p>
            <a:pPr algn="ctr" indent="0" marL="0">
              <a:buNone/>
            </a:pPr>
            <a:r>
              <a:rPr lang="en-US" sz="1950" b="1" spc="225" kern="0" dirty="0">
                <a:solidFill>
                  <a:srgbClr val="C8956C"/>
                </a:solidFill>
                <a:latin typeface="Arial" pitchFamily="34" charset="0"/>
                <a:ea typeface="Arial" pitchFamily="34" charset="-122"/>
                <a:cs typeface="Arial" pitchFamily="34" charset="-120"/>
              </a:rPr>
              <a:t>3층 · 저장소</a:t>
            </a:r>
            <a:endParaRPr lang="en-US" sz="1950" dirty="0"/>
          </a:p>
        </p:txBody>
      </p:sp>
      <p:sp>
        <p:nvSpPr>
          <p:cNvPr id="22" name="Text 17"/>
          <p:cNvSpPr/>
          <p:nvPr/>
        </p:nvSpPr>
        <p:spPr>
          <a:xfrm>
            <a:off x="14345394" y="6121747"/>
            <a:ext cx="1306562" cy="561975"/>
          </a:xfrm>
          <a:prstGeom prst="rect">
            <a:avLst/>
          </a:prstGeom>
          <a:noFill/>
          <a:ln/>
        </p:spPr>
        <p:txBody>
          <a:bodyPr wrap="square" lIns="25400" tIns="25400" rIns="25400" bIns="25400" rtlCol="0" anchor="t">
            <a:normAutofit/>
          </a:bodyPr>
          <a:lstStyle/>
          <a:p>
            <a:pPr algn="ctr" indent="0" marL="0">
              <a:buNone/>
            </a:pPr>
            <a:r>
              <a:rPr lang="en-US" sz="2850" b="1" dirty="0">
                <a:solidFill>
                  <a:srgbClr val="5C4A33"/>
                </a:solidFill>
                <a:latin typeface="Arial" pitchFamily="34" charset="0"/>
                <a:ea typeface="Arial" pitchFamily="34" charset="-122"/>
                <a:cs typeface="Arial" pitchFamily="34" charset="-120"/>
              </a:rPr>
              <a:t>MySQL</a:t>
            </a:r>
            <a:endParaRPr lang="en-US" sz="2850" dirty="0"/>
          </a:p>
        </p:txBody>
      </p:sp>
      <p:sp>
        <p:nvSpPr>
          <p:cNvPr id="23" name="Text 18"/>
          <p:cNvSpPr/>
          <p:nvPr/>
        </p:nvSpPr>
        <p:spPr>
          <a:xfrm>
            <a:off x="13794730" y="6798022"/>
            <a:ext cx="2407890" cy="929580"/>
          </a:xfrm>
          <a:prstGeom prst="rect">
            <a:avLst/>
          </a:prstGeom>
          <a:noFill/>
          <a:ln/>
        </p:spPr>
        <p:txBody>
          <a:bodyPr wrap="square" lIns="25400" tIns="25400" rIns="25400" bIns="25400" rtlCol="0" anchor="t">
            <a:normAutofit/>
          </a:bodyPr>
          <a:lstStyle/>
          <a:p>
            <a:pPr algn="ctr" indent="0" marL="0">
              <a:lnSpc>
                <a:spcPct val="180000"/>
              </a:lnSpc>
              <a:buNone/>
            </a:pPr>
            <a:r>
              <a:rPr lang="en-US" sz="1950" dirty="0">
                <a:solidFill>
                  <a:srgbClr val="9A7D52"/>
                </a:solidFill>
                <a:latin typeface="Arial" pitchFamily="34" charset="0"/>
                <a:ea typeface="Arial" pitchFamily="34" charset="-122"/>
                <a:cs typeface="Arial" pitchFamily="34" charset="-120"/>
              </a:rPr>
              <a:t>11개 테이블 상품 · 회원 · 주문 정보</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3EDE4"/>
          </a:solidFill>
          <a:ln/>
        </p:spPr>
      </p:sp>
      <p:sp>
        <p:nvSpPr>
          <p:cNvPr id="3" name="Text 1"/>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유스케이스 다이어그램</a:t>
            </a:r>
            <a:endParaRPr lang="en-US" sz="4800" dirty="0"/>
          </a:p>
        </p:txBody>
      </p:sp>
      <p:sp>
        <p:nvSpPr>
          <p:cNvPr id="4" name="Text 2"/>
          <p:cNvSpPr/>
          <p:nvPr/>
        </p:nvSpPr>
        <p:spPr>
          <a:xfrm>
            <a:off x="952500" y="2324100"/>
            <a:ext cx="1687449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9A7D52"/>
                </a:solidFill>
                <a:latin typeface="Arial" pitchFamily="34" charset="0"/>
                <a:ea typeface="Arial" pitchFamily="34" charset="-122"/>
                <a:cs typeface="Arial" pitchFamily="34" charset="-120"/>
              </a:rPr>
              <a:t>누가, 어떤 기능을 사용하는지 정리한 설계도</a:t>
            </a:r>
            <a:endParaRPr lang="en-US" sz="2550" dirty="0"/>
          </a:p>
        </p:txBody>
      </p:sp>
      <p:sp>
        <p:nvSpPr>
          <p:cNvPr id="5" name="Shape 3"/>
          <p:cNvSpPr/>
          <p:nvPr/>
        </p:nvSpPr>
        <p:spPr>
          <a:xfrm>
            <a:off x="4762946" y="3057525"/>
            <a:ext cx="8761958" cy="6476851"/>
          </a:xfrm>
          <a:prstGeom prst="roundRect">
            <a:avLst>
              <a:gd name="adj" fmla="val 2353"/>
            </a:avLst>
          </a:prstGeom>
          <a:ln/>
          <a:effectLst>
            <a:outerShdw sx="100000" sy="100000" kx="0" ky="0" algn="bl" rotWithShape="0" blurRad="381000" dist="76200" dir="5400000">
              <a:srgbClr val="3D3224">
                <a:alpha val="12000"/>
              </a:srgbClr>
            </a:outerShdw>
          </a:effectLst>
        </p:spPr>
      </p:sp>
      <p:pic>
        <p:nvPicPr>
          <p:cNvPr id="6" name="Image 0" descr="preencoded.png">    </p:cNvPr>
          <p:cNvPicPr>
            <a:picLocks noChangeAspect="1"/>
          </p:cNvPicPr>
          <p:nvPr/>
        </p:nvPicPr>
        <p:blipFill>
          <a:blip r:embed="rId1"/>
          <a:srcRect l="0" r="0" t="0" b="0"/>
          <a:stretch/>
        </p:blipFill>
        <p:spPr>
          <a:xfrm>
            <a:off x="4762946" y="3057525"/>
            <a:ext cx="8761958" cy="64768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ER 다이어그램</a:t>
            </a:r>
            <a:endParaRPr lang="en-US" sz="4800" dirty="0"/>
          </a:p>
        </p:txBody>
      </p:sp>
      <p:sp>
        <p:nvSpPr>
          <p:cNvPr id="3" name="Text 1"/>
          <p:cNvSpPr/>
          <p:nvPr/>
        </p:nvSpPr>
        <p:spPr>
          <a:xfrm>
            <a:off x="952500" y="2324100"/>
            <a:ext cx="1687449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9A7D52"/>
                </a:solidFill>
                <a:latin typeface="Arial" pitchFamily="34" charset="0"/>
                <a:ea typeface="Arial" pitchFamily="34" charset="-122"/>
                <a:cs typeface="Arial" pitchFamily="34" charset="-120"/>
              </a:rPr>
              <a:t>데이터를 어떻게 저장하는지 설계한 도면 — 11개 테이블</a:t>
            </a:r>
            <a:endParaRPr lang="en-US" sz="2550" dirty="0"/>
          </a:p>
        </p:txBody>
      </p:sp>
      <p:sp>
        <p:nvSpPr>
          <p:cNvPr id="4" name="Shape 2"/>
          <p:cNvSpPr/>
          <p:nvPr/>
        </p:nvSpPr>
        <p:spPr>
          <a:xfrm>
            <a:off x="4598640" y="3057525"/>
            <a:ext cx="9090571" cy="6476851"/>
          </a:xfrm>
          <a:prstGeom prst="roundRect">
            <a:avLst>
              <a:gd name="adj" fmla="val 2353"/>
            </a:avLst>
          </a:prstGeom>
          <a:ln/>
          <a:effectLst>
            <a:outerShdw sx="100000" sy="100000" kx="0" ky="0" algn="bl" rotWithShape="0" blurRad="381000" dist="76200" dir="5400000">
              <a:srgbClr val="3D3224">
                <a:alpha val="12000"/>
              </a:srgbClr>
            </a:outerShdw>
          </a:effectLst>
        </p:spPr>
      </p:sp>
      <p:pic>
        <p:nvPicPr>
          <p:cNvPr id="5" name="Image 0" descr="preencoded.png">    </p:cNvPr>
          <p:cNvPicPr>
            <a:picLocks noChangeAspect="1"/>
          </p:cNvPicPr>
          <p:nvPr/>
        </p:nvPicPr>
        <p:blipFill>
          <a:blip r:embed="rId1"/>
          <a:srcRect l="0" r="0" t="0" b="0"/>
          <a:stretch/>
        </p:blipFill>
        <p:spPr>
          <a:xfrm>
            <a:off x="4598640" y="3057525"/>
            <a:ext cx="9090571" cy="64768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3EDE4"/>
          </a:solidFill>
          <a:ln/>
        </p:spPr>
      </p:sp>
      <p:sp>
        <p:nvSpPr>
          <p:cNvPr id="3" name="Text 1"/>
          <p:cNvSpPr/>
          <p:nvPr/>
        </p:nvSpPr>
        <p:spPr>
          <a:xfrm>
            <a:off x="952500" y="3119438"/>
            <a:ext cx="7691628" cy="895350"/>
          </a:xfrm>
          <a:prstGeom prst="rect">
            <a:avLst/>
          </a:prstGeom>
          <a:noFill/>
          <a:ln/>
        </p:spPr>
        <p:txBody>
          <a:bodyPr wrap="square" lIns="25400" tIns="25400" rIns="25400" bIns="25400" rtlCol="0" anchor="t">
            <a:normAutofit/>
          </a:bodyPr>
          <a:lstStyle/>
          <a:p>
            <a:pPr algn="l" indent="0" marL="0">
              <a:lnSpc>
                <a:spcPct val="100000"/>
              </a:lnSpc>
              <a:buNone/>
            </a:pPr>
            <a:r>
              <a:rPr lang="en-US" sz="6750" b="1" dirty="0">
                <a:solidFill>
                  <a:srgbClr val="E8DFD1"/>
                </a:solidFill>
                <a:latin typeface="Arial" pitchFamily="34" charset="0"/>
                <a:ea typeface="Arial" pitchFamily="34" charset="-122"/>
                <a:cs typeface="Arial" pitchFamily="34" charset="-120"/>
              </a:rPr>
              <a:t>01</a:t>
            </a:r>
            <a:endParaRPr lang="en-US" sz="6750" dirty="0"/>
          </a:p>
        </p:txBody>
      </p:sp>
      <p:sp>
        <p:nvSpPr>
          <p:cNvPr id="4" name="Text 2"/>
          <p:cNvSpPr/>
          <p:nvPr/>
        </p:nvSpPr>
        <p:spPr>
          <a:xfrm>
            <a:off x="952500" y="4090987"/>
            <a:ext cx="7691628" cy="666750"/>
          </a:xfrm>
          <a:prstGeom prst="rect">
            <a:avLst/>
          </a:prstGeom>
          <a:noFill/>
          <a:ln/>
        </p:spPr>
        <p:txBody>
          <a:bodyPr wrap="square" lIns="25400" tIns="25400" rIns="25400" bIns="25400" rtlCol="0" anchor="t">
            <a:normAutofit/>
          </a:bodyPr>
          <a:lstStyle/>
          <a:p>
            <a:pPr algn="l" indent="0" marL="0">
              <a:buNone/>
            </a:pPr>
            <a:r>
              <a:rPr lang="en-US" sz="3450" b="1" dirty="0">
                <a:solidFill>
                  <a:srgbClr val="5C4A33"/>
                </a:solidFill>
                <a:latin typeface="Arial" pitchFamily="34" charset="0"/>
                <a:ea typeface="Arial" pitchFamily="34" charset="-122"/>
                <a:cs typeface="Arial" pitchFamily="34" charset="-120"/>
              </a:rPr>
              <a:t>로그인 &amp; 소셜 로그인</a:t>
            </a:r>
            <a:endParaRPr lang="en-US" sz="3450" dirty="0"/>
          </a:p>
        </p:txBody>
      </p:sp>
      <p:sp>
        <p:nvSpPr>
          <p:cNvPr id="5" name="Text 3"/>
          <p:cNvSpPr/>
          <p:nvPr/>
        </p:nvSpPr>
        <p:spPr>
          <a:xfrm>
            <a:off x="952500" y="4948238"/>
            <a:ext cx="7691628" cy="1581150"/>
          </a:xfrm>
          <a:prstGeom prst="rect">
            <a:avLst/>
          </a:prstGeom>
          <a:noFill/>
          <a:ln/>
        </p:spPr>
        <p:txBody>
          <a:bodyPr wrap="square" lIns="25400" tIns="25400" rIns="25400" bIns="25400" rtlCol="0" anchor="t">
            <a:normAutofit/>
          </a:bodyPr>
          <a:lstStyle/>
          <a:p>
            <a:pPr algn="l" indent="0" marL="0">
              <a:lnSpc>
                <a:spcPct val="180000"/>
              </a:lnSpc>
              <a:buNone/>
            </a:pPr>
            <a:r>
              <a:rPr lang="en-US" sz="2250" dirty="0">
                <a:solidFill>
                  <a:srgbClr val="7A6243"/>
                </a:solidFill>
                <a:latin typeface="Arial" pitchFamily="34" charset="0"/>
                <a:ea typeface="Arial" pitchFamily="34" charset="-122"/>
                <a:cs typeface="Arial" pitchFamily="34" charset="-120"/>
              </a:rPr>
              <a:t>네이버, 카카오, 구글 계정으로 간편하게 로그인할 수 있고, 비밀번호는 암호화하여 안전하게 관리</a:t>
            </a:r>
            <a:endParaRPr lang="en-US" sz="2250" dirty="0"/>
          </a:p>
        </p:txBody>
      </p:sp>
      <p:sp>
        <p:nvSpPr>
          <p:cNvPr id="6" name="Shape 4"/>
          <p:cNvSpPr/>
          <p:nvPr/>
        </p:nvSpPr>
        <p:spPr>
          <a:xfrm>
            <a:off x="952500" y="6757988"/>
            <a:ext cx="1012031" cy="485775"/>
          </a:xfrm>
          <a:prstGeom prst="roundRect">
            <a:avLst>
              <a:gd name="adj" fmla="val 50000"/>
            </a:avLst>
          </a:prstGeom>
          <a:solidFill>
            <a:srgbClr val="E8C9A8"/>
          </a:solidFill>
          <a:ln/>
        </p:spPr>
      </p:sp>
      <p:sp>
        <p:nvSpPr>
          <p:cNvPr id="7" name="Text 5"/>
          <p:cNvSpPr/>
          <p:nvPr/>
        </p:nvSpPr>
        <p:spPr>
          <a:xfrm>
            <a:off x="1143000" y="6834188"/>
            <a:ext cx="70723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네이버</a:t>
            </a:r>
            <a:endParaRPr lang="en-US" sz="1800" dirty="0"/>
          </a:p>
        </p:txBody>
      </p:sp>
      <p:sp>
        <p:nvSpPr>
          <p:cNvPr id="8" name="Shape 6"/>
          <p:cNvSpPr/>
          <p:nvPr/>
        </p:nvSpPr>
        <p:spPr>
          <a:xfrm>
            <a:off x="2121247" y="6757988"/>
            <a:ext cx="1012031" cy="485775"/>
          </a:xfrm>
          <a:prstGeom prst="roundRect">
            <a:avLst>
              <a:gd name="adj" fmla="val 50000"/>
            </a:avLst>
          </a:prstGeom>
          <a:solidFill>
            <a:srgbClr val="E8C9A8"/>
          </a:solidFill>
          <a:ln/>
        </p:spPr>
      </p:sp>
      <p:sp>
        <p:nvSpPr>
          <p:cNvPr id="9" name="Text 7"/>
          <p:cNvSpPr/>
          <p:nvPr/>
        </p:nvSpPr>
        <p:spPr>
          <a:xfrm>
            <a:off x="2311747" y="6834188"/>
            <a:ext cx="70723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카카오</a:t>
            </a:r>
            <a:endParaRPr lang="en-US" sz="1800" dirty="0"/>
          </a:p>
        </p:txBody>
      </p:sp>
      <p:sp>
        <p:nvSpPr>
          <p:cNvPr id="10" name="Shape 8"/>
          <p:cNvSpPr/>
          <p:nvPr/>
        </p:nvSpPr>
        <p:spPr>
          <a:xfrm>
            <a:off x="3289995" y="6757988"/>
            <a:ext cx="801737" cy="485775"/>
          </a:xfrm>
          <a:prstGeom prst="roundRect">
            <a:avLst>
              <a:gd name="adj" fmla="val 50000"/>
            </a:avLst>
          </a:prstGeom>
          <a:solidFill>
            <a:srgbClr val="E8C9A8"/>
          </a:solidFill>
          <a:ln/>
        </p:spPr>
      </p:sp>
      <p:sp>
        <p:nvSpPr>
          <p:cNvPr id="11" name="Text 9"/>
          <p:cNvSpPr/>
          <p:nvPr/>
        </p:nvSpPr>
        <p:spPr>
          <a:xfrm>
            <a:off x="3480495" y="6834188"/>
            <a:ext cx="49693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구글</a:t>
            </a:r>
            <a:endParaRPr lang="en-US" sz="1800" dirty="0"/>
          </a:p>
        </p:txBody>
      </p:sp>
      <p:sp>
        <p:nvSpPr>
          <p:cNvPr id="12" name="Shape 10"/>
          <p:cNvSpPr/>
          <p:nvPr/>
        </p:nvSpPr>
        <p:spPr>
          <a:xfrm>
            <a:off x="8953500" y="4614863"/>
            <a:ext cx="8382000" cy="1247775"/>
          </a:xfrm>
          <a:prstGeom prst="roundRect">
            <a:avLst>
              <a:gd name="adj" fmla="val 15267"/>
            </a:avLst>
          </a:prstGeom>
          <a:solidFill>
            <a:srgbClr val="FFFFFF"/>
          </a:solidFill>
          <a:ln/>
          <a:effectLst>
            <a:outerShdw sx="100000" sy="100000" kx="0" ky="0" algn="bl" rotWithShape="0" blurRad="381000" dist="76200" dir="5400000">
              <a:srgbClr val="3D3224">
                <a:alpha val="12000"/>
              </a:srgbClr>
            </a:outerShdw>
          </a:effectLst>
        </p:spPr>
      </p:sp>
      <p:pic>
        <p:nvPicPr>
          <p:cNvPr id="13" name="Image 0" descr="preencoded.png">    </p:cNvPr>
          <p:cNvPicPr>
            <a:picLocks noChangeAspect="1"/>
          </p:cNvPicPr>
          <p:nvPr/>
        </p:nvPicPr>
        <p:blipFill>
          <a:blip r:embed="rId1"/>
          <a:stretch>
            <a:fillRect/>
          </a:stretch>
        </p:blipFill>
        <p:spPr>
          <a:xfrm>
            <a:off x="11715750" y="5072063"/>
            <a:ext cx="2857500" cy="3333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3119438"/>
            <a:ext cx="8162544" cy="895350"/>
          </a:xfrm>
          <a:prstGeom prst="rect">
            <a:avLst/>
          </a:prstGeom>
          <a:noFill/>
          <a:ln/>
        </p:spPr>
        <p:txBody>
          <a:bodyPr wrap="square" lIns="25400" tIns="25400" rIns="25400" bIns="25400" rtlCol="0" anchor="t">
            <a:normAutofit/>
          </a:bodyPr>
          <a:lstStyle/>
          <a:p>
            <a:pPr algn="l" indent="0" marL="0">
              <a:lnSpc>
                <a:spcPct val="100000"/>
              </a:lnSpc>
              <a:buNone/>
            </a:pPr>
            <a:r>
              <a:rPr lang="en-US" sz="6750" b="1" dirty="0">
                <a:solidFill>
                  <a:srgbClr val="E8DFD1"/>
                </a:solidFill>
                <a:latin typeface="Arial" pitchFamily="34" charset="0"/>
                <a:ea typeface="Arial" pitchFamily="34" charset="-122"/>
                <a:cs typeface="Arial" pitchFamily="34" charset="-120"/>
              </a:rPr>
              <a:t>02</a:t>
            </a:r>
            <a:endParaRPr lang="en-US" sz="6750" dirty="0"/>
          </a:p>
        </p:txBody>
      </p:sp>
      <p:sp>
        <p:nvSpPr>
          <p:cNvPr id="3" name="Text 1"/>
          <p:cNvSpPr/>
          <p:nvPr/>
        </p:nvSpPr>
        <p:spPr>
          <a:xfrm>
            <a:off x="952500" y="4090987"/>
            <a:ext cx="8162544" cy="666750"/>
          </a:xfrm>
          <a:prstGeom prst="rect">
            <a:avLst/>
          </a:prstGeom>
          <a:noFill/>
          <a:ln/>
        </p:spPr>
        <p:txBody>
          <a:bodyPr wrap="square" lIns="25400" tIns="25400" rIns="25400" bIns="25400" rtlCol="0" anchor="t">
            <a:normAutofit/>
          </a:bodyPr>
          <a:lstStyle/>
          <a:p>
            <a:pPr algn="l" indent="0" marL="0">
              <a:buNone/>
            </a:pPr>
            <a:r>
              <a:rPr lang="en-US" sz="3450" b="1" dirty="0">
                <a:solidFill>
                  <a:srgbClr val="5C4A33"/>
                </a:solidFill>
                <a:latin typeface="Arial" pitchFamily="34" charset="0"/>
                <a:ea typeface="Arial" pitchFamily="34" charset="-122"/>
                <a:cs typeface="Arial" pitchFamily="34" charset="-120"/>
              </a:rPr>
              <a:t>상품 페이지</a:t>
            </a:r>
            <a:endParaRPr lang="en-US" sz="3450" dirty="0"/>
          </a:p>
        </p:txBody>
      </p:sp>
      <p:sp>
        <p:nvSpPr>
          <p:cNvPr id="4" name="Text 2"/>
          <p:cNvSpPr/>
          <p:nvPr/>
        </p:nvSpPr>
        <p:spPr>
          <a:xfrm>
            <a:off x="952500" y="4948238"/>
            <a:ext cx="8162544" cy="1581150"/>
          </a:xfrm>
          <a:prstGeom prst="rect">
            <a:avLst/>
          </a:prstGeom>
          <a:noFill/>
          <a:ln/>
        </p:spPr>
        <p:txBody>
          <a:bodyPr wrap="square" lIns="25400" tIns="25400" rIns="25400" bIns="25400" rtlCol="0" anchor="t">
            <a:normAutofit/>
          </a:bodyPr>
          <a:lstStyle/>
          <a:p>
            <a:pPr algn="l" indent="0" marL="0">
              <a:lnSpc>
                <a:spcPct val="180000"/>
              </a:lnSpc>
              <a:buNone/>
            </a:pPr>
            <a:r>
              <a:rPr lang="en-US" sz="2250" dirty="0">
                <a:solidFill>
                  <a:srgbClr val="7A6243"/>
                </a:solidFill>
                <a:latin typeface="Arial" pitchFamily="34" charset="0"/>
                <a:ea typeface="Arial" pitchFamily="34" charset="-122"/>
                <a:cs typeface="Arial" pitchFamily="34" charset="-120"/>
              </a:rPr>
              <a:t>주간 베스트 상품을 카테고리별로 보여주고 BEST · NEW · HOT · SALE 배지로 인기 상품을 한눈에 파악</a:t>
            </a:r>
            <a:endParaRPr lang="en-US" sz="2250" dirty="0"/>
          </a:p>
        </p:txBody>
      </p:sp>
      <p:sp>
        <p:nvSpPr>
          <p:cNvPr id="5" name="Shape 3"/>
          <p:cNvSpPr/>
          <p:nvPr/>
        </p:nvSpPr>
        <p:spPr>
          <a:xfrm>
            <a:off x="952500" y="6757988"/>
            <a:ext cx="1496616" cy="485775"/>
          </a:xfrm>
          <a:prstGeom prst="roundRect">
            <a:avLst>
              <a:gd name="adj" fmla="val 50000"/>
            </a:avLst>
          </a:prstGeom>
          <a:solidFill>
            <a:srgbClr val="E8C9A8"/>
          </a:solidFill>
          <a:ln/>
        </p:spPr>
      </p:sp>
      <p:sp>
        <p:nvSpPr>
          <p:cNvPr id="6" name="Text 4"/>
          <p:cNvSpPr/>
          <p:nvPr/>
        </p:nvSpPr>
        <p:spPr>
          <a:xfrm>
            <a:off x="1143000" y="6834188"/>
            <a:ext cx="119181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주간 베스트</a:t>
            </a:r>
            <a:endParaRPr lang="en-US" sz="1800" dirty="0"/>
          </a:p>
        </p:txBody>
      </p:sp>
      <p:sp>
        <p:nvSpPr>
          <p:cNvPr id="7" name="Shape 5"/>
          <p:cNvSpPr/>
          <p:nvPr/>
        </p:nvSpPr>
        <p:spPr>
          <a:xfrm>
            <a:off x="2605832" y="6757988"/>
            <a:ext cx="1706910" cy="485775"/>
          </a:xfrm>
          <a:prstGeom prst="roundRect">
            <a:avLst>
              <a:gd name="adj" fmla="val 50000"/>
            </a:avLst>
          </a:prstGeom>
          <a:solidFill>
            <a:srgbClr val="E8C9A8"/>
          </a:solidFill>
          <a:ln/>
        </p:spPr>
      </p:sp>
      <p:sp>
        <p:nvSpPr>
          <p:cNvPr id="8" name="Text 6"/>
          <p:cNvSpPr/>
          <p:nvPr/>
        </p:nvSpPr>
        <p:spPr>
          <a:xfrm>
            <a:off x="2796332" y="6834188"/>
            <a:ext cx="140211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카테고리 필터</a:t>
            </a:r>
            <a:endParaRPr lang="en-US" sz="1800" dirty="0"/>
          </a:p>
        </p:txBody>
      </p:sp>
      <p:sp>
        <p:nvSpPr>
          <p:cNvPr id="9" name="Shape 7"/>
          <p:cNvSpPr/>
          <p:nvPr/>
        </p:nvSpPr>
        <p:spPr>
          <a:xfrm>
            <a:off x="4469457" y="6757988"/>
            <a:ext cx="1286321" cy="485775"/>
          </a:xfrm>
          <a:prstGeom prst="roundRect">
            <a:avLst>
              <a:gd name="adj" fmla="val 50000"/>
            </a:avLst>
          </a:prstGeom>
          <a:solidFill>
            <a:srgbClr val="E8C9A8"/>
          </a:solidFill>
          <a:ln/>
        </p:spPr>
      </p:sp>
      <p:sp>
        <p:nvSpPr>
          <p:cNvPr id="10" name="Text 8"/>
          <p:cNvSpPr/>
          <p:nvPr/>
        </p:nvSpPr>
        <p:spPr>
          <a:xfrm>
            <a:off x="4659957" y="6834188"/>
            <a:ext cx="98152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5C4A33"/>
                </a:solidFill>
                <a:latin typeface="Arial" pitchFamily="34" charset="0"/>
                <a:ea typeface="Arial" pitchFamily="34" charset="-122"/>
                <a:cs typeface="Arial" pitchFamily="34" charset="-120"/>
              </a:rPr>
              <a:t>상품 배지</a:t>
            </a:r>
            <a:endParaRPr lang="en-US" sz="1800" dirty="0"/>
          </a:p>
        </p:txBody>
      </p:sp>
      <p:sp>
        <p:nvSpPr>
          <p:cNvPr id="11" name="Shape 9"/>
          <p:cNvSpPr/>
          <p:nvPr/>
        </p:nvSpPr>
        <p:spPr>
          <a:xfrm>
            <a:off x="9410700" y="3351312"/>
            <a:ext cx="7924800" cy="3774877"/>
          </a:xfrm>
          <a:prstGeom prst="roundRect">
            <a:avLst>
              <a:gd name="adj" fmla="val 5047"/>
            </a:avLst>
          </a:prstGeom>
          <a:ln/>
          <a:effectLst>
            <a:outerShdw sx="100000" sy="100000" kx="0" ky="0" algn="bl" rotWithShape="0" blurRad="381000" dist="76200" dir="5400000">
              <a:srgbClr val="3D3224">
                <a:alpha val="12000"/>
              </a:srgbClr>
            </a:outerShdw>
          </a:effectLst>
        </p:spPr>
      </p:sp>
      <p:pic>
        <p:nvPicPr>
          <p:cNvPr id="12" name="Image 0" descr="preencoded.png">    </p:cNvPr>
          <p:cNvPicPr>
            <a:picLocks noChangeAspect="1"/>
          </p:cNvPicPr>
          <p:nvPr/>
        </p:nvPicPr>
        <p:blipFill>
          <a:blip r:embed="rId1"/>
          <a:stretch>
            <a:fillRect/>
          </a:stretch>
        </p:blipFill>
        <p:spPr>
          <a:xfrm>
            <a:off x="9410700" y="3351312"/>
            <a:ext cx="7924800" cy="37748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3224"/>
        </a:solidFill>
      </p:bgPr>
    </p:bg>
    <p:spTree>
      <p:nvGrpSpPr>
        <p:cNvPr id="1" name=""/>
        <p:cNvGrpSpPr/>
        <p:nvPr/>
      </p:nvGrpSpPr>
      <p:grpSpPr>
        <a:xfrm>
          <a:off x="0" y="0"/>
          <a:ext cx="0" cy="0"/>
          <a:chOff x="0" y="0"/>
          <a:chExt cx="0" cy="0"/>
        </a:xfrm>
      </p:grpSpPr>
      <p:sp>
        <p:nvSpPr>
          <p:cNvPr id="2" name="Text 0"/>
          <p:cNvSpPr/>
          <p:nvPr/>
        </p:nvSpPr>
        <p:spPr>
          <a:xfrm>
            <a:off x="952500" y="3119438"/>
            <a:ext cx="8162544" cy="895350"/>
          </a:xfrm>
          <a:prstGeom prst="rect">
            <a:avLst/>
          </a:prstGeom>
          <a:noFill/>
          <a:ln/>
        </p:spPr>
        <p:txBody>
          <a:bodyPr wrap="square" lIns="25400" tIns="25400" rIns="25400" bIns="25400" rtlCol="0" anchor="t">
            <a:normAutofit/>
          </a:bodyPr>
          <a:lstStyle/>
          <a:p>
            <a:pPr algn="l" indent="0" marL="0">
              <a:lnSpc>
                <a:spcPct val="100000"/>
              </a:lnSpc>
              <a:buNone/>
            </a:pPr>
            <a:r>
              <a:rPr lang="en-US" sz="6750" b="1" dirty="0">
                <a:solidFill>
                  <a:srgbClr val="5C4A33"/>
                </a:solidFill>
                <a:latin typeface="Arial" pitchFamily="34" charset="0"/>
                <a:ea typeface="Arial" pitchFamily="34" charset="-122"/>
                <a:cs typeface="Arial" pitchFamily="34" charset="-120"/>
              </a:rPr>
              <a:t>03</a:t>
            </a:r>
            <a:endParaRPr lang="en-US" sz="6750" dirty="0"/>
          </a:p>
        </p:txBody>
      </p:sp>
      <p:sp>
        <p:nvSpPr>
          <p:cNvPr id="3" name="Text 1"/>
          <p:cNvSpPr/>
          <p:nvPr/>
        </p:nvSpPr>
        <p:spPr>
          <a:xfrm>
            <a:off x="952500" y="4090987"/>
            <a:ext cx="8162544" cy="666750"/>
          </a:xfrm>
          <a:prstGeom prst="rect">
            <a:avLst/>
          </a:prstGeom>
          <a:noFill/>
          <a:ln/>
        </p:spPr>
        <p:txBody>
          <a:bodyPr wrap="square" lIns="25400" tIns="25400" rIns="25400" bIns="25400" rtlCol="0" anchor="t">
            <a:normAutofit/>
          </a:bodyPr>
          <a:lstStyle/>
          <a:p>
            <a:pPr algn="l" indent="0" marL="0">
              <a:buNone/>
            </a:pPr>
            <a:r>
              <a:rPr lang="en-US" sz="3450" b="1" dirty="0">
                <a:solidFill>
                  <a:srgbClr val="F3EDE4"/>
                </a:solidFill>
                <a:latin typeface="Arial" pitchFamily="34" charset="0"/>
                <a:ea typeface="Arial" pitchFamily="34" charset="-122"/>
                <a:cs typeface="Arial" pitchFamily="34" charset="-120"/>
              </a:rPr>
              <a:t>장바구니 &amp; 결제</a:t>
            </a:r>
            <a:endParaRPr lang="en-US" sz="3450" dirty="0"/>
          </a:p>
        </p:txBody>
      </p:sp>
      <p:sp>
        <p:nvSpPr>
          <p:cNvPr id="4" name="Text 2"/>
          <p:cNvSpPr/>
          <p:nvPr/>
        </p:nvSpPr>
        <p:spPr>
          <a:xfrm>
            <a:off x="952500" y="4948238"/>
            <a:ext cx="8162544" cy="1581150"/>
          </a:xfrm>
          <a:prstGeom prst="rect">
            <a:avLst/>
          </a:prstGeom>
          <a:noFill/>
          <a:ln/>
        </p:spPr>
        <p:txBody>
          <a:bodyPr wrap="square" lIns="25400" tIns="25400" rIns="25400" bIns="25400" rtlCol="0" anchor="t">
            <a:normAutofit/>
          </a:bodyPr>
          <a:lstStyle/>
          <a:p>
            <a:pPr algn="l" indent="0" marL="0">
              <a:lnSpc>
                <a:spcPct val="180000"/>
              </a:lnSpc>
              <a:buNone/>
            </a:pPr>
            <a:r>
              <a:rPr lang="en-US" sz="2250" dirty="0">
                <a:solidFill>
                  <a:srgbClr val="D4C4AE"/>
                </a:solidFill>
                <a:latin typeface="Arial" pitchFamily="34" charset="0"/>
                <a:ea typeface="Arial" pitchFamily="34" charset="-122"/>
                <a:cs typeface="Arial" pitchFamily="34" charset="-120"/>
              </a:rPr>
              <a:t>비로그인 장바구니가 로그인 시 자동으로 합쳐지는 스마트 병합 기능, 토스페이먼츠 연동 결제</a:t>
            </a:r>
            <a:endParaRPr lang="en-US" sz="2250" dirty="0"/>
          </a:p>
        </p:txBody>
      </p:sp>
      <p:sp>
        <p:nvSpPr>
          <p:cNvPr id="5" name="Shape 3"/>
          <p:cNvSpPr/>
          <p:nvPr/>
        </p:nvSpPr>
        <p:spPr>
          <a:xfrm>
            <a:off x="952500" y="6757988"/>
            <a:ext cx="1286321" cy="485775"/>
          </a:xfrm>
          <a:prstGeom prst="roundRect">
            <a:avLst>
              <a:gd name="adj" fmla="val 50000"/>
            </a:avLst>
          </a:prstGeom>
          <a:solidFill>
            <a:srgbClr val="5C4A33"/>
          </a:solidFill>
          <a:ln/>
        </p:spPr>
      </p:sp>
      <p:sp>
        <p:nvSpPr>
          <p:cNvPr id="6" name="Text 4"/>
          <p:cNvSpPr/>
          <p:nvPr/>
        </p:nvSpPr>
        <p:spPr>
          <a:xfrm>
            <a:off x="1143000" y="6834188"/>
            <a:ext cx="98152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E8C9A8"/>
                </a:solidFill>
                <a:latin typeface="Arial" pitchFamily="34" charset="0"/>
                <a:ea typeface="Arial" pitchFamily="34" charset="-122"/>
                <a:cs typeface="Arial" pitchFamily="34" charset="-120"/>
              </a:rPr>
              <a:t>카트 병합</a:t>
            </a:r>
            <a:endParaRPr lang="en-US" sz="1800" dirty="0"/>
          </a:p>
        </p:txBody>
      </p:sp>
      <p:sp>
        <p:nvSpPr>
          <p:cNvPr id="7" name="Shape 5"/>
          <p:cNvSpPr/>
          <p:nvPr/>
        </p:nvSpPr>
        <p:spPr>
          <a:xfrm>
            <a:off x="2395538" y="6757988"/>
            <a:ext cx="1496616" cy="485775"/>
          </a:xfrm>
          <a:prstGeom prst="roundRect">
            <a:avLst>
              <a:gd name="adj" fmla="val 50000"/>
            </a:avLst>
          </a:prstGeom>
          <a:solidFill>
            <a:srgbClr val="5C4A33"/>
          </a:solidFill>
          <a:ln/>
        </p:spPr>
      </p:sp>
      <p:sp>
        <p:nvSpPr>
          <p:cNvPr id="8" name="Text 6"/>
          <p:cNvSpPr/>
          <p:nvPr/>
        </p:nvSpPr>
        <p:spPr>
          <a:xfrm>
            <a:off x="2586038" y="6834188"/>
            <a:ext cx="119181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E8C9A8"/>
                </a:solidFill>
                <a:latin typeface="Arial" pitchFamily="34" charset="0"/>
                <a:ea typeface="Arial" pitchFamily="34" charset="-122"/>
                <a:cs typeface="Arial" pitchFamily="34" charset="-120"/>
              </a:rPr>
              <a:t>비회원 주문</a:t>
            </a:r>
            <a:endParaRPr lang="en-US" sz="1800" dirty="0"/>
          </a:p>
        </p:txBody>
      </p:sp>
      <p:sp>
        <p:nvSpPr>
          <p:cNvPr id="9" name="Shape 7"/>
          <p:cNvSpPr/>
          <p:nvPr/>
        </p:nvSpPr>
        <p:spPr>
          <a:xfrm>
            <a:off x="4048869" y="6757988"/>
            <a:ext cx="1642914" cy="485775"/>
          </a:xfrm>
          <a:prstGeom prst="roundRect">
            <a:avLst>
              <a:gd name="adj" fmla="val 50000"/>
            </a:avLst>
          </a:prstGeom>
          <a:solidFill>
            <a:srgbClr val="5C4A33"/>
          </a:solidFill>
          <a:ln/>
        </p:spPr>
      </p:sp>
      <p:sp>
        <p:nvSpPr>
          <p:cNvPr id="10" name="Text 8"/>
          <p:cNvSpPr/>
          <p:nvPr/>
        </p:nvSpPr>
        <p:spPr>
          <a:xfrm>
            <a:off x="4239369" y="6834188"/>
            <a:ext cx="133811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E8C9A8"/>
                </a:solidFill>
                <a:latin typeface="Arial" pitchFamily="34" charset="0"/>
                <a:ea typeface="Arial" pitchFamily="34" charset="-122"/>
                <a:cs typeface="Arial" pitchFamily="34" charset="-120"/>
              </a:rPr>
              <a:t>토스페이먼츠</a:t>
            </a:r>
            <a:endParaRPr lang="en-US" sz="1800" dirty="0"/>
          </a:p>
        </p:txBody>
      </p:sp>
      <p:sp>
        <p:nvSpPr>
          <p:cNvPr id="11" name="Shape 9"/>
          <p:cNvSpPr/>
          <p:nvPr/>
        </p:nvSpPr>
        <p:spPr>
          <a:xfrm>
            <a:off x="9410700" y="3471714"/>
            <a:ext cx="7924800" cy="3534073"/>
          </a:xfrm>
          <a:prstGeom prst="roundRect">
            <a:avLst>
              <a:gd name="adj" fmla="val 5390"/>
            </a:avLst>
          </a:prstGeom>
          <a:ln/>
          <a:effectLst>
            <a:outerShdw sx="100000" sy="100000" kx="0" ky="0" algn="bl" rotWithShape="0" blurRad="381000" dist="76200" dir="5400000">
              <a:srgbClr val="3D3224">
                <a:alpha val="12000"/>
              </a:srgbClr>
            </a:outerShdw>
          </a:effectLst>
        </p:spPr>
      </p:sp>
      <p:pic>
        <p:nvPicPr>
          <p:cNvPr id="12" name="Image 0" descr="preencoded.png">    </p:cNvPr>
          <p:cNvPicPr>
            <a:picLocks noChangeAspect="1"/>
          </p:cNvPicPr>
          <p:nvPr/>
        </p:nvPicPr>
        <p:blipFill>
          <a:blip r:embed="rId1"/>
          <a:stretch>
            <a:fillRect/>
          </a:stretch>
        </p:blipFill>
        <p:spPr>
          <a:xfrm>
            <a:off x="9410700" y="3471714"/>
            <a:ext cx="7924800" cy="35340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Admin 관리 화면</a:t>
            </a:r>
            <a:endParaRPr lang="en-US" sz="4800" dirty="0"/>
          </a:p>
        </p:txBody>
      </p:sp>
      <p:sp>
        <p:nvSpPr>
          <p:cNvPr id="3" name="Text 1"/>
          <p:cNvSpPr/>
          <p:nvPr/>
        </p:nvSpPr>
        <p:spPr>
          <a:xfrm>
            <a:off x="952500" y="2324100"/>
            <a:ext cx="1687449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9A7D52"/>
                </a:solidFill>
                <a:latin typeface="Arial" pitchFamily="34" charset="0"/>
                <a:ea typeface="Arial" pitchFamily="34" charset="-122"/>
                <a:cs typeface="Arial" pitchFamily="34" charset="-120"/>
              </a:rPr>
              <a:t>상품 · 배너 · 커뮤니티를 한 곳에서 관리</a:t>
            </a:r>
            <a:endParaRPr lang="en-US" sz="2550" dirty="0"/>
          </a:p>
        </p:txBody>
      </p:sp>
      <p:sp>
        <p:nvSpPr>
          <p:cNvPr id="4" name="Shape 2"/>
          <p:cNvSpPr/>
          <p:nvPr/>
        </p:nvSpPr>
        <p:spPr>
          <a:xfrm>
            <a:off x="952500" y="3171825"/>
            <a:ext cx="8058150" cy="4546104"/>
          </a:xfrm>
          <a:prstGeom prst="roundRect">
            <a:avLst>
              <a:gd name="adj" fmla="val 3352"/>
            </a:avLst>
          </a:prstGeom>
          <a:solidFill>
            <a:srgbClr val="FFFFFF"/>
          </a:solidFill>
          <a:ln/>
          <a:effectLst>
            <a:outerShdw sx="100000" sy="100000" kx="0" ky="0" algn="bl" rotWithShape="0" blurRad="228600" dist="38100" dir="5400000">
              <a:srgbClr val="3D3224">
                <a:alpha val="8000"/>
              </a:srgbClr>
            </a:outerShdw>
          </a:effectLst>
        </p:spPr>
      </p:sp>
      <p:pic>
        <p:nvPicPr>
          <p:cNvPr id="5" name="Image 0" descr="preencoded.png">    </p:cNvPr>
          <p:cNvPicPr>
            <a:picLocks noChangeAspect="1"/>
          </p:cNvPicPr>
          <p:nvPr/>
        </p:nvPicPr>
        <p:blipFill>
          <a:blip r:embed="rId1"/>
          <a:stretch>
            <a:fillRect/>
          </a:stretch>
        </p:blipFill>
        <p:spPr>
          <a:xfrm>
            <a:off x="952500" y="3171825"/>
            <a:ext cx="8058150" cy="3619202"/>
          </a:xfrm>
          <a:prstGeom prst="rect">
            <a:avLst/>
          </a:prstGeom>
        </p:spPr>
      </p:pic>
      <p:sp>
        <p:nvSpPr>
          <p:cNvPr id="6" name="Text 3"/>
          <p:cNvSpPr/>
          <p:nvPr/>
        </p:nvSpPr>
        <p:spPr>
          <a:xfrm>
            <a:off x="1181100" y="6981527"/>
            <a:ext cx="7842694"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5C4A33"/>
                </a:solidFill>
                <a:latin typeface="Arial" pitchFamily="34" charset="0"/>
                <a:ea typeface="Arial" pitchFamily="34" charset="-122"/>
                <a:cs typeface="Arial" pitchFamily="34" charset="-120"/>
              </a:rPr>
              <a:t>상품 관리</a:t>
            </a:r>
            <a:endParaRPr lang="en-US" sz="1950" dirty="0"/>
          </a:p>
        </p:txBody>
      </p:sp>
      <p:sp>
        <p:nvSpPr>
          <p:cNvPr id="7" name="Shape 4"/>
          <p:cNvSpPr/>
          <p:nvPr/>
        </p:nvSpPr>
        <p:spPr>
          <a:xfrm>
            <a:off x="9277350" y="3171825"/>
            <a:ext cx="8058150" cy="4546104"/>
          </a:xfrm>
          <a:prstGeom prst="roundRect">
            <a:avLst>
              <a:gd name="adj" fmla="val 3352"/>
            </a:avLst>
          </a:prstGeom>
          <a:solidFill>
            <a:srgbClr val="FFFFFF"/>
          </a:solidFill>
          <a:ln/>
          <a:effectLst>
            <a:outerShdw sx="100000" sy="100000" kx="0" ky="0" algn="bl" rotWithShape="0" blurRad="228600" dist="38100" dir="5400000">
              <a:srgbClr val="3D3224">
                <a:alpha val="8000"/>
              </a:srgbClr>
            </a:outerShdw>
          </a:effectLst>
        </p:spPr>
      </p:sp>
      <p:pic>
        <p:nvPicPr>
          <p:cNvPr id="8" name="Image 1" descr="preencoded.png">    </p:cNvPr>
          <p:cNvPicPr>
            <a:picLocks noChangeAspect="1"/>
          </p:cNvPicPr>
          <p:nvPr/>
        </p:nvPicPr>
        <p:blipFill>
          <a:blip r:embed="rId2"/>
          <a:stretch>
            <a:fillRect/>
          </a:stretch>
        </p:blipFill>
        <p:spPr>
          <a:xfrm>
            <a:off x="9277350" y="3171825"/>
            <a:ext cx="8058150" cy="3812679"/>
          </a:xfrm>
          <a:prstGeom prst="rect">
            <a:avLst/>
          </a:prstGeom>
        </p:spPr>
      </p:pic>
      <p:sp>
        <p:nvSpPr>
          <p:cNvPr id="9" name="Text 5"/>
          <p:cNvSpPr/>
          <p:nvPr/>
        </p:nvSpPr>
        <p:spPr>
          <a:xfrm>
            <a:off x="9505950" y="7175004"/>
            <a:ext cx="7842694"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5C4A33"/>
                </a:solidFill>
                <a:latin typeface="Arial" pitchFamily="34" charset="0"/>
                <a:ea typeface="Arial" pitchFamily="34" charset="-122"/>
                <a:cs typeface="Arial" pitchFamily="34" charset="-120"/>
              </a:rPr>
              <a:t>배너 관리</a:t>
            </a:r>
            <a:endParaRPr lang="en-US" sz="1950" dirty="0"/>
          </a:p>
        </p:txBody>
      </p:sp>
      <p:sp>
        <p:nvSpPr>
          <p:cNvPr id="10" name="Shape 6"/>
          <p:cNvSpPr/>
          <p:nvPr/>
        </p:nvSpPr>
        <p:spPr>
          <a:xfrm>
            <a:off x="952500" y="7984629"/>
            <a:ext cx="16383000" cy="8485138"/>
          </a:xfrm>
          <a:prstGeom prst="roundRect">
            <a:avLst>
              <a:gd name="adj" fmla="val 1796"/>
            </a:avLst>
          </a:prstGeom>
          <a:solidFill>
            <a:srgbClr val="FFFFFF"/>
          </a:solidFill>
          <a:ln/>
          <a:effectLst>
            <a:outerShdw sx="100000" sy="100000" kx="0" ky="0" algn="bl" rotWithShape="0" blurRad="228600" dist="38100" dir="5400000">
              <a:srgbClr val="3D3224">
                <a:alpha val="8000"/>
              </a:srgbClr>
            </a:outerShdw>
          </a:effectLst>
        </p:spPr>
      </p:sp>
      <p:pic>
        <p:nvPicPr>
          <p:cNvPr id="11" name="Image 2" descr="preencoded.png">    </p:cNvPr>
          <p:cNvPicPr>
            <a:picLocks noChangeAspect="1"/>
          </p:cNvPicPr>
          <p:nvPr/>
        </p:nvPicPr>
        <p:blipFill>
          <a:blip r:embed="rId3"/>
          <a:stretch>
            <a:fillRect/>
          </a:stretch>
        </p:blipFill>
        <p:spPr>
          <a:xfrm>
            <a:off x="952500" y="7984629"/>
            <a:ext cx="16383000" cy="7751713"/>
          </a:xfrm>
          <a:prstGeom prst="rect">
            <a:avLst/>
          </a:prstGeom>
        </p:spPr>
      </p:pic>
      <p:sp>
        <p:nvSpPr>
          <p:cNvPr id="12" name="Text 7"/>
          <p:cNvSpPr/>
          <p:nvPr/>
        </p:nvSpPr>
        <p:spPr>
          <a:xfrm>
            <a:off x="1181100" y="15926842"/>
            <a:ext cx="1641729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5C4A33"/>
                </a:solidFill>
                <a:latin typeface="Arial" pitchFamily="34" charset="0"/>
                <a:ea typeface="Arial" pitchFamily="34" charset="-122"/>
                <a:cs typeface="Arial" pitchFamily="34" charset="-120"/>
              </a:rPr>
              <a:t>커뮤니티 관리 (FAQ · 리뷰 · Q&amp;A)</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D3224"/>
        </a:solidFill>
      </p:bgPr>
    </p:bg>
    <p:spTree>
      <p:nvGrpSpPr>
        <p:cNvPr id="1" name=""/>
        <p:cNvGrpSpPr/>
        <p:nvPr/>
      </p:nvGrpSpPr>
      <p:grpSpPr>
        <a:xfrm>
          <a:off x="0" y="0"/>
          <a:ext cx="0" cy="0"/>
          <a:chOff x="0" y="0"/>
          <a:chExt cx="0" cy="0"/>
        </a:xfrm>
      </p:grpSpPr>
      <p:sp>
        <p:nvSpPr>
          <p:cNvPr id="2" name="Shape 0"/>
          <p:cNvSpPr/>
          <p:nvPr/>
        </p:nvSpPr>
        <p:spPr>
          <a:xfrm>
            <a:off x="9073315" y="5072815"/>
            <a:ext cx="4903869" cy="4903869"/>
          </a:xfrm>
          <a:prstGeom prst="ellipse">
            <a:avLst/>
          </a:prstGeom>
          <a:ln w="9525">
            <a:solidFill>
              <a:srgbClr val="C8956C">
                <a:alpha val="10000"/>
              </a:srgbClr>
            </a:solidFill>
            <a:prstDash val="solid"/>
          </a:ln>
        </p:spPr>
      </p:sp>
      <p:sp>
        <p:nvSpPr>
          <p:cNvPr id="3" name="Shape 1"/>
          <p:cNvSpPr/>
          <p:nvPr/>
        </p:nvSpPr>
        <p:spPr>
          <a:xfrm>
            <a:off x="8979287" y="4978787"/>
            <a:ext cx="7473176" cy="7473176"/>
          </a:xfrm>
          <a:prstGeom prst="ellipse">
            <a:avLst/>
          </a:prstGeom>
          <a:ln w="9525">
            <a:solidFill>
              <a:srgbClr val="C8956C">
                <a:alpha val="9000"/>
              </a:srgbClr>
            </a:solidFill>
            <a:prstDash val="solid"/>
          </a:ln>
        </p:spPr>
      </p:sp>
      <p:sp>
        <p:nvSpPr>
          <p:cNvPr id="4" name="Shape 2"/>
          <p:cNvSpPr/>
          <p:nvPr/>
        </p:nvSpPr>
        <p:spPr>
          <a:xfrm>
            <a:off x="8907256" y="4906756"/>
            <a:ext cx="9998487" cy="9998487"/>
          </a:xfrm>
          <a:prstGeom prst="ellipse">
            <a:avLst/>
          </a:prstGeom>
          <a:ln w="9525">
            <a:solidFill>
              <a:srgbClr val="C8956C">
                <a:alpha val="8000"/>
              </a:srgbClr>
            </a:solidFill>
            <a:prstDash val="solid"/>
          </a:ln>
        </p:spPr>
      </p:sp>
      <p:sp>
        <p:nvSpPr>
          <p:cNvPr id="5" name="Shape 3"/>
          <p:cNvSpPr/>
          <p:nvPr/>
        </p:nvSpPr>
        <p:spPr>
          <a:xfrm>
            <a:off x="8381851" y="3314700"/>
            <a:ext cx="1524000" cy="1524000"/>
          </a:xfrm>
          <a:prstGeom prst="ellipse">
            <a:avLst/>
          </a:prstGeom>
          <a:solidFill>
            <a:srgbClr val="5C4A33"/>
          </a:solidFill>
          <a:ln/>
          <a:effectLst>
            <a:outerShdw sx="100000" sy="100000" kx="0" ky="0" algn="bl" rotWithShape="0" blurRad="101600" dist="50800" dir="16200000">
              <a:srgbClr val="C8956C">
                <a:alpha val="800"/>
              </a:srgbClr>
            </a:outerShdw>
          </a:effectLst>
        </p:spPr>
      </p:sp>
      <p:pic>
        <p:nvPicPr>
          <p:cNvPr id="6" name="Image 0" descr="preencoded.png">    </p:cNvPr>
          <p:cNvPicPr>
            <a:picLocks noChangeAspect="1"/>
          </p:cNvPicPr>
          <p:nvPr/>
        </p:nvPicPr>
        <p:blipFill>
          <a:blip r:embed="rId1"/>
          <a:stretch>
            <a:fillRect/>
          </a:stretch>
        </p:blipFill>
        <p:spPr>
          <a:xfrm>
            <a:off x="8800951" y="3733800"/>
            <a:ext cx="685800" cy="685800"/>
          </a:xfrm>
          <a:prstGeom prst="rect">
            <a:avLst/>
          </a:prstGeom>
        </p:spPr>
      </p:pic>
      <p:sp>
        <p:nvSpPr>
          <p:cNvPr id="7" name="Text 4"/>
          <p:cNvSpPr/>
          <p:nvPr/>
        </p:nvSpPr>
        <p:spPr>
          <a:xfrm>
            <a:off x="7222324" y="5295900"/>
            <a:ext cx="3843055" cy="1057275"/>
          </a:xfrm>
          <a:prstGeom prst="rect">
            <a:avLst/>
          </a:prstGeom>
          <a:noFill/>
          <a:ln/>
        </p:spPr>
        <p:txBody>
          <a:bodyPr wrap="square" lIns="25400" tIns="25400" rIns="25400" bIns="25400" rtlCol="0" anchor="t">
            <a:normAutofit/>
          </a:bodyPr>
          <a:lstStyle/>
          <a:p>
            <a:pPr algn="ctr" indent="0" marL="0">
              <a:buNone/>
            </a:pPr>
            <a:r>
              <a:rPr lang="en-US" sz="6000" b="1" dirty="0">
                <a:solidFill>
                  <a:srgbClr val="F3EDE4"/>
                </a:solidFill>
                <a:latin typeface="Arial" pitchFamily="34" charset="0"/>
                <a:ea typeface="Arial" pitchFamily="34" charset="-122"/>
                <a:cs typeface="Arial" pitchFamily="34" charset="-120"/>
              </a:rPr>
              <a:t>Live Demo</a:t>
            </a:r>
            <a:endParaRPr lang="en-US" sz="6000" dirty="0"/>
          </a:p>
        </p:txBody>
      </p:sp>
      <p:sp>
        <p:nvSpPr>
          <p:cNvPr id="8" name="Text 5"/>
          <p:cNvSpPr/>
          <p:nvPr/>
        </p:nvSpPr>
        <p:spPr>
          <a:xfrm>
            <a:off x="6740675" y="6505575"/>
            <a:ext cx="4806501" cy="504825"/>
          </a:xfrm>
          <a:prstGeom prst="rect">
            <a:avLst/>
          </a:prstGeom>
          <a:noFill/>
          <a:ln/>
        </p:spPr>
        <p:txBody>
          <a:bodyPr wrap="square" lIns="25400" tIns="25400" rIns="25400" bIns="25400" rtlCol="0" anchor="t">
            <a:normAutofit/>
          </a:bodyPr>
          <a:lstStyle/>
          <a:p>
            <a:pPr algn="ctr" indent="0" marL="0">
              <a:buNone/>
            </a:pPr>
            <a:r>
              <a:rPr lang="en-US" sz="2550" dirty="0">
                <a:solidFill>
                  <a:srgbClr val="D4C4AE"/>
                </a:solidFill>
                <a:latin typeface="Arial" pitchFamily="34" charset="0"/>
                <a:ea typeface="Arial" pitchFamily="34" charset="-122"/>
                <a:cs typeface="Arial" pitchFamily="34" charset="-120"/>
              </a:rPr>
              <a:t>VARO Shopping Mall 실시간 시연</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952500" y="952500"/>
            <a:ext cx="16874490" cy="914400"/>
          </a:xfrm>
          <a:prstGeom prst="rect">
            <a:avLst/>
          </a:prstGeom>
          <a:noFill/>
          <a:ln/>
        </p:spPr>
        <p:txBody>
          <a:bodyPr wrap="square" lIns="25400" tIns="25400" rIns="25400" bIns="25400" rtlCol="0" anchor="t">
            <a:normAutofit/>
          </a:bodyPr>
          <a:lstStyle/>
          <a:p>
            <a:pPr algn="l" indent="0" marL="0">
              <a:buNone/>
            </a:pPr>
            <a:r>
              <a:rPr lang="en-US" sz="4800" b="1" dirty="0">
                <a:solidFill>
                  <a:srgbClr val="5C4A33"/>
                </a:solidFill>
                <a:latin typeface="Arial" pitchFamily="34" charset="0"/>
                <a:ea typeface="Arial" pitchFamily="34" charset="-122"/>
                <a:cs typeface="Arial" pitchFamily="34" charset="-120"/>
              </a:rPr>
              <a:t>소감</a:t>
            </a:r>
            <a:endParaRPr lang="en-US" sz="4800" dirty="0"/>
          </a:p>
        </p:txBody>
      </p:sp>
      <p:sp>
        <p:nvSpPr>
          <p:cNvPr id="3" name="Shape 1"/>
          <p:cNvSpPr/>
          <p:nvPr/>
        </p:nvSpPr>
        <p:spPr>
          <a:xfrm>
            <a:off x="952500" y="2324100"/>
            <a:ext cx="5232350" cy="7200900"/>
          </a:xfrm>
          <a:prstGeom prst="roundRect">
            <a:avLst>
              <a:gd name="adj" fmla="val 3641"/>
            </a:avLst>
          </a:prstGeom>
          <a:solidFill>
            <a:srgbClr val="FFFFFF"/>
          </a:solidFill>
          <a:ln/>
          <a:effectLst>
            <a:outerShdw sx="100000" sy="100000" kx="0" ky="0" algn="bl" rotWithShape="0" blurRad="228600" dist="38100" dir="5400000">
              <a:srgbClr val="3D3224">
                <a:alpha val="6000"/>
              </a:srgbClr>
            </a:outerShdw>
          </a:effectLst>
        </p:spPr>
      </p:sp>
      <p:sp>
        <p:nvSpPr>
          <p:cNvPr id="4" name="Shape 2"/>
          <p:cNvSpPr/>
          <p:nvPr/>
        </p:nvSpPr>
        <p:spPr>
          <a:xfrm>
            <a:off x="1333500" y="2705167"/>
            <a:ext cx="838200" cy="838200"/>
          </a:xfrm>
          <a:prstGeom prst="roundRect">
            <a:avLst>
              <a:gd name="adj" fmla="val 22727"/>
            </a:avLst>
          </a:prstGeom>
          <a:solidFill>
            <a:srgbClr val="F3EDE4"/>
          </a:solidFill>
          <a:ln/>
        </p:spPr>
      </p:sp>
      <p:pic>
        <p:nvPicPr>
          <p:cNvPr id="5" name="Image 0" descr="preencoded.png">    </p:cNvPr>
          <p:cNvPicPr>
            <a:picLocks noChangeAspect="1"/>
          </p:cNvPicPr>
          <p:nvPr/>
        </p:nvPicPr>
        <p:blipFill>
          <a:blip r:embed="rId1"/>
          <a:stretch>
            <a:fillRect/>
          </a:stretch>
        </p:blipFill>
        <p:spPr>
          <a:xfrm>
            <a:off x="1543050" y="2914717"/>
            <a:ext cx="419100" cy="419100"/>
          </a:xfrm>
          <a:prstGeom prst="rect">
            <a:avLst/>
          </a:prstGeom>
        </p:spPr>
      </p:pic>
      <p:sp>
        <p:nvSpPr>
          <p:cNvPr id="6" name="Text 3"/>
          <p:cNvSpPr/>
          <p:nvPr/>
        </p:nvSpPr>
        <p:spPr>
          <a:xfrm>
            <a:off x="1333500" y="3810000"/>
            <a:ext cx="4604461" cy="561975"/>
          </a:xfrm>
          <a:prstGeom prst="rect">
            <a:avLst/>
          </a:prstGeom>
          <a:noFill/>
          <a:ln/>
        </p:spPr>
        <p:txBody>
          <a:bodyPr wrap="square" lIns="25400" tIns="25400" rIns="25400" bIns="25400" rtlCol="0" anchor="t">
            <a:normAutofit/>
          </a:bodyPr>
          <a:lstStyle/>
          <a:p>
            <a:pPr algn="l" indent="0" marL="0">
              <a:buNone/>
            </a:pPr>
            <a:r>
              <a:rPr lang="en-US" sz="2850" b="1" dirty="0">
                <a:solidFill>
                  <a:srgbClr val="5C4A33"/>
                </a:solidFill>
                <a:latin typeface="Arial" pitchFamily="34" charset="0"/>
                <a:ea typeface="Arial" pitchFamily="34" charset="-122"/>
                <a:cs typeface="Arial" pitchFamily="34" charset="-120"/>
              </a:rPr>
              <a:t>느낀점</a:t>
            </a:r>
            <a:endParaRPr lang="en-US" sz="2850" dirty="0"/>
          </a:p>
        </p:txBody>
      </p:sp>
      <p:sp>
        <p:nvSpPr>
          <p:cNvPr id="7" name="Text 4"/>
          <p:cNvSpPr/>
          <p:nvPr/>
        </p:nvSpPr>
        <p:spPr>
          <a:xfrm>
            <a:off x="1333500" y="4524375"/>
            <a:ext cx="4604461" cy="2304752"/>
          </a:xfrm>
          <a:prstGeom prst="rect">
            <a:avLst/>
          </a:prstGeom>
          <a:noFill/>
          <a:ln/>
        </p:spPr>
        <p:txBody>
          <a:bodyPr wrap="square" lIns="25400" tIns="25400" rIns="25400" bIns="25400" rtlCol="0" anchor="t">
            <a:normAutofit/>
          </a:bodyPr>
          <a:lstStyle/>
          <a:p>
            <a:pPr algn="l" indent="0" marL="0">
              <a:lnSpc>
                <a:spcPct val="170000"/>
              </a:lnSpc>
              <a:buNone/>
            </a:pPr>
            <a:r>
              <a:rPr lang="en-US" sz="2100" dirty="0">
                <a:solidFill>
                  <a:srgbClr val="7A6243"/>
                </a:solidFill>
                <a:latin typeface="Arial" pitchFamily="34" charset="0"/>
                <a:ea typeface="Arial" pitchFamily="34" charset="-122"/>
                <a:cs typeface="Arial" pitchFamily="34" charset="-120"/>
              </a:rPr>
              <a:t>쇼핑몰을 이용만 해봤었지 직접 만들려고하니까 여러가지 요소가 필요하고 다양한 기술이 많아서 여러 쇼핑몰을 찾아보면서 배워나간 계기가 되었습니다.</a:t>
            </a:r>
            <a:endParaRPr lang="en-US" sz="2100" dirty="0"/>
          </a:p>
        </p:txBody>
      </p:sp>
      <p:sp>
        <p:nvSpPr>
          <p:cNvPr id="8" name="Shape 5"/>
          <p:cNvSpPr/>
          <p:nvPr/>
        </p:nvSpPr>
        <p:spPr>
          <a:xfrm>
            <a:off x="6527750" y="2324100"/>
            <a:ext cx="5232499" cy="7200900"/>
          </a:xfrm>
          <a:prstGeom prst="roundRect">
            <a:avLst>
              <a:gd name="adj" fmla="val 3641"/>
            </a:avLst>
          </a:prstGeom>
          <a:solidFill>
            <a:srgbClr val="FFFFFF"/>
          </a:solidFill>
          <a:ln/>
          <a:effectLst>
            <a:outerShdw sx="100000" sy="100000" kx="0" ky="0" algn="bl" rotWithShape="0" blurRad="228600" dist="38100" dir="5400000">
              <a:srgbClr val="3D3224">
                <a:alpha val="6000"/>
              </a:srgbClr>
            </a:outerShdw>
          </a:effectLst>
        </p:spPr>
      </p:sp>
      <p:sp>
        <p:nvSpPr>
          <p:cNvPr id="9" name="Shape 6"/>
          <p:cNvSpPr/>
          <p:nvPr/>
        </p:nvSpPr>
        <p:spPr>
          <a:xfrm>
            <a:off x="6908750" y="2710024"/>
            <a:ext cx="838200" cy="838200"/>
          </a:xfrm>
          <a:prstGeom prst="roundRect">
            <a:avLst>
              <a:gd name="adj" fmla="val 22727"/>
            </a:avLst>
          </a:prstGeom>
          <a:solidFill>
            <a:srgbClr val="F3EDE4"/>
          </a:solidFill>
          <a:ln/>
        </p:spPr>
      </p:sp>
      <p:pic>
        <p:nvPicPr>
          <p:cNvPr id="10" name="Image 1" descr="preencoded.png">    </p:cNvPr>
          <p:cNvPicPr>
            <a:picLocks noChangeAspect="1"/>
          </p:cNvPicPr>
          <p:nvPr/>
        </p:nvPicPr>
        <p:blipFill>
          <a:blip r:embed="rId2"/>
          <a:stretch>
            <a:fillRect/>
          </a:stretch>
        </p:blipFill>
        <p:spPr>
          <a:xfrm>
            <a:off x="7118300" y="2919574"/>
            <a:ext cx="419100" cy="419100"/>
          </a:xfrm>
          <a:prstGeom prst="rect">
            <a:avLst/>
          </a:prstGeom>
        </p:spPr>
      </p:pic>
      <p:sp>
        <p:nvSpPr>
          <p:cNvPr id="11" name="Text 7"/>
          <p:cNvSpPr/>
          <p:nvPr/>
        </p:nvSpPr>
        <p:spPr>
          <a:xfrm>
            <a:off x="6908750" y="3810000"/>
            <a:ext cx="4604614" cy="561975"/>
          </a:xfrm>
          <a:prstGeom prst="rect">
            <a:avLst/>
          </a:prstGeom>
          <a:noFill/>
          <a:ln/>
        </p:spPr>
        <p:txBody>
          <a:bodyPr wrap="square" lIns="25400" tIns="25400" rIns="25400" bIns="25400" rtlCol="0" anchor="t">
            <a:normAutofit/>
          </a:bodyPr>
          <a:lstStyle/>
          <a:p>
            <a:pPr algn="l" indent="0" marL="0">
              <a:buNone/>
            </a:pPr>
            <a:r>
              <a:rPr lang="en-US" sz="2850" b="1" dirty="0">
                <a:solidFill>
                  <a:srgbClr val="5C4A33"/>
                </a:solidFill>
                <a:latin typeface="Arial" pitchFamily="34" charset="0"/>
                <a:ea typeface="Arial" pitchFamily="34" charset="-122"/>
                <a:cs typeface="Arial" pitchFamily="34" charset="-120"/>
              </a:rPr>
              <a:t>반성할 점</a:t>
            </a:r>
            <a:endParaRPr lang="en-US" sz="2850" dirty="0"/>
          </a:p>
        </p:txBody>
      </p:sp>
      <p:sp>
        <p:nvSpPr>
          <p:cNvPr id="12" name="Text 8"/>
          <p:cNvSpPr/>
          <p:nvPr/>
        </p:nvSpPr>
        <p:spPr>
          <a:xfrm>
            <a:off x="6908750" y="4524375"/>
            <a:ext cx="4604614" cy="1851422"/>
          </a:xfrm>
          <a:prstGeom prst="rect">
            <a:avLst/>
          </a:prstGeom>
          <a:noFill/>
          <a:ln/>
        </p:spPr>
        <p:txBody>
          <a:bodyPr wrap="square" lIns="25400" tIns="25400" rIns="25400" bIns="25400" rtlCol="0" anchor="t">
            <a:normAutofit/>
          </a:bodyPr>
          <a:lstStyle/>
          <a:p>
            <a:pPr algn="l" indent="0" marL="0">
              <a:lnSpc>
                <a:spcPct val="170000"/>
              </a:lnSpc>
              <a:buNone/>
            </a:pPr>
            <a:r>
              <a:rPr lang="en-US" sz="2100" dirty="0">
                <a:solidFill>
                  <a:srgbClr val="7A6243"/>
                </a:solidFill>
                <a:latin typeface="Arial" pitchFamily="34" charset="0"/>
                <a:ea typeface="Arial" pitchFamily="34" charset="-122"/>
                <a:cs typeface="Arial" pitchFamily="34" charset="-120"/>
              </a:rPr>
              <a:t>테스트를 더 꼼꼼하게 진행했어야 했고, 시간 관리를 좀 더 체계적으로 했으면 좋았을 것 같습니다.</a:t>
            </a:r>
            <a:endParaRPr lang="en-US" sz="2100" dirty="0"/>
          </a:p>
        </p:txBody>
      </p:sp>
      <p:sp>
        <p:nvSpPr>
          <p:cNvPr id="13" name="Shape 9"/>
          <p:cNvSpPr/>
          <p:nvPr/>
        </p:nvSpPr>
        <p:spPr>
          <a:xfrm>
            <a:off x="12103150" y="2324100"/>
            <a:ext cx="5232350" cy="7200900"/>
          </a:xfrm>
          <a:prstGeom prst="roundRect">
            <a:avLst>
              <a:gd name="adj" fmla="val 3641"/>
            </a:avLst>
          </a:prstGeom>
          <a:solidFill>
            <a:srgbClr val="FFFFFF"/>
          </a:solidFill>
          <a:ln/>
          <a:effectLst>
            <a:outerShdw sx="100000" sy="100000" kx="0" ky="0" algn="bl" rotWithShape="0" blurRad="228600" dist="38100" dir="5400000">
              <a:srgbClr val="3D3224">
                <a:alpha val="6000"/>
              </a:srgbClr>
            </a:outerShdw>
          </a:effectLst>
        </p:spPr>
      </p:sp>
      <p:sp>
        <p:nvSpPr>
          <p:cNvPr id="14" name="Shape 10"/>
          <p:cNvSpPr/>
          <p:nvPr/>
        </p:nvSpPr>
        <p:spPr>
          <a:xfrm>
            <a:off x="12484150" y="2727817"/>
            <a:ext cx="838200" cy="838200"/>
          </a:xfrm>
          <a:prstGeom prst="roundRect">
            <a:avLst>
              <a:gd name="adj" fmla="val 22727"/>
            </a:avLst>
          </a:prstGeom>
          <a:solidFill>
            <a:srgbClr val="F3EDE4"/>
          </a:solidFill>
          <a:ln/>
        </p:spPr>
      </p:sp>
      <p:pic>
        <p:nvPicPr>
          <p:cNvPr id="15" name="Image 2" descr="preencoded.png">    </p:cNvPr>
          <p:cNvPicPr>
            <a:picLocks noChangeAspect="1"/>
          </p:cNvPicPr>
          <p:nvPr/>
        </p:nvPicPr>
        <p:blipFill>
          <a:blip r:embed="rId3"/>
          <a:stretch>
            <a:fillRect/>
          </a:stretch>
        </p:blipFill>
        <p:spPr>
          <a:xfrm>
            <a:off x="12693700" y="2937367"/>
            <a:ext cx="419100" cy="419100"/>
          </a:xfrm>
          <a:prstGeom prst="rect">
            <a:avLst/>
          </a:prstGeom>
        </p:spPr>
      </p:pic>
      <p:sp>
        <p:nvSpPr>
          <p:cNvPr id="16" name="Text 11"/>
          <p:cNvSpPr/>
          <p:nvPr/>
        </p:nvSpPr>
        <p:spPr>
          <a:xfrm>
            <a:off x="12484150" y="3810000"/>
            <a:ext cx="4604461" cy="561975"/>
          </a:xfrm>
          <a:prstGeom prst="rect">
            <a:avLst/>
          </a:prstGeom>
          <a:noFill/>
          <a:ln/>
        </p:spPr>
        <p:txBody>
          <a:bodyPr wrap="square" lIns="25400" tIns="25400" rIns="25400" bIns="25400" rtlCol="0" anchor="t">
            <a:normAutofit/>
          </a:bodyPr>
          <a:lstStyle/>
          <a:p>
            <a:pPr algn="l" indent="0" marL="0">
              <a:buNone/>
            </a:pPr>
            <a:r>
              <a:rPr lang="en-US" sz="2850" b="1" dirty="0">
                <a:solidFill>
                  <a:srgbClr val="5C4A33"/>
                </a:solidFill>
                <a:latin typeface="Arial" pitchFamily="34" charset="0"/>
                <a:ea typeface="Arial" pitchFamily="34" charset="-122"/>
                <a:cs typeface="Arial" pitchFamily="34" charset="-120"/>
              </a:rPr>
              <a:t>배운점</a:t>
            </a:r>
            <a:endParaRPr lang="en-US" sz="2850" dirty="0"/>
          </a:p>
        </p:txBody>
      </p:sp>
      <p:sp>
        <p:nvSpPr>
          <p:cNvPr id="17" name="Text 12"/>
          <p:cNvSpPr/>
          <p:nvPr/>
        </p:nvSpPr>
        <p:spPr>
          <a:xfrm>
            <a:off x="12484150" y="4524375"/>
            <a:ext cx="4604461" cy="1851422"/>
          </a:xfrm>
          <a:prstGeom prst="rect">
            <a:avLst/>
          </a:prstGeom>
          <a:noFill/>
          <a:ln/>
        </p:spPr>
        <p:txBody>
          <a:bodyPr wrap="square" lIns="25400" tIns="25400" rIns="25400" bIns="25400" rtlCol="0" anchor="t">
            <a:normAutofit/>
          </a:bodyPr>
          <a:lstStyle/>
          <a:p>
            <a:pPr algn="l" indent="0" marL="0">
              <a:lnSpc>
                <a:spcPct val="170000"/>
              </a:lnSpc>
              <a:buNone/>
            </a:pPr>
            <a:r>
              <a:rPr lang="en-US" sz="2100" dirty="0">
                <a:solidFill>
                  <a:srgbClr val="7A6243"/>
                </a:solidFill>
                <a:latin typeface="Arial" pitchFamily="34" charset="0"/>
                <a:ea typeface="Arial" pitchFamily="34" charset="-122"/>
                <a:cs typeface="Arial" pitchFamily="34" charset="-120"/>
              </a:rPr>
              <a:t>기획부터 개발까지 혼자 해본 경험이 개발자로서의 자신감과 실력 향상에 큰 도움이 됐습니다.</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7F2"/>
          </a:solidFill>
          <a:ln/>
        </p:spPr>
      </p:sp>
      <p:sp>
        <p:nvSpPr>
          <p:cNvPr id="3" name="Shape 1"/>
          <p:cNvSpPr/>
          <p:nvPr/>
        </p:nvSpPr>
        <p:spPr>
          <a:xfrm>
            <a:off x="14478000" y="-1207175"/>
            <a:ext cx="4762500" cy="4762500"/>
          </a:xfrm>
          <a:prstGeom prst="ellipse">
            <a:avLst/>
          </a:prstGeom>
          <a:solidFill>
            <a:srgbClr val="E8C9A8">
              <a:alpha val="35000"/>
            </a:srgbClr>
          </a:solidFill>
          <a:ln/>
        </p:spPr>
      </p:sp>
      <p:sp>
        <p:nvSpPr>
          <p:cNvPr id="4" name="Shape 2"/>
          <p:cNvSpPr/>
          <p:nvPr/>
        </p:nvSpPr>
        <p:spPr>
          <a:xfrm>
            <a:off x="-571500" y="7650498"/>
            <a:ext cx="3333750" cy="3333751"/>
          </a:xfrm>
          <a:prstGeom prst="ellipse">
            <a:avLst/>
          </a:prstGeom>
          <a:solidFill>
            <a:srgbClr val="E8C9A8">
              <a:alpha val="25000"/>
            </a:srgbClr>
          </a:solidFill>
          <a:ln/>
        </p:spPr>
      </p:sp>
      <p:pic>
        <p:nvPicPr>
          <p:cNvPr id="5" name="Image 0" descr="preencoded.png">    </p:cNvPr>
          <p:cNvPicPr>
            <a:picLocks noChangeAspect="1"/>
          </p:cNvPicPr>
          <p:nvPr/>
        </p:nvPicPr>
        <p:blipFill>
          <a:blip r:embed="rId1"/>
          <a:stretch>
            <a:fillRect/>
          </a:stretch>
        </p:blipFill>
        <p:spPr>
          <a:xfrm>
            <a:off x="8800951" y="2612664"/>
            <a:ext cx="685800" cy="685800"/>
          </a:xfrm>
          <a:prstGeom prst="rect">
            <a:avLst/>
          </a:prstGeom>
        </p:spPr>
      </p:pic>
      <p:sp>
        <p:nvSpPr>
          <p:cNvPr id="6" name="Text 3"/>
          <p:cNvSpPr/>
          <p:nvPr/>
        </p:nvSpPr>
        <p:spPr>
          <a:xfrm>
            <a:off x="7780615" y="3609975"/>
            <a:ext cx="2726622" cy="1562100"/>
          </a:xfrm>
          <a:prstGeom prst="rect">
            <a:avLst/>
          </a:prstGeom>
          <a:noFill/>
          <a:ln/>
        </p:spPr>
        <p:txBody>
          <a:bodyPr wrap="square" lIns="25400" tIns="25400" rIns="25400" bIns="25400" rtlCol="0" anchor="t">
            <a:normAutofit/>
          </a:bodyPr>
          <a:lstStyle/>
          <a:p>
            <a:pPr algn="ctr" indent="0" marL="0">
              <a:buNone/>
            </a:pPr>
            <a:r>
              <a:rPr lang="en-US" sz="9000" b="1" dirty="0">
                <a:solidFill>
                  <a:srgbClr val="5C4A33"/>
                </a:solidFill>
                <a:latin typeface="Arial" pitchFamily="34" charset="0"/>
                <a:ea typeface="Arial" pitchFamily="34" charset="-122"/>
                <a:cs typeface="Arial" pitchFamily="34" charset="-120"/>
              </a:rPr>
              <a:t>Q&amp;A</a:t>
            </a:r>
            <a:endParaRPr lang="en-US" sz="9000" dirty="0"/>
          </a:p>
        </p:txBody>
      </p:sp>
      <p:sp>
        <p:nvSpPr>
          <p:cNvPr id="7" name="Text 4"/>
          <p:cNvSpPr/>
          <p:nvPr/>
        </p:nvSpPr>
        <p:spPr>
          <a:xfrm>
            <a:off x="7163610" y="5362575"/>
            <a:ext cx="3960630" cy="504825"/>
          </a:xfrm>
          <a:prstGeom prst="rect">
            <a:avLst/>
          </a:prstGeom>
          <a:noFill/>
          <a:ln/>
        </p:spPr>
        <p:txBody>
          <a:bodyPr wrap="square" lIns="25400" tIns="25400" rIns="25400" bIns="25400" rtlCol="0" anchor="t">
            <a:normAutofit/>
          </a:bodyPr>
          <a:lstStyle/>
          <a:p>
            <a:pPr algn="ctr" indent="0" marL="0">
              <a:buNone/>
            </a:pPr>
            <a:r>
              <a:rPr lang="en-US" sz="2550" dirty="0">
                <a:solidFill>
                  <a:srgbClr val="9A7D52"/>
                </a:solidFill>
                <a:latin typeface="Arial" pitchFamily="34" charset="0"/>
                <a:ea typeface="Arial" pitchFamily="34" charset="-122"/>
                <a:cs typeface="Arial" pitchFamily="34" charset="-120"/>
              </a:rPr>
              <a:t>궁금하신 점을 질문해 주세요</a:t>
            </a:r>
            <a:endParaRPr lang="en-US" sz="2550" dirty="0"/>
          </a:p>
        </p:txBody>
      </p:sp>
      <p:sp>
        <p:nvSpPr>
          <p:cNvPr id="8" name="Shape 5"/>
          <p:cNvSpPr/>
          <p:nvPr/>
        </p:nvSpPr>
        <p:spPr>
          <a:xfrm>
            <a:off x="8762851" y="6210300"/>
            <a:ext cx="762000" cy="19050"/>
          </a:xfrm>
          <a:prstGeom prst="rect">
            <a:avLst/>
          </a:prstGeom>
          <a:solidFill>
            <a:srgbClr val="C8956C"/>
          </a:solidFill>
          <a:ln/>
        </p:spPr>
      </p:sp>
      <p:sp>
        <p:nvSpPr>
          <p:cNvPr id="9" name="Text 6"/>
          <p:cNvSpPr/>
          <p:nvPr/>
        </p:nvSpPr>
        <p:spPr>
          <a:xfrm>
            <a:off x="7714394" y="6534150"/>
            <a:ext cx="2858914" cy="1133475"/>
          </a:xfrm>
          <a:prstGeom prst="rect">
            <a:avLst/>
          </a:prstGeom>
          <a:noFill/>
          <a:ln/>
        </p:spPr>
        <p:txBody>
          <a:bodyPr wrap="square" lIns="25400" tIns="25400" rIns="25400" bIns="25400" rtlCol="0" anchor="t">
            <a:normAutofit/>
          </a:bodyPr>
          <a:lstStyle/>
          <a:p>
            <a:pPr algn="ctr" indent="0" marL="0">
              <a:lnSpc>
                <a:spcPct val="200000"/>
              </a:lnSpc>
              <a:buNone/>
            </a:pPr>
            <a:r>
              <a:rPr lang="en-US" sz="2100" b="1" dirty="0">
                <a:solidFill>
                  <a:srgbClr val="9A7D52"/>
                </a:solidFill>
                <a:latin typeface="Arial" pitchFamily="34" charset="0"/>
                <a:ea typeface="Arial" pitchFamily="34" charset="-122"/>
                <a:cs typeface="Arial" pitchFamily="34" charset="-120"/>
              </a:rPr>
              <a:t>오하율 </a:t>
            </a:r>
            <a:pPr algn="ctr" indent="0" marL="0">
              <a:lnSpc>
                <a:spcPct val="200000"/>
              </a:lnSpc>
              <a:buNone/>
            </a:pPr>
            <a:r>
              <a:rPr lang="en-US" sz="2100" dirty="0">
                <a:solidFill>
                  <a:srgbClr val="9A7D52"/>
                </a:solidFill>
                <a:latin typeface="Arial" pitchFamily="34" charset="0"/>
                <a:ea typeface="Arial" pitchFamily="34" charset="-122"/>
                <a:cs typeface="Arial" pitchFamily="34" charset="-120"/>
              </a:rPr>
              <a:t>Ohayul.me@gmail.com</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2026-04-28T08:27:12Z</dcterms:created>
  <dcterms:modified xsi:type="dcterms:W3CDTF">2026-04-28T08:27:12Z</dcterms:modified>
</cp:coreProperties>
</file>