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  <p:sldId id="270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197" autoAdjust="0"/>
  </p:normalViewPr>
  <p:slideViewPr>
    <p:cSldViewPr snapToGrid="0" snapToObjects="1">
      <p:cViewPr varScale="1">
        <p:scale>
          <a:sx n="60" d="100"/>
          <a:sy n="60" d="100"/>
        </p:scale>
        <p:origin x="13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11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오하율입니다. 오늘 제가 혼자서 기획부터 개발까지 진행한 VARO 쇼핑몰 프로젝트를 소개해 드리겠습니다. </a:t>
            </a:r>
            <a:endParaRPr lang="en-US" dirty="0" smtClean="0"/>
          </a:p>
          <a:p>
            <a:r>
              <a:rPr lang="en-US" dirty="0" err="1" smtClean="0"/>
              <a:t>저는</a:t>
            </a:r>
            <a:r>
              <a:rPr lang="en-US" dirty="0" smtClean="0"/>
              <a:t> </a:t>
            </a:r>
            <a:r>
              <a:rPr lang="en-US" dirty="0"/>
              <a:t>비전공자로 개발을 시작했는데, 이 프로젝트를 통해 실제 쇼핑몰이 어떻게 만들어지는지 처음부터 끝까지 경험해 볼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 순서입니다. 먼저 프로젝트가 뭔지 간단히 소개하고, 어떤 기술을 썼는지, 어떻게 설계했는지 말씀드릴게요. 그 다음에 주요 기능들을 하나씩 보여드리고, 실제 동작하는 화면도 시연해 드리겠습니다. 마지막으로 이 프로젝트를 하면서 느낀 점을 공유하겠습니다.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VARO는 남성 패션 쇼핑몰입니다. 그냥 상품을 보여주는 단순한 사이트가 아니라, 회원이 아닌 분도 주문할 수 있고, 관리자가 매출을 한눈에 볼 수 있는 관리 화면까지 갖춘 종합 쇼핑몰이에요. 총 12가지 핵심 기능을 정의하고, 그걸 모두 구현하는 걸 목표로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사용한 기술들입니다. 쉽게 말하면, 화면에 보이는 부분은 자바스크립트와 CSS로 직접 만들었고, 뒤에서 데이터를 처리하는 서버는 Node.js라는 걸 썼어요. 상품이나 회원 정보를 저장하는 데이터베이스는 MySQL을 사용했고, 엑셀 데이터를 자동으로 읽어오는 기능도 넣었습니다.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화면은 프로젝트를 시작하기 전에 어떤 기능이 필요한지 정리한 요구사항 정의서입니다. </a:t>
            </a:r>
            <a:endParaRPr lang="en-US" dirty="0" smtClean="0"/>
          </a:p>
          <a:p>
            <a:r>
              <a:rPr lang="en-US" dirty="0" err="1" smtClean="0"/>
              <a:t>회원가입</a:t>
            </a:r>
            <a:r>
              <a:rPr lang="en-US" dirty="0"/>
              <a:t>, 로그인, 상품 관리, 장바구니, 결제 같은 기능들을 하나하나 목록으로 만들고, 각각의 중요도를 매겨서 우선순위를 정했어요. </a:t>
            </a:r>
            <a:endParaRPr lang="en-US" dirty="0" smtClean="0"/>
          </a:p>
          <a:p>
            <a:r>
              <a:rPr lang="en-US" dirty="0" err="1" smtClean="0"/>
              <a:t>이렇게</a:t>
            </a:r>
            <a:r>
              <a:rPr lang="en-US" dirty="0" smtClean="0"/>
              <a:t> </a:t>
            </a:r>
            <a:r>
              <a:rPr lang="en-US" dirty="0"/>
              <a:t>미리 정리해두니까 개발할 때 빠뜨리는 기능 없이 체계적으로 진행할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구조를 간단히 설명드리면, 3층짜리 건물이라고 생각하시면 돼요. </a:t>
            </a:r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층은 사용자가 보는 화면, 2층은 데이터를 처리하는 서버, 3층은 정보를 저장하는 데이터베이스예요. </a:t>
            </a:r>
            <a:endParaRPr lang="en-US" dirty="0" smtClean="0"/>
          </a:p>
          <a:p>
            <a:r>
              <a:rPr lang="en-US" dirty="0" err="1" smtClean="0"/>
              <a:t>사용자가</a:t>
            </a:r>
            <a:r>
              <a:rPr lang="en-US" dirty="0" smtClean="0"/>
              <a:t> </a:t>
            </a:r>
            <a:r>
              <a:rPr lang="en-US" dirty="0"/>
              <a:t>상품을 클릭하면, 서버가 데이터베이스에서 정보를 가져와서 화면에 보여주는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다이어그램은 쇼핑몰을 누가, 어떻게 사용하는지를 그림으로 정리한 거예요. </a:t>
            </a:r>
            <a:endParaRPr lang="en-US" dirty="0" smtClean="0"/>
          </a:p>
          <a:p>
            <a:r>
              <a:rPr lang="en-US" dirty="0" err="1" smtClean="0"/>
              <a:t>왼쪽에</a:t>
            </a:r>
            <a:r>
              <a:rPr lang="en-US" dirty="0" smtClean="0"/>
              <a:t> </a:t>
            </a:r>
            <a:r>
              <a:rPr lang="en-US" dirty="0"/>
              <a:t>비회원, 아래쪽에 회원, 오른쪽에 관리자가 있고, 각각 할 수 있는 기능이 다릅니다. </a:t>
            </a:r>
            <a:endParaRPr lang="en-US" dirty="0" smtClean="0"/>
          </a:p>
          <a:p>
            <a:r>
              <a:rPr lang="en-US" dirty="0" err="1" smtClean="0"/>
              <a:t>비회원은</a:t>
            </a:r>
            <a:r>
              <a:rPr lang="en-US" dirty="0" smtClean="0"/>
              <a:t> </a:t>
            </a:r>
            <a:r>
              <a:rPr lang="en-US" dirty="0"/>
              <a:t>상품 검색과 주문만 가능하고, 회원은 리뷰 작성이나 장바구니 같은 추가 기능을 쓸 수 있어요. </a:t>
            </a:r>
            <a:endParaRPr lang="en-US" dirty="0" smtClean="0"/>
          </a:p>
          <a:p>
            <a:r>
              <a:rPr lang="en-US" dirty="0" err="1" smtClean="0"/>
              <a:t>관리자는</a:t>
            </a:r>
            <a:r>
              <a:rPr lang="en-US" dirty="0" smtClean="0"/>
              <a:t> </a:t>
            </a:r>
            <a:r>
              <a:rPr lang="en-US" dirty="0"/>
              <a:t>매출 확인이나 상품 관리 같은 운영 기능을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 다이어그램은 쉽게 말해서 데이터를 어떤 구조로 저장할지 설계한 도면이에요. 총 11개의 테이블, 그러니까 11개의 정보 저장 공간을 만들었어요. </a:t>
            </a:r>
            <a:endParaRPr lang="en-US" dirty="0" smtClean="0"/>
          </a:p>
          <a:p>
            <a:r>
              <a:rPr lang="en-US" dirty="0" err="1" smtClean="0"/>
              <a:t>예를</a:t>
            </a:r>
            <a:r>
              <a:rPr lang="en-US" dirty="0" smtClean="0"/>
              <a:t> </a:t>
            </a:r>
            <a:r>
              <a:rPr lang="en-US" dirty="0"/>
              <a:t>들어 회원 정보, 상품 정보, 주문 내역 등이 각각 따로 저장되고, 서로 연결되어 있어서 '누가 어떤 상품을 주문했는지' 같은 정보를 쉽게 찾을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주요 기능은 로그인입니다. </a:t>
            </a:r>
            <a:endParaRPr lang="en-US" dirty="0" smtClean="0"/>
          </a:p>
          <a:p>
            <a:r>
              <a:rPr lang="en-US" dirty="0" err="1" smtClean="0"/>
              <a:t>직접</a:t>
            </a:r>
            <a:r>
              <a:rPr lang="en-US" dirty="0" smtClean="0"/>
              <a:t> </a:t>
            </a:r>
            <a:r>
              <a:rPr lang="en-US" dirty="0"/>
              <a:t>아이디와 비밀번호를 만들어서 가입할 수도 있고, 네이버, 카카오, 구글 같은 소셜 계정으로 간편하게 로그인할 수도 있어요. </a:t>
            </a:r>
            <a:endParaRPr lang="en-US" dirty="0" smtClean="0"/>
          </a:p>
          <a:p>
            <a:r>
              <a:rPr lang="en-US" dirty="0" err="1" smtClean="0"/>
              <a:t>보안을</a:t>
            </a:r>
            <a:r>
              <a:rPr lang="en-US" dirty="0" smtClean="0"/>
              <a:t> </a:t>
            </a:r>
            <a:r>
              <a:rPr lang="en-US" dirty="0"/>
              <a:t>위해서 JWT라는 방식으로 로그인 상태를 안전하게 관리하고 있습니다. </a:t>
            </a:r>
            <a:endParaRPr lang="en-US" dirty="0" smtClean="0"/>
          </a:p>
          <a:p>
            <a:r>
              <a:rPr lang="en-US" dirty="0" err="1" smtClean="0"/>
              <a:t>비밀번호는</a:t>
            </a:r>
            <a:r>
              <a:rPr lang="en-US" dirty="0" smtClean="0"/>
              <a:t> </a:t>
            </a:r>
            <a:r>
              <a:rPr lang="en-US" dirty="0"/>
              <a:t>암호화해서 저장하기 때문에 관리자도 볼 수 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번째는 쇼핑몰의 핵심인 상품 페이지예요. </a:t>
            </a:r>
            <a:endParaRPr lang="en-US" dirty="0" smtClean="0"/>
          </a:p>
          <a:p>
            <a:r>
              <a:rPr lang="en-US" dirty="0" err="1" smtClean="0"/>
              <a:t>화면에서</a:t>
            </a:r>
            <a:r>
              <a:rPr lang="en-US" dirty="0" smtClean="0"/>
              <a:t> </a:t>
            </a:r>
            <a:r>
              <a:rPr lang="en-US" dirty="0"/>
              <a:t>보시는 것처럼 주간 베스트 상품을 카테고리별로 보여주고, BEST, NEW, HOT, SALE 같은 배지를 달아서 한눈에 인기 상품을 알 수 있게 했어요. </a:t>
            </a:r>
            <a:endParaRPr lang="en-US" dirty="0" smtClean="0"/>
          </a:p>
          <a:p>
            <a:r>
              <a:rPr lang="en-US" dirty="0" err="1" smtClean="0"/>
              <a:t>상품</a:t>
            </a:r>
            <a:r>
              <a:rPr lang="en-US" dirty="0" smtClean="0"/>
              <a:t> </a:t>
            </a:r>
            <a:r>
              <a:rPr lang="en-US" dirty="0"/>
              <a:t>이미지에 마우스를 올리면 다른 각도의 사진도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장바구니와 결제 시스템이에요. </a:t>
            </a:r>
            <a:endParaRPr lang="en-US" dirty="0" smtClean="0"/>
          </a:p>
          <a:p>
            <a:r>
              <a:rPr lang="en-US" dirty="0" err="1" smtClean="0"/>
              <a:t>재미있는</a:t>
            </a:r>
            <a:r>
              <a:rPr lang="en-US" dirty="0" smtClean="0"/>
              <a:t> </a:t>
            </a:r>
            <a:r>
              <a:rPr lang="en-US" dirty="0"/>
              <a:t>건, 로그인 안 한 상태에서 장바구니에 담아놓은 상품이 나중에 로그인하면 자동으로 합쳐진다는 거예요. </a:t>
            </a:r>
            <a:endParaRPr lang="en-US" dirty="0" smtClean="0"/>
          </a:p>
          <a:p>
            <a:r>
              <a:rPr lang="en-US" dirty="0" err="1" smtClean="0"/>
              <a:t>그래서</a:t>
            </a:r>
            <a:r>
              <a:rPr lang="en-US" dirty="0" smtClean="0"/>
              <a:t> </a:t>
            </a:r>
            <a:r>
              <a:rPr lang="en-US" dirty="0"/>
              <a:t>상품이 사라지는 일이 없어요. </a:t>
            </a:r>
            <a:endParaRPr lang="en-US" dirty="0" smtClean="0"/>
          </a:p>
          <a:p>
            <a:r>
              <a:rPr lang="en-US" dirty="0" err="1" smtClean="0"/>
              <a:t>결제는</a:t>
            </a:r>
            <a:r>
              <a:rPr lang="en-US" dirty="0" smtClean="0"/>
              <a:t> </a:t>
            </a:r>
            <a:r>
              <a:rPr lang="en-US" dirty="0"/>
              <a:t>토스페이먼츠를 연동해서 카카오페이, 신용카드 등 다양한 방법으로 결제할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번째는 관리자 화면입니다. 관리자로 로그인하면 상품을 추가하거나 수정할 수 있고, 메인 배너 이미지도 바꿀 수 있어요. </a:t>
            </a:r>
            <a:endParaRPr lang="en-US" dirty="0" smtClean="0"/>
          </a:p>
          <a:p>
            <a:r>
              <a:rPr lang="en-US" dirty="0" smtClean="0"/>
              <a:t>FAQ(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하는 질문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나 </a:t>
            </a:r>
            <a:r>
              <a:rPr lang="en-US" dirty="0"/>
              <a:t>공지사항 같은 커뮤니티 게시판도 관리할 수 있습니다. </a:t>
            </a:r>
            <a:endParaRPr lang="en-US" dirty="0" smtClean="0"/>
          </a:p>
          <a:p>
            <a:r>
              <a:rPr lang="en-US" dirty="0" err="1" smtClean="0"/>
              <a:t>드래그해서</a:t>
            </a:r>
            <a:r>
              <a:rPr lang="en-US" dirty="0" smtClean="0"/>
              <a:t> </a:t>
            </a:r>
            <a:r>
              <a:rPr lang="en-US" dirty="0"/>
              <a:t>배너 순서를 바꾸거나, 상품에 NEW, HOT 같은 배지를 붙이는 것도 가능해요.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3628-8931-511C-6E03-34724009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D59D9-AD5C-2DE8-9B94-C4E8D9196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2E6E2-001D-BA70-9674-A1FACC8EF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번째는 관리자 화면입니다. 관리자로 로그인하면 상품을 추가하거나 수정할 수 있고, 메인 배너 이미지도 바꿀 수 있어요. </a:t>
            </a:r>
            <a:endParaRPr lang="en-US" dirty="0" smtClean="0"/>
          </a:p>
          <a:p>
            <a:r>
              <a:rPr lang="en-US" dirty="0" smtClean="0"/>
              <a:t>FAQ(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하는 질문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나 </a:t>
            </a:r>
            <a:r>
              <a:rPr lang="en-US" dirty="0"/>
              <a:t>공지사항 같은 커뮤니티 게시판도 관리할 수 있습니다. </a:t>
            </a:r>
            <a:endParaRPr lang="en-US" dirty="0" smtClean="0"/>
          </a:p>
          <a:p>
            <a:r>
              <a:rPr lang="en-US" dirty="0" err="1" smtClean="0"/>
              <a:t>드래그해서</a:t>
            </a:r>
            <a:r>
              <a:rPr lang="en-US" dirty="0" smtClean="0"/>
              <a:t> </a:t>
            </a:r>
            <a:r>
              <a:rPr lang="en-US" dirty="0"/>
              <a:t>배너 순서를 바꾸거나, 상품에 NEW, HOT 같은 배지를 붙이는 것도 가능해요.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18D74-7ED1-279A-F513-20AEC7C7B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13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968D5-5135-6F11-38B3-824F05DE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188CA-3AD0-ABA1-A1D4-9042D51B1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18B1B-BB58-12C3-5AEB-02FA551FA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번째는 관리자 화면입니다. 관리자로 로그인하면 상품을 추가하거나 수정할 수 있고, 메인 배너 이미지도 바꿀 수 있어요. </a:t>
            </a:r>
            <a:endParaRPr lang="en-US" dirty="0" smtClean="0"/>
          </a:p>
          <a:p>
            <a:r>
              <a:rPr lang="en-US" dirty="0" smtClean="0"/>
              <a:t>FAQ(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하는 질문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나 </a:t>
            </a:r>
            <a:r>
              <a:rPr lang="en-US" dirty="0"/>
              <a:t>공지사항 같은 커뮤니티 게시판도 관리할 수 있습니다. </a:t>
            </a:r>
            <a:endParaRPr lang="en-US" dirty="0" smtClean="0"/>
          </a:p>
          <a:p>
            <a:r>
              <a:rPr lang="en-US" dirty="0" err="1" smtClean="0"/>
              <a:t>드래그해서</a:t>
            </a:r>
            <a:r>
              <a:rPr lang="en-US" dirty="0" smtClean="0"/>
              <a:t> </a:t>
            </a:r>
            <a:r>
              <a:rPr lang="en-US" dirty="0"/>
              <a:t>배너 순서를 바꾸거나, 상품에 NEW, HOT 같은 배지를 붙이는 것도 가능해요.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891F5-BC28-7722-D9DC-0A2366AE5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28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VARO 쇼핑몰을 라이브로 보여드리겠습니다. </a:t>
            </a:r>
            <a:endParaRPr lang="en-US" dirty="0" smtClean="0"/>
          </a:p>
          <a:p>
            <a:r>
              <a:rPr lang="en-US" dirty="0" err="1" smtClean="0"/>
              <a:t>메인</a:t>
            </a:r>
            <a:r>
              <a:rPr lang="en-US" dirty="0" smtClean="0"/>
              <a:t> </a:t>
            </a:r>
            <a:r>
              <a:rPr lang="en-US" dirty="0"/>
              <a:t>페이지부터 상품 검색, 장바구니, 결제, 그리고 관리자 화면까지 순서대로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마치며 느낀 점입니다. 쇼핑몰을 이용만 해봤지, 직접 만들어보니 정말 많은 요소가 필요하다는 걸 </a:t>
            </a:r>
            <a:r>
              <a:rPr lang="en-US" dirty="0" err="1" smtClean="0"/>
              <a:t>알게</a:t>
            </a:r>
            <a:r>
              <a:rPr lang="ko-KR" altLang="en-US" dirty="0" smtClean="0"/>
              <a:t>되었습니다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시간</a:t>
            </a:r>
            <a:r>
              <a:rPr lang="en-US" dirty="0" smtClean="0"/>
              <a:t> </a:t>
            </a:r>
            <a:r>
              <a:rPr lang="en-US" dirty="0"/>
              <a:t>관리를 좀 더 잘했으면 좋았을 것 같고, 테스트를 더 꼼꼼하게 했어야 했다는 반성도 있습니다. </a:t>
            </a:r>
            <a:endParaRPr lang="en-US" dirty="0" smtClean="0"/>
          </a:p>
          <a:p>
            <a:r>
              <a:rPr lang="en-US" dirty="0" err="1" smtClean="0"/>
              <a:t>하지만</a:t>
            </a:r>
            <a:r>
              <a:rPr lang="en-US" dirty="0" smtClean="0"/>
              <a:t> </a:t>
            </a:r>
            <a:r>
              <a:rPr lang="en-US" dirty="0"/>
              <a:t>처음부터 끝까지 혼자 만들어본 경험은 정말 </a:t>
            </a:r>
            <a:r>
              <a:rPr lang="en-US" dirty="0" err="1"/>
              <a:t>값지다고</a:t>
            </a:r>
            <a:r>
              <a:rPr lang="en-US" dirty="0"/>
              <a:t> </a:t>
            </a:r>
            <a:r>
              <a:rPr lang="en-US" dirty="0" err="1" smtClean="0"/>
              <a:t>생각</a:t>
            </a:r>
            <a:r>
              <a:rPr lang="ko-KR" altLang="en-US" dirty="0" smtClean="0"/>
              <a:t>합니다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VARO 쇼핑몰 발표를 마칩니다. 궁금하신 점이 있으시면 편하게 질문해 주세요.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4478000" y="-1151230"/>
            <a:ext cx="4762500" cy="4762500"/>
          </a:xfrm>
          <a:prstGeom prst="ellipse">
            <a:avLst/>
          </a:prstGeom>
          <a:solidFill>
            <a:srgbClr val="E8C9A8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571500" y="7703291"/>
            <a:ext cx="3333750" cy="3333749"/>
          </a:xfrm>
          <a:prstGeom prst="ellipse">
            <a:avLst/>
          </a:prstGeom>
          <a:solidFill>
            <a:srgbClr val="E8C9A8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28800" y="5107747"/>
            <a:ext cx="1905000" cy="1905000"/>
          </a:xfrm>
          <a:prstGeom prst="ellipse">
            <a:avLst/>
          </a:prstGeom>
          <a:solidFill>
            <a:srgbClr val="E8C9A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691507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0649" y="3638550"/>
            <a:ext cx="4267023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0" b="1" kern="0" spc="1050" dirty="0">
                <a:solidFill>
                  <a:srgbClr val="5C4A33"/>
                </a:solidFill>
                <a:latin typeface="Colonna MT" panose="04020805060202030203" pitchFamily="82" charset="0"/>
                <a:ea typeface="Arial" pitchFamily="34" charset="-122"/>
                <a:cs typeface="Arial" pitchFamily="34" charset="-120"/>
              </a:rPr>
              <a:t>VARO</a:t>
            </a:r>
            <a:endParaRPr lang="en-US" sz="9750" dirty="0">
              <a:latin typeface="Colonna MT" panose="04020805060202030203" pitchFamily="8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30650" y="5295900"/>
            <a:ext cx="4026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6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MALL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8763000" y="6172200"/>
            <a:ext cx="762000" cy="19050"/>
          </a:xfrm>
          <a:prstGeom prst="rect">
            <a:avLst/>
          </a:prstGeom>
          <a:solidFill>
            <a:srgbClr val="C895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130650" y="6572250"/>
            <a:ext cx="40267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: 오하율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0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2026. 04. 30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lgerian" panose="04020705040A02060702" pitchFamily="82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>
              <a:latin typeface="Algerian" panose="04020705040A02060702" pitchFamily="8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500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208008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08008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114925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70433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370433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7350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32858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532858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설계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39775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695283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3695283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08008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08008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유스케이스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14925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70433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5370433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277350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32858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9532858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소감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439775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3695283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3695283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162300" y="4630033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4839583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98414" y="5683597"/>
            <a:ext cx="167497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293144" y="6340822"/>
            <a:ext cx="257651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 Shopping Mall </a:t>
            </a: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남성 패션 종합 쇼핑몰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5151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724900" y="4648897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0" y="4858447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64600" y="5683597"/>
            <a:ext cx="149518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목표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524920" y="6340822"/>
            <a:ext cx="323816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· 비회원 · </a:t>
            </a:r>
            <a:r>
              <a:rPr lang="en-US" sz="2100" dirty="0" err="1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역할의 통합 쇼핑 경험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0777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14287500" y="4533007"/>
            <a:ext cx="838200" cy="838200"/>
            <a:chOff x="14287500" y="4533007"/>
            <a:chExt cx="838200" cy="838200"/>
          </a:xfrm>
        </p:grpSpPr>
        <p:sp>
          <p:nvSpPr>
            <p:cNvPr id="14" name="Shape 10"/>
            <p:cNvSpPr/>
            <p:nvPr/>
          </p:nvSpPr>
          <p:spPr>
            <a:xfrm>
              <a:off x="14287500" y="4533007"/>
              <a:ext cx="838200" cy="838200"/>
            </a:xfrm>
            <a:prstGeom prst="roundRect">
              <a:avLst>
                <a:gd name="adj" fmla="val 22727"/>
              </a:avLst>
            </a:prstGeom>
            <a:solidFill>
              <a:srgbClr val="F3EDE4"/>
            </a:solidFill>
            <a:ln/>
            <a:effectLst>
              <a:outerShdw blurRad="101600" dist="50800" dir="16200000" algn="bl" rotWithShape="0">
                <a:srgbClr val="C8956C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97050" y="4742557"/>
              <a:ext cx="419100" cy="419100"/>
            </a:xfrm>
            <a:prstGeom prst="rect">
              <a:avLst/>
            </a:prstGeom>
          </p:spPr>
        </p:pic>
      </p:grpSp>
      <p:sp>
        <p:nvSpPr>
          <p:cNvPr id="16" name="Text 11"/>
          <p:cNvSpPr/>
          <p:nvPr/>
        </p:nvSpPr>
        <p:spPr>
          <a:xfrm>
            <a:off x="13878223" y="5561707"/>
            <a:ext cx="18249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충족률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4043720" y="6218932"/>
            <a:ext cx="132576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13709898" y="6950422"/>
            <a:ext cx="2139702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 smtClean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</a:t>
            </a:r>
            <a:r>
              <a:rPr lang="en-US" sz="18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완성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190875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2670705" y="3532718"/>
            <a:ext cx="459315" cy="459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765" y="41624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68765" y="4591050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168765" y="51149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서버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14925" y="3190875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91000"/>
          </a:blip>
          <a:stretch>
            <a:fillRect/>
          </a:stretch>
        </p:blipFill>
        <p:spPr>
          <a:xfrm>
            <a:off x="6830885" y="3530472"/>
            <a:ext cx="463805" cy="4638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1190" y="41624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331190" y="4591050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Sequelize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5331190" y="51149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연결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277350" y="3190875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alphaModFix amt="83000"/>
          </a:blip>
          <a:stretch>
            <a:fillRect/>
          </a:stretch>
        </p:blipFill>
        <p:spPr>
          <a:xfrm>
            <a:off x="10990259" y="3527421"/>
            <a:ext cx="469906" cy="4699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93615" y="41624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493615" y="4591050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9493615" y="51149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테이블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3439775" y="3190875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alphaModFix amt="76000"/>
          </a:blip>
          <a:stretch>
            <a:fillRect/>
          </a:stretch>
        </p:blipFill>
        <p:spPr>
          <a:xfrm>
            <a:off x="15149859" y="3524597"/>
            <a:ext cx="475557" cy="4755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656040" y="4162425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3656040" y="4591050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13656040" y="5114925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· SVG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952500" y="6057900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>
            <a:alphaModFix amt="97000"/>
          </a:blip>
          <a:stretch>
            <a:fillRect/>
          </a:stretch>
        </p:blipFill>
        <p:spPr>
          <a:xfrm>
            <a:off x="2670705" y="6399743"/>
            <a:ext cx="459315" cy="4593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8765" y="70294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168765" y="7458075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ExcelJS</a:t>
            </a:r>
            <a:endParaRPr lang="en-US" sz="2550" dirty="0"/>
          </a:p>
        </p:txBody>
      </p:sp>
      <p:sp>
        <p:nvSpPr>
          <p:cNvPr id="28" name="Text 21"/>
          <p:cNvSpPr/>
          <p:nvPr/>
        </p:nvSpPr>
        <p:spPr>
          <a:xfrm>
            <a:off x="1168765" y="79819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파이프라인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5114925" y="6057900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>
            <a:off x="6830885" y="6397497"/>
            <a:ext cx="463805" cy="46380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31190" y="70294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5331190" y="7458075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2550" dirty="0"/>
          </a:p>
        </p:txBody>
      </p:sp>
      <p:sp>
        <p:nvSpPr>
          <p:cNvPr id="33" name="Text 25"/>
          <p:cNvSpPr/>
          <p:nvPr/>
        </p:nvSpPr>
        <p:spPr>
          <a:xfrm>
            <a:off x="5331190" y="7981950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9277350" y="6057900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>
            <a:alphaModFix amt="83000"/>
          </a:blip>
          <a:stretch>
            <a:fillRect/>
          </a:stretch>
        </p:blipFill>
        <p:spPr>
          <a:xfrm>
            <a:off x="10990259" y="6394446"/>
            <a:ext cx="469906" cy="46990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493615" y="70294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9493615" y="7458075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</a:t>
            </a:r>
            <a:endParaRPr lang="en-US" sz="2550" dirty="0"/>
          </a:p>
        </p:txBody>
      </p:sp>
      <p:sp>
        <p:nvSpPr>
          <p:cNvPr id="38" name="Text 29"/>
          <p:cNvSpPr/>
          <p:nvPr/>
        </p:nvSpPr>
        <p:spPr>
          <a:xfrm>
            <a:off x="9493615" y="7981950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Mermaid.js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13439775" y="6057900"/>
            <a:ext cx="3895725" cy="2600325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/>
          <a:effectLst>
            <a:outerShdw blurRad="152400" dist="1905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>
            <a:alphaModFix amt="76000"/>
          </a:blip>
          <a:stretch>
            <a:fillRect/>
          </a:stretch>
        </p:blipFill>
        <p:spPr>
          <a:xfrm>
            <a:off x="15149859" y="6391622"/>
            <a:ext cx="475557" cy="4755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656040" y="70294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3656040" y="7458075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</a:t>
            </a:r>
            <a:endParaRPr lang="en-US" sz="2550" dirty="0"/>
          </a:p>
        </p:txBody>
      </p:sp>
      <p:sp>
        <p:nvSpPr>
          <p:cNvPr id="43" name="Text 33"/>
          <p:cNvSpPr/>
          <p:nvPr/>
        </p:nvSpPr>
        <p:spPr>
          <a:xfrm>
            <a:off x="13656040" y="7981950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라이트 모드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2671763" y="4352925"/>
            <a:ext cx="12944475" cy="3876675"/>
          </a:xfrm>
          <a:prstGeom prst="roundRect">
            <a:avLst>
              <a:gd name="adj" fmla="val 3931"/>
            </a:avLst>
          </a:prstGeom>
          <a:ln/>
          <a:effectLst>
            <a:outerShdw blurRad="381000" dist="76200" dir="5400000" algn="bl" rotWithShape="0">
              <a:srgbClr val="3D32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8" y="3286125"/>
            <a:ext cx="17147092" cy="6135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 구조로 설계된 시스템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4473922"/>
            <a:ext cx="4673501" cy="3634680"/>
          </a:xfrm>
          <a:prstGeom prst="roundRect">
            <a:avLst>
              <a:gd name="adj" fmla="val 52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4473922"/>
            <a:ext cx="4673501" cy="38100"/>
          </a:xfrm>
          <a:prstGeom prst="rect">
            <a:avLst/>
          </a:prstGeom>
          <a:solidFill>
            <a:srgbClr val="C8956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00" y="4913535"/>
            <a:ext cx="495300" cy="495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2706" y="5578822"/>
            <a:ext cx="13730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kern="0" spc="225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 · 화면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281758" y="6121747"/>
            <a:ext cx="201498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브라우저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2103277" y="6798022"/>
            <a:ext cx="2371946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보는 </a:t>
            </a:r>
            <a:r>
              <a:rPr lang="en-US" sz="19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9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글래스모피즘</a:t>
            </a: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디자인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007001" y="6053138"/>
            <a:ext cx="495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6807101" y="4473922"/>
            <a:ext cx="4673650" cy="3634680"/>
          </a:xfrm>
          <a:prstGeom prst="roundRect">
            <a:avLst>
              <a:gd name="adj" fmla="val 52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07101" y="4473922"/>
            <a:ext cx="4673650" cy="38100"/>
          </a:xfrm>
          <a:prstGeom prst="rect">
            <a:avLst/>
          </a:prstGeom>
          <a:solidFill>
            <a:srgbClr val="9A7D5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890" y="4888746"/>
            <a:ext cx="495300" cy="495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45996" y="5578822"/>
            <a:ext cx="13730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kern="0" spc="225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 · 서버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519877" y="6121747"/>
            <a:ext cx="142532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2850" dirty="0"/>
          </a:p>
        </p:txBody>
      </p:sp>
      <p:sp>
        <p:nvSpPr>
          <p:cNvPr id="16" name="Text 12"/>
          <p:cNvSpPr/>
          <p:nvPr/>
        </p:nvSpPr>
        <p:spPr>
          <a:xfrm>
            <a:off x="7901583" y="6798022"/>
            <a:ext cx="2661914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처리 · 주문 관리 매출 집계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1861750" y="6053138"/>
            <a:ext cx="495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4"/>
          <p:cNvSpPr/>
          <p:nvPr/>
        </p:nvSpPr>
        <p:spPr>
          <a:xfrm>
            <a:off x="12661850" y="4473922"/>
            <a:ext cx="4673650" cy="3634680"/>
          </a:xfrm>
          <a:prstGeom prst="roundRect">
            <a:avLst>
              <a:gd name="adj" fmla="val 52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2661850" y="4473922"/>
            <a:ext cx="4673650" cy="38100"/>
          </a:xfrm>
          <a:prstGeom prst="rect">
            <a:avLst/>
          </a:prstGeom>
          <a:solidFill>
            <a:srgbClr val="5C4A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4959" y="4866215"/>
            <a:ext cx="495300" cy="495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307850" y="5578822"/>
            <a:ext cx="162951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kern="0" spc="225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 · 저장소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14469328" y="6121747"/>
            <a:ext cx="130656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850" dirty="0"/>
          </a:p>
        </p:txBody>
      </p:sp>
      <p:sp>
        <p:nvSpPr>
          <p:cNvPr id="23" name="Text 18"/>
          <p:cNvSpPr/>
          <p:nvPr/>
        </p:nvSpPr>
        <p:spPr>
          <a:xfrm>
            <a:off x="13794729" y="6798022"/>
            <a:ext cx="2655761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테이블 상품 · 회원 · 주문 정보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유스케이스 다이어그램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어떤 기능을 사용하는지 정리한 설계도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762946" y="3057525"/>
            <a:ext cx="8761958" cy="6476851"/>
          </a:xfrm>
          <a:prstGeom prst="roundRect">
            <a:avLst>
              <a:gd name="adj" fmla="val 2353"/>
            </a:avLst>
          </a:prstGeom>
          <a:ln/>
          <a:effectLst>
            <a:outerShdw blurRad="381000" dist="76200" dir="5400000" algn="bl" rotWithShape="0">
              <a:srgbClr val="3D32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08133" y="2952207"/>
            <a:ext cx="9316771" cy="6886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다이어그램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5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도면 — </a:t>
            </a:r>
            <a:r>
              <a:rPr lang="en-US" sz="2550" dirty="0" smtClean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</a:t>
            </a: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4598640" y="3057525"/>
            <a:ext cx="9090571" cy="6476851"/>
          </a:xfrm>
          <a:prstGeom prst="roundRect">
            <a:avLst>
              <a:gd name="adj" fmla="val 2353"/>
            </a:avLst>
          </a:prstGeom>
          <a:ln/>
          <a:effectLst>
            <a:outerShdw blurRad="381000" dist="76200" dir="5400000" algn="bl" rotWithShape="0">
              <a:srgbClr val="3D32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62" y="3057525"/>
            <a:ext cx="11678653" cy="6856496"/>
          </a:xfrm>
          <a:prstGeom prst="rect">
            <a:avLst/>
          </a:prstGeom>
          <a:gradFill>
            <a:gsLst>
              <a:gs pos="1400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6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3119438"/>
            <a:ext cx="769162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E8D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952500" y="4090987"/>
            <a:ext cx="76916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&amp; 소셜 로그인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52500" y="4948238"/>
            <a:ext cx="769162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25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네이버, 카카오, 구글 계정으로 간편하게 로그인할 수 있고, 비밀번호는 암호화하여 안전하게 관리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6757988"/>
            <a:ext cx="1012031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7750" y="6834188"/>
            <a:ext cx="8215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21247" y="6757988"/>
            <a:ext cx="1012031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216497" y="6834188"/>
            <a:ext cx="8215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89995" y="6757988"/>
            <a:ext cx="801737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5245" y="6834188"/>
            <a:ext cx="6112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</a:t>
            </a:r>
            <a:endParaRPr lang="en-US" sz="18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AA2054-4465-1B65-B620-C6AA98A582C1}"/>
              </a:ext>
            </a:extLst>
          </p:cNvPr>
          <p:cNvGrpSpPr/>
          <p:nvPr/>
        </p:nvGrpSpPr>
        <p:grpSpPr>
          <a:xfrm>
            <a:off x="8991600" y="3609975"/>
            <a:ext cx="8343900" cy="3257550"/>
            <a:chOff x="8991600" y="3609975"/>
            <a:chExt cx="8343900" cy="3257550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24AA3471-B0B8-76D1-5983-447D89FDF67B}"/>
                </a:ext>
              </a:extLst>
            </p:cNvPr>
            <p:cNvSpPr/>
            <p:nvPr/>
          </p:nvSpPr>
          <p:spPr>
            <a:xfrm>
              <a:off x="8991600" y="3609975"/>
              <a:ext cx="8343900" cy="325755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/>
            <a:effectLst>
              <a:outerShdw blurRad="304800" dist="5715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0" descr="preencoded.png">
              <a:extLst>
                <a:ext uri="{FF2B5EF4-FFF2-40B4-BE49-F238E27FC236}">
                  <a16:creationId xmlns:a16="http://schemas.microsoft.com/office/drawing/2014/main" id="{C2120356-69F3-8AE9-41F7-38BD349C9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2050" y="4062028"/>
              <a:ext cx="1143000" cy="1143000"/>
            </a:xfrm>
            <a:prstGeom prst="rect">
              <a:avLst/>
            </a:prstGeom>
          </p:spPr>
        </p:pic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3CD6B215-450D-5A42-4AEA-1F73EABC9BEB}"/>
                </a:ext>
              </a:extLst>
            </p:cNvPr>
            <p:cNvSpPr/>
            <p:nvPr/>
          </p:nvSpPr>
          <p:spPr>
            <a:xfrm>
              <a:off x="11410801" y="5476875"/>
              <a:ext cx="1016198" cy="933450"/>
            </a:xfrm>
            <a:prstGeom prst="roundRect">
              <a:avLst>
                <a:gd name="adj" fmla="val 12245"/>
              </a:avLst>
            </a:prstGeom>
            <a:solidFill>
              <a:srgbClr val="F3EDE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64582D3B-050B-A5E9-6B0B-94E6816B0350}"/>
                </a:ext>
              </a:extLst>
            </p:cNvPr>
            <p:cNvSpPr/>
            <p:nvPr/>
          </p:nvSpPr>
          <p:spPr>
            <a:xfrm>
              <a:off x="11601301" y="5629275"/>
              <a:ext cx="635198" cy="2857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50" dirty="0">
                  <a:solidFill>
                    <a:srgbClr val="9A7D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Naver</a:t>
              </a:r>
              <a:endParaRPr lang="en-US" sz="1650" dirty="0"/>
            </a:p>
          </p:txBody>
        </p:sp>
        <p:pic>
          <p:nvPicPr>
            <p:cNvPr id="19" name="Image 1" descr="preencoded.png">
              <a:extLst>
                <a:ext uri="{FF2B5EF4-FFF2-40B4-BE49-F238E27FC236}">
                  <a16:creationId xmlns:a16="http://schemas.microsoft.com/office/drawing/2014/main" id="{BAA3A837-CD27-B5B2-9EDD-E283D9891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66500" y="5915025"/>
              <a:ext cx="304800" cy="304800"/>
            </a:xfrm>
            <a:prstGeom prst="rect">
              <a:avLst/>
            </a:prstGeom>
          </p:spPr>
        </p:pic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999A869B-41A9-686D-E914-92F6FAE861A9}"/>
                </a:ext>
              </a:extLst>
            </p:cNvPr>
            <p:cNvSpPr/>
            <p:nvPr/>
          </p:nvSpPr>
          <p:spPr>
            <a:xfrm>
              <a:off x="12579400" y="5476875"/>
              <a:ext cx="1051471" cy="933450"/>
            </a:xfrm>
            <a:prstGeom prst="roundRect">
              <a:avLst>
                <a:gd name="adj" fmla="val 12245"/>
              </a:avLst>
            </a:prstGeom>
            <a:solidFill>
              <a:srgbClr val="F3EDE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5070E4CC-C798-7751-639B-823C12FBA128}"/>
                </a:ext>
              </a:extLst>
            </p:cNvPr>
            <p:cNvSpPr/>
            <p:nvPr/>
          </p:nvSpPr>
          <p:spPr>
            <a:xfrm>
              <a:off x="12769900" y="5629275"/>
              <a:ext cx="670471" cy="2857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50" dirty="0">
                  <a:solidFill>
                    <a:srgbClr val="9A7D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Kakao</a:t>
              </a:r>
              <a:endParaRPr lang="en-US" sz="1650" dirty="0"/>
            </a:p>
          </p:txBody>
        </p:sp>
        <p:pic>
          <p:nvPicPr>
            <p:cNvPr id="22" name="Image 2" descr="preencoded.png">
              <a:extLst>
                <a:ext uri="{FF2B5EF4-FFF2-40B4-BE49-F238E27FC236}">
                  <a16:creationId xmlns:a16="http://schemas.microsoft.com/office/drawing/2014/main" id="{A6458062-BA6C-BA73-FE64-25AF5A1E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52661" y="5915025"/>
              <a:ext cx="304800" cy="304800"/>
            </a:xfrm>
            <a:prstGeom prst="rect">
              <a:avLst/>
            </a:prstGeom>
          </p:spPr>
        </p:pic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F1CDEDBF-B516-C141-0715-67D56892D909}"/>
                </a:ext>
              </a:extLst>
            </p:cNvPr>
            <p:cNvSpPr/>
            <p:nvPr/>
          </p:nvSpPr>
          <p:spPr>
            <a:xfrm>
              <a:off x="13783270" y="5476875"/>
              <a:ext cx="1133029" cy="933450"/>
            </a:xfrm>
            <a:prstGeom prst="roundRect">
              <a:avLst>
                <a:gd name="adj" fmla="val 12245"/>
              </a:avLst>
            </a:prstGeom>
            <a:solidFill>
              <a:srgbClr val="F3EDE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7F266534-6931-E568-69C1-2ADBF1AE36D8}"/>
                </a:ext>
              </a:extLst>
            </p:cNvPr>
            <p:cNvSpPr/>
            <p:nvPr/>
          </p:nvSpPr>
          <p:spPr>
            <a:xfrm>
              <a:off x="13973770" y="5629275"/>
              <a:ext cx="752029" cy="2857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50" dirty="0">
                  <a:solidFill>
                    <a:srgbClr val="9A7D5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Google</a:t>
              </a:r>
              <a:endParaRPr lang="en-US" sz="1650" dirty="0"/>
            </a:p>
          </p:txBody>
        </p:sp>
        <p:pic>
          <p:nvPicPr>
            <p:cNvPr id="25" name="Image 3" descr="preencoded.png">
              <a:extLst>
                <a:ext uri="{FF2B5EF4-FFF2-40B4-BE49-F238E27FC236}">
                  <a16:creationId xmlns:a16="http://schemas.microsoft.com/office/drawing/2014/main" id="{CBB3B888-C6DC-D687-FF71-CFC9B9BAE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197310" y="5915025"/>
              <a:ext cx="304800" cy="3048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19438"/>
            <a:ext cx="816254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E8D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952500" y="4090987"/>
            <a:ext cx="816254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페이지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4948238"/>
            <a:ext cx="816254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25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베스트 상품을 카테고리별로 보여주고 BEST · NEW · HOT · SALE 배지로 인기 상품을 한눈에 파악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6757988"/>
            <a:ext cx="1496616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6834188"/>
            <a:ext cx="11918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베스트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05832" y="6757988"/>
            <a:ext cx="1706910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58232" y="6834188"/>
            <a:ext cx="1402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필터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69457" y="6757988"/>
            <a:ext cx="1286321" cy="485775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21857" y="6834188"/>
            <a:ext cx="981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배지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3351312"/>
            <a:ext cx="7924800" cy="3774877"/>
          </a:xfrm>
          <a:prstGeom prst="roundRect">
            <a:avLst>
              <a:gd name="adj" fmla="val 5047"/>
            </a:avLst>
          </a:prstGeom>
          <a:ln/>
          <a:effectLst>
            <a:outerShdw blurRad="381000" dist="76200" dir="5400000" algn="bl" rotWithShape="0">
              <a:srgbClr val="3D32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3351312"/>
            <a:ext cx="7924800" cy="3774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3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966" y="2798596"/>
            <a:ext cx="10362191" cy="589178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952500" y="3119438"/>
            <a:ext cx="816254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952500" y="4090987"/>
            <a:ext cx="816254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3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장바구니 &amp; 결제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4948238"/>
            <a:ext cx="816254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2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비로그인 장바구니가 로그인 시 자동으로 </a:t>
            </a:r>
            <a:r>
              <a:rPr lang="en-US" sz="2250" dirty="0" err="1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합쳐지는</a:t>
            </a:r>
            <a:r>
              <a:rPr lang="en-US" sz="22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2250" dirty="0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250" dirty="0" err="1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</a:t>
            </a:r>
            <a:r>
              <a:rPr lang="en-US" sz="2250" dirty="0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병합</a:t>
            </a:r>
            <a:r>
              <a:rPr lang="en-US" sz="2250" dirty="0" smtClean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기능, 토스페이먼츠 연동 결제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6757988"/>
            <a:ext cx="1286321" cy="485775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6834188"/>
            <a:ext cx="9815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카트 병합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95538" y="6757988"/>
            <a:ext cx="1496616" cy="485775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47938" y="6834188"/>
            <a:ext cx="11918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비회원 주문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48869" y="6757988"/>
            <a:ext cx="1642914" cy="485775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1269" y="6834188"/>
            <a:ext cx="13381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3471714"/>
            <a:ext cx="7924800" cy="3534073"/>
          </a:xfrm>
          <a:prstGeom prst="roundRect">
            <a:avLst>
              <a:gd name="adj" fmla="val 5390"/>
            </a:avLst>
          </a:prstGeom>
          <a:ln/>
          <a:effectLst>
            <a:outerShdw blurRad="381000" dist="76200" dir="5400000" algn="bl" rotWithShape="0">
              <a:srgbClr val="3D32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Jokerman" panose="04090605060D06020702" pitchFamily="82" charset="0"/>
                <a:ea typeface="Arial" pitchFamily="34" charset="-122"/>
                <a:cs typeface="Arial" pitchFamily="34" charset="-120"/>
              </a:rPr>
              <a:t>Admin</a:t>
            </a: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관리 화면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· 배너 · 커뮤니티를 한 </a:t>
            </a:r>
            <a:r>
              <a:rPr lang="en-US" sz="240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곳에서</a:t>
            </a:r>
            <a:r>
              <a:rPr lang="en-US" sz="24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2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3E4E6C-A0A5-85BF-8898-2813A813AD02}"/>
              </a:ext>
            </a:extLst>
          </p:cNvPr>
          <p:cNvGrpSpPr/>
          <p:nvPr/>
        </p:nvGrpSpPr>
        <p:grpSpPr>
          <a:xfrm>
            <a:off x="952500" y="3133078"/>
            <a:ext cx="10394994" cy="5854913"/>
            <a:chOff x="952500" y="2968625"/>
            <a:chExt cx="8071294" cy="4546104"/>
          </a:xfrm>
        </p:grpSpPr>
        <p:sp>
          <p:nvSpPr>
            <p:cNvPr id="4" name="Shape 2"/>
            <p:cNvSpPr/>
            <p:nvPr/>
          </p:nvSpPr>
          <p:spPr>
            <a:xfrm>
              <a:off x="952500" y="2968625"/>
              <a:ext cx="8058150" cy="4546104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2968625"/>
              <a:ext cx="8058150" cy="3619202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181100" y="6778327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상품 관리</a:t>
              </a:r>
              <a:endParaRPr lang="en-US" sz="32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3F78D2-FADA-EF9A-5663-4FE0BB7A4561}"/>
              </a:ext>
            </a:extLst>
          </p:cNvPr>
          <p:cNvGrpSpPr/>
          <p:nvPr/>
        </p:nvGrpSpPr>
        <p:grpSpPr>
          <a:xfrm>
            <a:off x="13802042" y="3133078"/>
            <a:ext cx="3448959" cy="2129016"/>
            <a:chOff x="9277350" y="2968625"/>
            <a:chExt cx="8071294" cy="4982347"/>
          </a:xfrm>
        </p:grpSpPr>
        <p:sp>
          <p:nvSpPr>
            <p:cNvPr id="7" name="Shape 4"/>
            <p:cNvSpPr/>
            <p:nvPr/>
          </p:nvSpPr>
          <p:spPr>
            <a:xfrm>
              <a:off x="9277350" y="2968625"/>
              <a:ext cx="8058149" cy="4982347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7350" y="2968625"/>
              <a:ext cx="8058150" cy="3812679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9505950" y="6971804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47500" lnSpcReduction="2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배너 관리</a:t>
              </a:r>
              <a:endParaRPr lang="en-US" sz="1950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BF8141C-9695-EED4-D9C3-7ED966761E86}"/>
              </a:ext>
            </a:extLst>
          </p:cNvPr>
          <p:cNvGrpSpPr/>
          <p:nvPr/>
        </p:nvGrpSpPr>
        <p:grpSpPr>
          <a:xfrm>
            <a:off x="11985105" y="5746663"/>
            <a:ext cx="5350395" cy="3059524"/>
            <a:chOff x="952500" y="7705229"/>
            <a:chExt cx="16645890" cy="9518644"/>
          </a:xfrm>
        </p:grpSpPr>
        <p:sp>
          <p:nvSpPr>
            <p:cNvPr id="10" name="Shape 6"/>
            <p:cNvSpPr/>
            <p:nvPr/>
          </p:nvSpPr>
          <p:spPr>
            <a:xfrm>
              <a:off x="952500" y="7984626"/>
              <a:ext cx="16383001" cy="9239247"/>
            </a:xfrm>
            <a:prstGeom prst="roundRect">
              <a:avLst>
                <a:gd name="adj" fmla="val 1796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0" y="7705229"/>
              <a:ext cx="16383000" cy="7751713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181100" y="15926842"/>
              <a:ext cx="1641729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커뮤니티 관리 (FAQ · 리뷰 · Q&amp;A)</a:t>
              </a:r>
              <a:endParaRPr lang="en-US" sz="7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CE824-D578-A89B-4B17-7906EFC5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800B8F-932E-0A6F-BEC1-60E67052C141}"/>
              </a:ext>
            </a:extLst>
          </p:cNvPr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Jokerman" panose="04090605060D06020702" pitchFamily="82" charset="0"/>
                <a:ea typeface="Arial" pitchFamily="34" charset="-122"/>
                <a:cs typeface="Arial" pitchFamily="34" charset="-120"/>
              </a:rPr>
              <a:t>Admin</a:t>
            </a: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관리 화면</a:t>
            </a:r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178D7F-2C49-A8DD-6F12-904673AB2BCD}"/>
              </a:ext>
            </a:extLst>
          </p:cNvPr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· 배너 · 커뮤니티를 한 곳에서 관리</a:t>
            </a:r>
            <a:endParaRPr lang="en-US" sz="25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2AAD2D8-F5E1-261B-5083-27DA76EF26CA}"/>
              </a:ext>
            </a:extLst>
          </p:cNvPr>
          <p:cNvGrpSpPr/>
          <p:nvPr/>
        </p:nvGrpSpPr>
        <p:grpSpPr>
          <a:xfrm>
            <a:off x="14132015" y="3320664"/>
            <a:ext cx="3118986" cy="1756749"/>
            <a:chOff x="952500" y="2968625"/>
            <a:chExt cx="8071294" cy="454610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C5C5E513-99D6-9657-6603-13F74E6E8593}"/>
                </a:ext>
              </a:extLst>
            </p:cNvPr>
            <p:cNvSpPr/>
            <p:nvPr/>
          </p:nvSpPr>
          <p:spPr>
            <a:xfrm>
              <a:off x="952500" y="2968625"/>
              <a:ext cx="8058150" cy="4546104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07035448-2F10-2EBD-4C9E-34986BD3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2968625"/>
              <a:ext cx="8058150" cy="3619202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664AAB4F-BC88-C411-C8B3-868BAEC4C908}"/>
                </a:ext>
              </a:extLst>
            </p:cNvPr>
            <p:cNvSpPr/>
            <p:nvPr/>
          </p:nvSpPr>
          <p:spPr>
            <a:xfrm>
              <a:off x="1181100" y="6778327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상품 관리</a:t>
              </a:r>
              <a:endParaRPr lang="en-US" sz="9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601740D-FBD2-382F-6E87-E7EFD69F2E09}"/>
              </a:ext>
            </a:extLst>
          </p:cNvPr>
          <p:cNvGrpSpPr/>
          <p:nvPr/>
        </p:nvGrpSpPr>
        <p:grpSpPr>
          <a:xfrm>
            <a:off x="786979" y="3137837"/>
            <a:ext cx="10328442" cy="6375668"/>
            <a:chOff x="9277350" y="2968625"/>
            <a:chExt cx="8071294" cy="4982347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98BF2D3D-59D7-B7AC-EBD7-9D5EF1849769}"/>
                </a:ext>
              </a:extLst>
            </p:cNvPr>
            <p:cNvSpPr/>
            <p:nvPr/>
          </p:nvSpPr>
          <p:spPr>
            <a:xfrm>
              <a:off x="9277350" y="2968625"/>
              <a:ext cx="8058149" cy="4982347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1" descr="preencoded.png">
              <a:extLst>
                <a:ext uri="{FF2B5EF4-FFF2-40B4-BE49-F238E27FC236}">
                  <a16:creationId xmlns:a16="http://schemas.microsoft.com/office/drawing/2014/main" id="{63722FFC-E234-B459-F993-B09484FE4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7350" y="2968625"/>
              <a:ext cx="8058150" cy="3812679"/>
            </a:xfrm>
            <a:prstGeom prst="rect">
              <a:avLst/>
            </a:prstGeom>
          </p:spPr>
        </p:pic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917E572F-4FDB-B63A-BA7A-3AFCE2E320FB}"/>
                </a:ext>
              </a:extLst>
            </p:cNvPr>
            <p:cNvSpPr/>
            <p:nvPr/>
          </p:nvSpPr>
          <p:spPr>
            <a:xfrm>
              <a:off x="9505950" y="6971804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배너 관리</a:t>
              </a:r>
              <a:endParaRPr lang="en-US" sz="3600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FDD8A90-1626-3F26-DF97-B978494D8220}"/>
              </a:ext>
            </a:extLst>
          </p:cNvPr>
          <p:cNvGrpSpPr/>
          <p:nvPr/>
        </p:nvGrpSpPr>
        <p:grpSpPr>
          <a:xfrm>
            <a:off x="11985105" y="5746663"/>
            <a:ext cx="5350395" cy="3059524"/>
            <a:chOff x="952500" y="7705229"/>
            <a:chExt cx="16645890" cy="9518644"/>
          </a:xfrm>
        </p:grpSpPr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548C4FD3-F838-9F41-6B03-2B00499C4963}"/>
                </a:ext>
              </a:extLst>
            </p:cNvPr>
            <p:cNvSpPr/>
            <p:nvPr/>
          </p:nvSpPr>
          <p:spPr>
            <a:xfrm>
              <a:off x="952500" y="7984626"/>
              <a:ext cx="16383001" cy="9239247"/>
            </a:xfrm>
            <a:prstGeom prst="roundRect">
              <a:avLst>
                <a:gd name="adj" fmla="val 1796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2" descr="preencoded.png">
              <a:extLst>
                <a:ext uri="{FF2B5EF4-FFF2-40B4-BE49-F238E27FC236}">
                  <a16:creationId xmlns:a16="http://schemas.microsoft.com/office/drawing/2014/main" id="{49BE66EF-EA41-0D68-0871-054485DF2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0" y="7705229"/>
              <a:ext cx="16383000" cy="7751713"/>
            </a:xfrm>
            <a:prstGeom prst="rect">
              <a:avLst/>
            </a:prstGeom>
          </p:spPr>
        </p:pic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A50F3601-05CA-0597-0653-F2A7728B0932}"/>
                </a:ext>
              </a:extLst>
            </p:cNvPr>
            <p:cNvSpPr/>
            <p:nvPr/>
          </p:nvSpPr>
          <p:spPr>
            <a:xfrm>
              <a:off x="1181100" y="15926842"/>
              <a:ext cx="1641729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32500" lnSpcReduction="20000"/>
            </a:bodyPr>
            <a:lstStyle/>
            <a:p>
              <a:pPr marL="0" indent="0" algn="l">
                <a:buNone/>
              </a:pPr>
              <a:r>
                <a:rPr lang="en-US" sz="195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커뮤니티 관리 (FAQ · 리뷰 · Q&amp;A)</a:t>
              </a:r>
              <a:endParaRPr lang="en-US" sz="195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99423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0FF0-6798-AAA0-E4C4-EB474C230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E4CDF4-4F86-7215-EB0B-F8D1DCB25DA0}"/>
              </a:ext>
            </a:extLst>
          </p:cNvPr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Jokerman" panose="04090605060D06020702" pitchFamily="82" charset="0"/>
                <a:ea typeface="Arial" pitchFamily="34" charset="-122"/>
                <a:cs typeface="Arial" pitchFamily="34" charset="-120"/>
              </a:rPr>
              <a:t>Admin</a:t>
            </a: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관리 화면</a:t>
            </a:r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E0D329-A150-6205-359C-8E373AE3A9C3}"/>
              </a:ext>
            </a:extLst>
          </p:cNvPr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· 배너 · 커뮤니티를 한 곳에서 관리</a:t>
            </a:r>
            <a:endParaRPr lang="en-US" sz="25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4157829-1263-8F42-9FA0-5A754216106E}"/>
              </a:ext>
            </a:extLst>
          </p:cNvPr>
          <p:cNvGrpSpPr/>
          <p:nvPr/>
        </p:nvGrpSpPr>
        <p:grpSpPr>
          <a:xfrm>
            <a:off x="14096191" y="5653088"/>
            <a:ext cx="3149731" cy="1944305"/>
            <a:chOff x="9277350" y="2968625"/>
            <a:chExt cx="8071294" cy="4982347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29328926-AFEA-D26B-98DC-E1E4F4E095FD}"/>
                </a:ext>
              </a:extLst>
            </p:cNvPr>
            <p:cNvSpPr/>
            <p:nvPr/>
          </p:nvSpPr>
          <p:spPr>
            <a:xfrm>
              <a:off x="9277350" y="2968625"/>
              <a:ext cx="8058149" cy="4982347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800"/>
            </a:p>
          </p:txBody>
        </p:sp>
        <p:pic>
          <p:nvPicPr>
            <p:cNvPr id="8" name="Image 1" descr="preencoded.png">
              <a:extLst>
                <a:ext uri="{FF2B5EF4-FFF2-40B4-BE49-F238E27FC236}">
                  <a16:creationId xmlns:a16="http://schemas.microsoft.com/office/drawing/2014/main" id="{BCF70DA8-1809-A3B4-D3D0-101C55851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7350" y="2968625"/>
              <a:ext cx="8058150" cy="3812679"/>
            </a:xfrm>
            <a:prstGeom prst="rect">
              <a:avLst/>
            </a:prstGeom>
          </p:spPr>
        </p:pic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03F211C5-5495-4BC2-32CC-0F3AE4BD3DA1}"/>
                </a:ext>
              </a:extLst>
            </p:cNvPr>
            <p:cNvSpPr/>
            <p:nvPr/>
          </p:nvSpPr>
          <p:spPr>
            <a:xfrm>
              <a:off x="9505950" y="6971804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배너 관리</a:t>
              </a:r>
              <a:endParaRPr lang="en-US" sz="1200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5D2E550-E523-F38E-E65F-99C2452E2DCE}"/>
              </a:ext>
            </a:extLst>
          </p:cNvPr>
          <p:cNvGrpSpPr/>
          <p:nvPr/>
        </p:nvGrpSpPr>
        <p:grpSpPr>
          <a:xfrm>
            <a:off x="461010" y="2917550"/>
            <a:ext cx="12661194" cy="6550563"/>
            <a:chOff x="952500" y="7705229"/>
            <a:chExt cx="16645890" cy="8612138"/>
          </a:xfrm>
        </p:grpSpPr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EA3346E9-8C42-937E-297A-46C75E2C59D0}"/>
                </a:ext>
              </a:extLst>
            </p:cNvPr>
            <p:cNvSpPr/>
            <p:nvPr/>
          </p:nvSpPr>
          <p:spPr>
            <a:xfrm>
              <a:off x="952500" y="7984626"/>
              <a:ext cx="16383000" cy="8332741"/>
            </a:xfrm>
            <a:prstGeom prst="roundRect">
              <a:avLst>
                <a:gd name="adj" fmla="val 1796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2" descr="preencoded.png">
              <a:extLst>
                <a:ext uri="{FF2B5EF4-FFF2-40B4-BE49-F238E27FC236}">
                  <a16:creationId xmlns:a16="http://schemas.microsoft.com/office/drawing/2014/main" id="{5C769A8D-D770-A5AB-A994-5E1C9CEFA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7705229"/>
              <a:ext cx="16383000" cy="7751713"/>
            </a:xfrm>
            <a:prstGeom prst="rect">
              <a:avLst/>
            </a:prstGeom>
          </p:spPr>
        </p:pic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9EA7B443-E8FD-968C-E0AA-520FA91EDB19}"/>
                </a:ext>
              </a:extLst>
            </p:cNvPr>
            <p:cNvSpPr/>
            <p:nvPr/>
          </p:nvSpPr>
          <p:spPr>
            <a:xfrm>
              <a:off x="1181100" y="15573458"/>
              <a:ext cx="16417290" cy="74390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커뮤니티 관리 (FAQ · 리뷰 · Q&amp;A)</a:t>
              </a:r>
              <a:endParaRPr lang="en-US" sz="36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300957-9DA5-84DA-999B-C614CF6F550E}"/>
              </a:ext>
            </a:extLst>
          </p:cNvPr>
          <p:cNvGrpSpPr/>
          <p:nvPr/>
        </p:nvGrpSpPr>
        <p:grpSpPr>
          <a:xfrm>
            <a:off x="14132015" y="3320664"/>
            <a:ext cx="3118986" cy="1756749"/>
            <a:chOff x="952500" y="2968625"/>
            <a:chExt cx="8071294" cy="4546104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2389D38B-A385-C537-EEE5-0F055411A6F3}"/>
                </a:ext>
              </a:extLst>
            </p:cNvPr>
            <p:cNvSpPr/>
            <p:nvPr/>
          </p:nvSpPr>
          <p:spPr>
            <a:xfrm>
              <a:off x="952500" y="2968625"/>
              <a:ext cx="8058150" cy="4546104"/>
            </a:xfrm>
            <a:prstGeom prst="roundRect">
              <a:avLst>
                <a:gd name="adj" fmla="val 3352"/>
              </a:avLst>
            </a:prstGeom>
            <a:solidFill>
              <a:srgbClr val="FFFFFF"/>
            </a:solidFill>
            <a:ln/>
            <a:effectLst>
              <a:outerShdw blurRad="228600" dist="38100" dir="5400000" algn="bl" rotWithShape="0">
                <a:srgbClr val="3D3224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0" descr="preencoded.png">
              <a:extLst>
                <a:ext uri="{FF2B5EF4-FFF2-40B4-BE49-F238E27FC236}">
                  <a16:creationId xmlns:a16="http://schemas.microsoft.com/office/drawing/2014/main" id="{54932F8F-4856-2DAD-3238-C10C742D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0" y="2968625"/>
              <a:ext cx="8058150" cy="3619202"/>
            </a:xfrm>
            <a:prstGeom prst="rect">
              <a:avLst/>
            </a:prstGeom>
          </p:spPr>
        </p:pic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AE21FA5C-661A-DC05-6827-5B3C6E8F0FB5}"/>
                </a:ext>
              </a:extLst>
            </p:cNvPr>
            <p:cNvSpPr/>
            <p:nvPr/>
          </p:nvSpPr>
          <p:spPr>
            <a:xfrm>
              <a:off x="1181100" y="6778327"/>
              <a:ext cx="7842694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5C4A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상품 관리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69442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3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3315" y="5072815"/>
            <a:ext cx="4903869" cy="4903869"/>
          </a:xfrm>
          <a:prstGeom prst="ellipse">
            <a:avLst/>
          </a:prstGeom>
          <a:ln w="9525">
            <a:solidFill>
              <a:srgbClr val="C8956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979287" y="4978787"/>
            <a:ext cx="7473176" cy="7473176"/>
          </a:xfrm>
          <a:prstGeom prst="ellipse">
            <a:avLst/>
          </a:prstGeom>
          <a:ln w="9525">
            <a:solidFill>
              <a:srgbClr val="C8956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07256" y="4906756"/>
            <a:ext cx="9998487" cy="9998487"/>
          </a:xfrm>
          <a:prstGeom prst="ellipse">
            <a:avLst/>
          </a:prstGeom>
          <a:ln w="9525">
            <a:solidFill>
              <a:srgbClr val="C8956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8381851" y="3314700"/>
            <a:ext cx="1524000" cy="1524000"/>
            <a:chOff x="8381851" y="3314700"/>
            <a:chExt cx="1524000" cy="1524000"/>
          </a:xfrm>
        </p:grpSpPr>
        <p:sp>
          <p:nvSpPr>
            <p:cNvPr id="5" name="Shape 3"/>
            <p:cNvSpPr/>
            <p:nvPr/>
          </p:nvSpPr>
          <p:spPr>
            <a:xfrm>
              <a:off x="8381851" y="3314700"/>
              <a:ext cx="1524000" cy="1524000"/>
            </a:xfrm>
            <a:prstGeom prst="ellipse">
              <a:avLst/>
            </a:prstGeom>
            <a:solidFill>
              <a:srgbClr val="5C4A33"/>
            </a:solidFill>
            <a:ln/>
            <a:effectLst>
              <a:outerShdw blurRad="101600" dist="50800" dir="16200000" algn="bl" rotWithShape="0">
                <a:srgbClr val="C8956C">
                  <a:alpha val="8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0951" y="3733800"/>
              <a:ext cx="685800" cy="685800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7222324" y="5295900"/>
            <a:ext cx="3843055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3EDE4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Live</a:t>
            </a:r>
            <a:r>
              <a:rPr lang="en-US" sz="6000" b="1" dirty="0">
                <a:solidFill>
                  <a:srgbClr val="F3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740675" y="6505575"/>
            <a:ext cx="480650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 Shopping Mall 실시간 시연</a:t>
            </a: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소감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5232350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33500" y="2705167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2914717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3500" y="3810000"/>
            <a:ext cx="460446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느낀점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333500" y="4524375"/>
            <a:ext cx="4604461" cy="230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ko-KR" alt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쇼핑몰을 구매자 입장과 더불어 직접 운영하기 위한 사이트를 개발하면서</a:t>
            </a:r>
            <a:r>
              <a:rPr lang="en-US" altLang="ko-KR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요소와 기술이 필요한 것을 알 수 있었습니다</a:t>
            </a:r>
            <a:r>
              <a:rPr lang="en-US" altLang="ko-KR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8" name="Shape 5"/>
          <p:cNvSpPr/>
          <p:nvPr/>
        </p:nvSpPr>
        <p:spPr>
          <a:xfrm>
            <a:off x="6527750" y="2324100"/>
            <a:ext cx="5232499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908750" y="2710024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300" y="2919574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8750" y="3810000"/>
            <a:ext cx="460461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반성할 점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6908750" y="4524374"/>
            <a:ext cx="4604614" cy="331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0000"/>
              </a:lnSpc>
            </a:pPr>
            <a:r>
              <a:rPr lang="ko-KR" alt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관리를 좀 더 체계적으로 하여</a:t>
            </a:r>
          </a:p>
          <a:p>
            <a:pPr>
              <a:lnSpc>
                <a:spcPct val="170000"/>
              </a:lnSpc>
            </a:pPr>
            <a:r>
              <a:rPr lang="ko-KR" alt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 작업을 늘리고</a:t>
            </a:r>
            <a:r>
              <a:rPr lang="en-US" altLang="ko-KR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기존 플랫폼을 모니터링하면 더 나은 결과를 도출했을 것이라 생각합니다</a:t>
            </a:r>
            <a:r>
              <a:rPr lang="en-US" altLang="ko-KR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103150" y="2324100"/>
            <a:ext cx="5232350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28600" dist="38100" dir="5400000" algn="bl" rotWithShape="0">
              <a:srgbClr val="3D3224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2484150" y="2727817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3700" y="2937367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4150" y="3810000"/>
            <a:ext cx="460446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2484150" y="4524375"/>
            <a:ext cx="4604461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기획부터 개발까지 혼자 해본 경험이 개발자로서의 자신감과 실력 향상에 큰 도움이 됐습니다.</a:t>
            </a:r>
            <a:endParaRPr lang="en-US" sz="2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4478000" y="-1207175"/>
            <a:ext cx="4762500" cy="4762500"/>
          </a:xfrm>
          <a:prstGeom prst="ellipse">
            <a:avLst/>
          </a:prstGeom>
          <a:solidFill>
            <a:srgbClr val="E8C9A8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571500" y="7650498"/>
            <a:ext cx="3333750" cy="3333751"/>
          </a:xfrm>
          <a:prstGeom prst="ellipse">
            <a:avLst/>
          </a:prstGeom>
          <a:solidFill>
            <a:srgbClr val="E8C9A8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951" y="2612664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80615" y="3609975"/>
            <a:ext cx="272662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0" b="1" dirty="0" smtClean="0">
                <a:solidFill>
                  <a:srgbClr val="5C4A33"/>
                </a:solidFill>
                <a:latin typeface="Arial Rounded MT Bold" panose="020F0704030504030204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0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63610" y="5362575"/>
            <a:ext cx="39606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궁금하신 점을 질문해 주세요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8762851" y="6210300"/>
            <a:ext cx="762000" cy="19050"/>
          </a:xfrm>
          <a:prstGeom prst="rect">
            <a:avLst/>
          </a:prstGeom>
          <a:solidFill>
            <a:srgbClr val="C895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93279" y="6534150"/>
            <a:ext cx="4301144" cy="2126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100" b="1" dirty="0" smtClean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 하 율 </a:t>
            </a:r>
            <a:br>
              <a:rPr lang="en-US" sz="2100" b="1" dirty="0" smtClean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000" dirty="0" smtClean="0">
                <a:solidFill>
                  <a:srgbClr val="9A7D52"/>
                </a:solidFill>
                <a:latin typeface="Brush Script MT" panose="03060802040406070304" pitchFamily="66" charset="0"/>
                <a:ea typeface="Arial" pitchFamily="34" charset="-122"/>
                <a:cs typeface="Arial" pitchFamily="34" charset="-120"/>
              </a:rPr>
              <a:t>Ohayul.me@gmail.com</a:t>
            </a:r>
            <a:endParaRPr lang="en-US" sz="4000" dirty="0">
              <a:latin typeface="Brush Script MT" panose="030608020404060703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1117</Words>
  <Application>Microsoft Office PowerPoint</Application>
  <PresentationFormat>사용자 지정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맑은 고딕</vt:lpstr>
      <vt:lpstr>Algerian</vt:lpstr>
      <vt:lpstr>Arial</vt:lpstr>
      <vt:lpstr>Arial Rounded MT Bold</vt:lpstr>
      <vt:lpstr>Brush Script MT</vt:lpstr>
      <vt:lpstr>Calibri</vt:lpstr>
      <vt:lpstr>Colonna MT</vt:lpstr>
      <vt:lpstr>Jokerman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28</cp:revision>
  <dcterms:created xsi:type="dcterms:W3CDTF">2026-04-28T08:27:12Z</dcterms:created>
  <dcterms:modified xsi:type="dcterms:W3CDTF">2026-04-30T03:50:12Z</dcterms:modified>
</cp:coreProperties>
</file>